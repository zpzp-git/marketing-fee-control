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</p:sldIdLst>
  <p:sldSz cx="12192000" cy="2159952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8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8B3"/>
    <a:srgbClr val="D9B992"/>
    <a:srgbClr val="FAD2A0"/>
    <a:srgbClr val="327187"/>
    <a:srgbClr val="ECBE67"/>
    <a:srgbClr val="D75824"/>
    <a:srgbClr val="063B49"/>
    <a:srgbClr val="FFFFFF"/>
    <a:srgbClr val="F18870"/>
    <a:srgbClr val="B5D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146" y="-120"/>
      </p:cViewPr>
      <p:guideLst>
        <p:guide orient="horz" pos="6808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退后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变化趋势</a:t>
            </a:r>
          </a:p>
        </c:rich>
      </c:tx>
      <c:layout>
        <c:manualLayout>
          <c:xMode val="edge"/>
          <c:yMode val="edge"/>
          <c:x val="0.345679758308157"/>
          <c:y val="1.0948905109489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15649546827795E-2"/>
          <c:y val="0.19051094890511"/>
          <c:w val="0.90619939577039299"/>
          <c:h val="0.560875912408759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退后GMV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#,##0.00_ </c:formatCode>
                <c:ptCount val="6"/>
                <c:pt idx="0">
                  <c:v>2500</c:v>
                </c:pt>
                <c:pt idx="1">
                  <c:v>3000</c:v>
                </c:pt>
                <c:pt idx="2">
                  <c:v>3400</c:v>
                </c:pt>
                <c:pt idx="3">
                  <c:v>4000</c:v>
                </c:pt>
                <c:pt idx="4">
                  <c:v>3800</c:v>
                </c:pt>
                <c:pt idx="5">
                  <c:v>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2D1-4A2D-B026-C2BA9A249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863844870725598"/>
          <c:y val="0.8635890315862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/>
              <a:t>单品销售排名 </a:t>
            </a:r>
            <a:r>
              <a:rPr lang="en-US" sz="1400" b="1"/>
              <a:t>TOP10</a:t>
            </a:r>
          </a:p>
        </c:rich>
      </c:tx>
      <c:layout>
        <c:manualLayout>
          <c:xMode val="edge"/>
          <c:yMode val="edge"/>
          <c:x val="0.33955223880597002"/>
          <c:y val="1.06307583274274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37724428262601001"/>
          <c:y val="0.13919052319842101"/>
          <c:w val="0.58532256229377599"/>
          <c:h val="0.7130799605133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花西子花隐星穹口红</c:v>
                </c:pt>
                <c:pt idx="1">
                  <c:v>花西子花隐星穹口红-知音限定版</c:v>
                </c:pt>
                <c:pt idx="2">
                  <c:v>花西子玉容睡莲气垫CC霜-水光版</c:v>
                </c:pt>
                <c:pt idx="3">
                  <c:v>花西子玉容花养持妆粉底液</c:v>
                </c:pt>
                <c:pt idx="4">
                  <c:v>花西子玉容花养持妆粉底液-柔润款</c:v>
                </c:pt>
                <c:pt idx="5">
                  <c:v>花西子玉容御养平衡粉霜</c:v>
                </c:pt>
                <c:pt idx="6">
                  <c:v>花西子花露琼玉流光唇釉</c:v>
                </c:pt>
                <c:pt idx="7">
                  <c:v>花西子玉方活颜凝脂持妆粉底液-清透款</c:v>
                </c:pt>
                <c:pt idx="8">
                  <c:v>花西子螺黛生花眉笔-砍刀纤细版</c:v>
                </c:pt>
                <c:pt idx="9">
                  <c:v>花西子牡丹流霞珍珠眼影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5.5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0-4DBB-BC15-378B228A11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01808431"/>
        <c:axId val="1601807471"/>
      </c:barChart>
      <c:catAx>
        <c:axId val="16018084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1807471"/>
        <c:crosses val="autoZero"/>
        <c:auto val="1"/>
        <c:lblAlgn val="ctr"/>
        <c:lblOffset val="100"/>
        <c:noMultiLvlLbl val="0"/>
      </c:catAx>
      <c:valAx>
        <c:axId val="1601807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180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重点品费用分析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5322580645161304E-2"/>
          <c:y val="0.18030340711265899"/>
          <c:w val="0.87244623655914"/>
          <c:h val="0.596816712260632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雕花口红</c:v>
                </c:pt>
                <c:pt idx="1">
                  <c:v>唇膜</c:v>
                </c:pt>
                <c:pt idx="2">
                  <c:v>唇纱</c:v>
                </c:pt>
                <c:pt idx="3">
                  <c:v>蜜粉饼</c:v>
                </c:pt>
                <c:pt idx="4">
                  <c:v>平衡卸妆油</c:v>
                </c:pt>
                <c:pt idx="5">
                  <c:v>平衡粉底液</c:v>
                </c:pt>
                <c:pt idx="6">
                  <c:v>腮红</c:v>
                </c:pt>
                <c:pt idx="7">
                  <c:v>其他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60</c:v>
                </c:pt>
                <c:pt idx="1">
                  <c:v>50</c:v>
                </c:pt>
                <c:pt idx="2">
                  <c:v>40</c:v>
                </c:pt>
                <c:pt idx="3">
                  <c:v>80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  <c:pt idx="7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9-4491-BBA0-C1271BBED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7"/>
        <c:overlap val="-73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雕花口红</c:v>
                </c:pt>
                <c:pt idx="1">
                  <c:v>唇膜</c:v>
                </c:pt>
                <c:pt idx="2">
                  <c:v>唇纱</c:v>
                </c:pt>
                <c:pt idx="3">
                  <c:v>蜜粉饼</c:v>
                </c:pt>
                <c:pt idx="4">
                  <c:v>平衡卸妆油</c:v>
                </c:pt>
                <c:pt idx="5">
                  <c:v>平衡粉底液</c:v>
                </c:pt>
                <c:pt idx="6">
                  <c:v>腮红</c:v>
                </c:pt>
                <c:pt idx="7">
                  <c:v>其他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0.3</c:v>
                </c:pt>
                <c:pt idx="1">
                  <c:v>0.35</c:v>
                </c:pt>
                <c:pt idx="2">
                  <c:v>0.4</c:v>
                </c:pt>
                <c:pt idx="3">
                  <c:v>0.42</c:v>
                </c:pt>
                <c:pt idx="4">
                  <c:v>0.3</c:v>
                </c:pt>
                <c:pt idx="5">
                  <c:v>0.4</c:v>
                </c:pt>
                <c:pt idx="6">
                  <c:v>0.41</c:v>
                </c:pt>
                <c:pt idx="7">
                  <c:v>0.43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7B9-4491-BBA0-C1271BBED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5207583"/>
        <c:axId val="937806771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catAx>
        <c:axId val="5152075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37806771"/>
        <c:crosses val="autoZero"/>
        <c:auto val="1"/>
        <c:lblAlgn val="ctr"/>
        <c:lblOffset val="100"/>
        <c:noMultiLvlLbl val="0"/>
      </c:catAx>
      <c:valAx>
        <c:axId val="937806771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520758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三级品类市占率</a:t>
            </a:r>
            <a:r>
              <a:rPr lang="en-US" altLang="zh-CN" b="1"/>
              <a:t>&amp;</a:t>
            </a:r>
            <a:r>
              <a:rPr lang="zh-CN" altLang="en-US" b="1"/>
              <a:t>毛利率</a:t>
            </a:r>
            <a:r>
              <a:rPr lang="en-US" altLang="zh-CN" b="1"/>
              <a:t>&amp;</a:t>
            </a:r>
            <a:r>
              <a:rPr lang="zh-CN" altLang="en-US" b="1"/>
              <a:t>退后</a:t>
            </a:r>
            <a:r>
              <a:rPr lang="en-US" altLang="zh-CN" b="1"/>
              <a:t>GMV</a:t>
            </a:r>
          </a:p>
        </c:rich>
      </c:tx>
      <c:layout>
        <c:manualLayout>
          <c:xMode val="edge"/>
          <c:yMode val="edge"/>
          <c:x val="0.25443251718731202"/>
          <c:y val="1.46986771190592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rgbClr val="48B8B3">
                <a:alpha val="75000"/>
              </a:srgbClr>
            </a:solidFill>
            <a:ln>
              <a:noFill/>
            </a:ln>
            <a:effectLst/>
          </c:spPr>
          <c:invertIfNegative val="0"/>
          <c:xVal>
            <c:numRef>
              <c:f>Sheet1!$A$2:$A$7</c:f>
              <c:numCache>
                <c:formatCode>0%</c:formatCode>
                <c:ptCount val="6"/>
                <c:pt idx="0">
                  <c:v>0.5</c:v>
                </c:pt>
                <c:pt idx="1">
                  <c:v>0.4</c:v>
                </c:pt>
                <c:pt idx="2">
                  <c:v>0.3</c:v>
                </c:pt>
                <c:pt idx="3">
                  <c:v>0.45</c:v>
                </c:pt>
                <c:pt idx="4">
                  <c:v>0.48</c:v>
                </c:pt>
                <c:pt idx="5">
                  <c:v>0.2</c:v>
                </c:pt>
              </c:numCache>
            </c:numRef>
          </c:xVal>
          <c:yVal>
            <c:numRef>
              <c:f>Sheet1!$B$2:$B$7</c:f>
              <c:numCache>
                <c:formatCode>0%</c:formatCode>
                <c:ptCount val="6"/>
                <c:pt idx="0">
                  <c:v>0.2</c:v>
                </c:pt>
                <c:pt idx="1">
                  <c:v>0.3</c:v>
                </c:pt>
                <c:pt idx="2">
                  <c:v>0.15</c:v>
                </c:pt>
                <c:pt idx="3">
                  <c:v>0.1</c:v>
                </c:pt>
                <c:pt idx="4">
                  <c:v>0.7</c:v>
                </c:pt>
                <c:pt idx="5">
                  <c:v>0.6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4</c:v>
                </c:pt>
                <c:pt idx="2">
                  <c:v>8</c:v>
                </c:pt>
                <c:pt idx="3">
                  <c:v>5</c:v>
                </c:pt>
                <c:pt idx="4">
                  <c:v>1.5</c:v>
                </c:pt>
                <c:pt idx="5">
                  <c:v>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8325-403D-BE66-A1C79E2C5D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93314730"/>
        <c:axId val="924574314"/>
      </c:bubbleChart>
      <c:valAx>
        <c:axId val="693314730"/>
        <c:scaling>
          <c:orientation val="minMax"/>
        </c:scaling>
        <c:delete val="0"/>
        <c:axPos val="b"/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4574314"/>
        <c:crosses val="autoZero"/>
        <c:crossBetween val="midCat"/>
      </c:valAx>
      <c:valAx>
        <c:axId val="92457431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331473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/>
              <a:t>新品销售排名 </a:t>
            </a:r>
            <a:r>
              <a:rPr lang="en-US" sz="1400" b="1"/>
              <a:t>TOP10</a:t>
            </a:r>
          </a:p>
        </c:rich>
      </c:tx>
      <c:layout>
        <c:manualLayout>
          <c:xMode val="edge"/>
          <c:yMode val="edge"/>
          <c:x val="0.33955223880597002"/>
          <c:y val="1.06307583274274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37357441964458998"/>
          <c:y val="0.13918580850579901"/>
          <c:w val="0.609820001967324"/>
          <c:h val="0.713077098021377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花西子玉女桃花蚕丝蜜粉饼</c:v>
                </c:pt>
                <c:pt idx="1">
                  <c:v>花西子玉容石斛润养粉底液</c:v>
                </c:pt>
                <c:pt idx="2">
                  <c:v>花西子玉容御养平衡粉霜</c:v>
                </c:pt>
                <c:pt idx="3">
                  <c:v>花西子玉容花养持妆粉底液</c:v>
                </c:pt>
                <c:pt idx="4">
                  <c:v>花西子玉容睡莲养肤气垫粉底液</c:v>
                </c:pt>
                <c:pt idx="5">
                  <c:v>花西子玉容睡莲气垫CC霜</c:v>
                </c:pt>
                <c:pt idx="6">
                  <c:v>花西子花露琼玉流光唇釉</c:v>
                </c:pt>
                <c:pt idx="7">
                  <c:v>花西子花隐星穹口红-雕花版</c:v>
                </c:pt>
                <c:pt idx="8">
                  <c:v>花西子花隐星穹口红</c:v>
                </c:pt>
                <c:pt idx="9">
                  <c:v>花西子玉女桃花轻蜜粉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5.5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9-4D37-B988-E7BBB6D2C5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01808431"/>
        <c:axId val="1601807471"/>
      </c:barChart>
      <c:catAx>
        <c:axId val="16018084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1807471"/>
        <c:crosses val="autoZero"/>
        <c:auto val="1"/>
        <c:lblAlgn val="ctr"/>
        <c:lblOffset val="100"/>
        <c:noMultiLvlLbl val="0"/>
      </c:catAx>
      <c:valAx>
        <c:axId val="1601807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180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退后GMV</c:v>
                </c:pt>
              </c:strCache>
            </c:strRef>
          </c:tx>
          <c:dPt>
            <c:idx val="0"/>
            <c:bubble3D val="0"/>
            <c:spPr>
              <a:solidFill>
                <a:srgbClr val="063B4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0B-488F-97F4-3272FB73EAA9}"/>
              </c:ext>
            </c:extLst>
          </c:dPt>
          <c:dPt>
            <c:idx val="1"/>
            <c:bubble3D val="0"/>
            <c:spPr>
              <a:solidFill>
                <a:srgbClr val="D758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0B-488F-97F4-3272FB73EAA9}"/>
              </c:ext>
            </c:extLst>
          </c:dPt>
          <c:dLbls>
            <c:dLbl>
              <c:idx val="0"/>
              <c:layout>
                <c:manualLayout>
                  <c:x val="0.134590088874808"/>
                  <c:y val="2.7658345531036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147806004618901"/>
                      <c:h val="0.22825098514701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90B-488F-97F4-3272FB73EAA9}"/>
                </c:ext>
              </c:extLst>
            </c:dLbl>
            <c:dLbl>
              <c:idx val="1"/>
              <c:layout>
                <c:manualLayout>
                  <c:x val="-0.169448209187742"/>
                  <c:y val="-6.8921999224986997E-1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634028114396498"/>
                      <c:h val="0.2591694452864499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90B-488F-97F4-3272FB73EA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新品</c:v>
                </c:pt>
                <c:pt idx="1">
                  <c:v>老品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0B-488F-97F4-3272FB73EA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4652752788772899"/>
          <c:y val="0.11477294500862199"/>
          <c:w val="0.83188197193235003"/>
          <c:h val="0.757501437056906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C09-4B69-9A9F-0D5127BEF0F8}"/>
              </c:ext>
            </c:extLst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C09-4B69-9A9F-0D5127BEF0F8}"/>
              </c:ext>
            </c:extLst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C09-4B69-9A9F-0D5127BEF0F8}"/>
              </c:ext>
            </c:extLst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C09-4B69-9A9F-0D5127BEF0F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09-4B69-9A9F-0D5127BEF0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/>
              <a:t>MTD</a:t>
            </a:r>
            <a:r>
              <a:rPr lang="zh-CN" altLang="en-US" b="1"/>
              <a:t>渠道推广二级费用分析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4744432906426698E-2"/>
          <c:y val="0.198872373141978"/>
          <c:w val="0.91391484942886803"/>
          <c:h val="0.491132752434648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5AF-4F27-97A0-E9E2FC7E6E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AF-4F27-97A0-E9E2FC7E6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4.4999999999999998E-2</c:v>
                </c:pt>
                <c:pt idx="2">
                  <c:v>2.7E-2</c:v>
                </c:pt>
                <c:pt idx="3">
                  <c:v>3.3000000000000002E-2</c:v>
                </c:pt>
                <c:pt idx="4">
                  <c:v>0.01</c:v>
                </c:pt>
                <c:pt idx="5">
                  <c:v>7.0000000000000007E-2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C5AF-4F27-97A0-E9E2FC7E6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43806968962732201"/>
          <c:y val="0.8867247565351099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MTD品牌</a:t>
            </a:r>
            <a:r>
              <a:rPr lang="en-US" altLang="zh-CN" b="1" dirty="0"/>
              <a:t>&amp;</a:t>
            </a:r>
            <a:r>
              <a:rPr lang="zh-CN" altLang="en-US" b="1" dirty="0"/>
              <a:t>媒介推广&amp;加热&amp;市场推广二级费用</a:t>
            </a:r>
          </a:p>
        </c:rich>
      </c:tx>
      <c:layout>
        <c:manualLayout>
          <c:xMode val="edge"/>
          <c:yMode val="edge"/>
          <c:x val="0.109713134024226"/>
          <c:y val="2.56107662054422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6203220684962599E-2"/>
          <c:y val="0.201327014218009"/>
          <c:w val="0.94039464731231603"/>
          <c:h val="0.621118483412322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DF-4D03-ABDD-8DC971AA1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DF-4D03-ABDD-8DC971AA18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价格折扣浮动情况</a:t>
            </a:r>
          </a:p>
        </c:rich>
      </c:tx>
      <c:layout>
        <c:manualLayout>
          <c:xMode val="edge"/>
          <c:yMode val="edge"/>
          <c:x val="0.36924014138639299"/>
          <c:y val="2.7285562787377898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1111688311688298E-2"/>
          <c:y val="0.16388261851015801"/>
          <c:w val="0.90266458874686795"/>
          <c:h val="0.555214446952596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整体价格折扣比例</c:v>
                </c:pt>
              </c:strCache>
            </c:strRef>
          </c:tx>
          <c:spPr>
            <a:ln w="28575" cap="rnd">
              <a:solidFill>
                <a:srgbClr val="063B4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63B49"/>
              </a:solidFill>
              <a:ln w="9525">
                <a:solidFill>
                  <a:srgbClr val="063B49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0.00%</c:formatCode>
                <c:ptCount val="31"/>
                <c:pt idx="0">
                  <c:v>0.1</c:v>
                </c:pt>
                <c:pt idx="1">
                  <c:v>0.12</c:v>
                </c:pt>
                <c:pt idx="2">
                  <c:v>0.1658</c:v>
                </c:pt>
                <c:pt idx="3">
                  <c:v>0.13519999999999999</c:v>
                </c:pt>
                <c:pt idx="4">
                  <c:v>0.152</c:v>
                </c:pt>
                <c:pt idx="5">
                  <c:v>0.13200000000000001</c:v>
                </c:pt>
                <c:pt idx="6">
                  <c:v>0.13</c:v>
                </c:pt>
                <c:pt idx="7">
                  <c:v>0.14499999999999999</c:v>
                </c:pt>
                <c:pt idx="8">
                  <c:v>0.155</c:v>
                </c:pt>
                <c:pt idx="9">
                  <c:v>0.152</c:v>
                </c:pt>
                <c:pt idx="10">
                  <c:v>0.157</c:v>
                </c:pt>
                <c:pt idx="11">
                  <c:v>0.16300000000000001</c:v>
                </c:pt>
                <c:pt idx="12">
                  <c:v>0.16500000000000001</c:v>
                </c:pt>
                <c:pt idx="13">
                  <c:v>0.17</c:v>
                </c:pt>
                <c:pt idx="14">
                  <c:v>0.17799999999999999</c:v>
                </c:pt>
                <c:pt idx="15">
                  <c:v>0.189</c:v>
                </c:pt>
                <c:pt idx="16">
                  <c:v>0.18</c:v>
                </c:pt>
                <c:pt idx="17">
                  <c:v>0.17799999999999999</c:v>
                </c:pt>
                <c:pt idx="18">
                  <c:v>0.16700000000000001</c:v>
                </c:pt>
                <c:pt idx="19">
                  <c:v>0.18</c:v>
                </c:pt>
                <c:pt idx="20">
                  <c:v>0.19</c:v>
                </c:pt>
                <c:pt idx="21">
                  <c:v>0.18</c:v>
                </c:pt>
                <c:pt idx="22">
                  <c:v>0.17</c:v>
                </c:pt>
                <c:pt idx="23">
                  <c:v>0.16</c:v>
                </c:pt>
                <c:pt idx="24">
                  <c:v>0.15</c:v>
                </c:pt>
                <c:pt idx="25">
                  <c:v>0.158</c:v>
                </c:pt>
                <c:pt idx="26">
                  <c:v>0.159</c:v>
                </c:pt>
                <c:pt idx="27">
                  <c:v>0.16</c:v>
                </c:pt>
                <c:pt idx="28">
                  <c:v>0.16200000000000001</c:v>
                </c:pt>
                <c:pt idx="29">
                  <c:v>0.16500000000000001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FC-466C-9484-954D52FE32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我方价格折让比例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0.00%</c:formatCode>
                <c:ptCount val="31"/>
                <c:pt idx="0">
                  <c:v>0.08</c:v>
                </c:pt>
                <c:pt idx="1">
                  <c:v>9.6000000000000002E-2</c:v>
                </c:pt>
                <c:pt idx="2">
                  <c:v>0.13264000000000001</c:v>
                </c:pt>
                <c:pt idx="3">
                  <c:v>0.10816000000000001</c:v>
                </c:pt>
                <c:pt idx="4">
                  <c:v>0.1216</c:v>
                </c:pt>
                <c:pt idx="5">
                  <c:v>0.1056</c:v>
                </c:pt>
                <c:pt idx="6">
                  <c:v>0.104</c:v>
                </c:pt>
                <c:pt idx="7">
                  <c:v>0.12</c:v>
                </c:pt>
                <c:pt idx="8">
                  <c:v>0.1</c:v>
                </c:pt>
                <c:pt idx="9">
                  <c:v>0.1</c:v>
                </c:pt>
                <c:pt idx="10">
                  <c:v>0.12</c:v>
                </c:pt>
                <c:pt idx="11">
                  <c:v>0.1</c:v>
                </c:pt>
                <c:pt idx="12">
                  <c:v>0.1</c:v>
                </c:pt>
                <c:pt idx="13">
                  <c:v>0.11</c:v>
                </c:pt>
                <c:pt idx="14">
                  <c:v>0.13</c:v>
                </c:pt>
                <c:pt idx="15">
                  <c:v>0.14000000000000001</c:v>
                </c:pt>
                <c:pt idx="16">
                  <c:v>0.14399999999999999</c:v>
                </c:pt>
                <c:pt idx="17">
                  <c:v>0.1424</c:v>
                </c:pt>
                <c:pt idx="18">
                  <c:v>0.1336</c:v>
                </c:pt>
                <c:pt idx="19">
                  <c:v>0.12</c:v>
                </c:pt>
                <c:pt idx="20">
                  <c:v>0.13</c:v>
                </c:pt>
                <c:pt idx="21">
                  <c:v>0.12</c:v>
                </c:pt>
                <c:pt idx="22">
                  <c:v>0.13</c:v>
                </c:pt>
                <c:pt idx="23">
                  <c:v>0.11</c:v>
                </c:pt>
                <c:pt idx="24">
                  <c:v>0.1</c:v>
                </c:pt>
                <c:pt idx="25">
                  <c:v>0.11</c:v>
                </c:pt>
                <c:pt idx="26">
                  <c:v>0.12</c:v>
                </c:pt>
                <c:pt idx="27">
                  <c:v>0.13</c:v>
                </c:pt>
                <c:pt idx="28">
                  <c:v>0.12959999999999999</c:v>
                </c:pt>
                <c:pt idx="29">
                  <c:v>0.13200000000000001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FC-466C-9484-954D52FE32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赠品力度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Sheet1!$D$2:$D$32</c:f>
              <c:numCache>
                <c:formatCode>0.00%</c:formatCode>
                <c:ptCount val="31"/>
                <c:pt idx="0">
                  <c:v>6.4000000000000001E-2</c:v>
                </c:pt>
                <c:pt idx="1">
                  <c:v>7.6799999999999993E-2</c:v>
                </c:pt>
                <c:pt idx="2">
                  <c:v>0.106112</c:v>
                </c:pt>
                <c:pt idx="3">
                  <c:v>8.6527999999999994E-2</c:v>
                </c:pt>
                <c:pt idx="4">
                  <c:v>9.7280000000000005E-2</c:v>
                </c:pt>
                <c:pt idx="5">
                  <c:v>8.448E-2</c:v>
                </c:pt>
                <c:pt idx="6">
                  <c:v>8.3199999999999996E-2</c:v>
                </c:pt>
                <c:pt idx="7">
                  <c:v>9.6000000000000002E-2</c:v>
                </c:pt>
                <c:pt idx="8">
                  <c:v>0.08</c:v>
                </c:pt>
                <c:pt idx="9">
                  <c:v>0.08</c:v>
                </c:pt>
                <c:pt idx="10">
                  <c:v>9.6000000000000002E-2</c:v>
                </c:pt>
                <c:pt idx="11">
                  <c:v>0.08</c:v>
                </c:pt>
                <c:pt idx="12">
                  <c:v>0.08</c:v>
                </c:pt>
                <c:pt idx="13">
                  <c:v>8.7999999999999995E-2</c:v>
                </c:pt>
                <c:pt idx="14">
                  <c:v>0.104</c:v>
                </c:pt>
                <c:pt idx="15">
                  <c:v>7.0000000000000007E-2</c:v>
                </c:pt>
                <c:pt idx="16">
                  <c:v>0.09</c:v>
                </c:pt>
                <c:pt idx="17">
                  <c:v>0.05</c:v>
                </c:pt>
                <c:pt idx="18">
                  <c:v>0.10688</c:v>
                </c:pt>
                <c:pt idx="19">
                  <c:v>9.6000000000000002E-2</c:v>
                </c:pt>
                <c:pt idx="20">
                  <c:v>0.104</c:v>
                </c:pt>
                <c:pt idx="21">
                  <c:v>9.6000000000000002E-2</c:v>
                </c:pt>
                <c:pt idx="22">
                  <c:v>0.104</c:v>
                </c:pt>
                <c:pt idx="23">
                  <c:v>8.7999999999999995E-2</c:v>
                </c:pt>
                <c:pt idx="24">
                  <c:v>0.08</c:v>
                </c:pt>
                <c:pt idx="25">
                  <c:v>8.7999999999999995E-2</c:v>
                </c:pt>
                <c:pt idx="26">
                  <c:v>9.6000000000000002E-2</c:v>
                </c:pt>
                <c:pt idx="27">
                  <c:v>0.104</c:v>
                </c:pt>
                <c:pt idx="28">
                  <c:v>0.10367999999999999</c:v>
                </c:pt>
                <c:pt idx="29">
                  <c:v>0.1056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FC-466C-9484-954D52FE3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2640000" spcFirstLastPara="0" vertOverflow="ellipsis" wrap="square" anchor="ctr" anchorCtr="1" forceAA="0"/>
          <a:lstStyle/>
          <a:p>
            <a:pPr>
              <a:defRPr lang="zh-CN" sz="6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624450955491099"/>
          <c:y val="0.8663394208698139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467498201007403E-2"/>
          <c:y val="0.18355855855855899"/>
          <c:w val="0.84190453346126204"/>
          <c:h val="0.560135135135135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2D-44B2-85D6-FB707023FF19}"/>
              </c:ext>
            </c:extLst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2D-44B2-85D6-FB707023F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2D-44B2-85D6-FB707023FF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B2D-44B2-85D6-FB707023F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2B2D-44B2-85D6-FB707023FF19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B2D-44B2-85D6-FB707023FF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B2D-44B2-85D6-FB707023F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33899016550731598"/>
          <c:y val="0.8783783783783779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123209169054394E-2"/>
          <c:y val="2.3148148148148098E-2"/>
          <c:w val="0.88538681948424103"/>
          <c:h val="0.953703703703704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CA-495A-8D52-C1BB5845B26C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CA-495A-8D52-C1BB5845B26C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  <c:pt idx="0" 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1.6863999999999999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CA-495A-8D52-C1BB5845B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4652752788772899"/>
          <c:y val="0.11477294500862199"/>
          <c:w val="0.83188197193235003"/>
          <c:h val="0.757501437056906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1C-45EA-AABD-086304E913C8}"/>
              </c:ext>
            </c:extLst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1C-45EA-AABD-086304E913C8}"/>
              </c:ext>
            </c:extLst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1C-45EA-AABD-086304E913C8}"/>
              </c:ext>
            </c:extLst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81C-45EA-AABD-086304E913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1C-45EA-AABD-086304E913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与件单价</a:t>
            </a:r>
          </a:p>
        </c:rich>
      </c:tx>
      <c:layout>
        <c:manualLayout>
          <c:xMode val="edge"/>
          <c:yMode val="edge"/>
          <c:x val="0.42947730327171402"/>
          <c:y val="2.2541769708562202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3.5565792582093102E-2"/>
          <c:y val="0.230963753863445"/>
          <c:w val="0.90748877864398803"/>
          <c:h val="0.437370047766226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退款前GMV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</c:strCache>
            </c:strRef>
          </c:cat>
          <c:val>
            <c:numRef>
              <c:f>Sheet1!$B$2:$B$19</c:f>
              <c:numCache>
                <c:formatCode>#,##0.00_ </c:formatCode>
                <c:ptCount val="18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8</c:v>
                </c:pt>
                <c:pt idx="9">
                  <c:v>9</c:v>
                </c:pt>
                <c:pt idx="10">
                  <c:v>7</c:v>
                </c:pt>
                <c:pt idx="11">
                  <c:v>8</c:v>
                </c:pt>
                <c:pt idx="12">
                  <c:v>8.8000000000000007</c:v>
                </c:pt>
                <c:pt idx="13">
                  <c:v>9.6</c:v>
                </c:pt>
                <c:pt idx="14">
                  <c:v>8.6999999999999993</c:v>
                </c:pt>
                <c:pt idx="15">
                  <c:v>8.6</c:v>
                </c:pt>
                <c:pt idx="16">
                  <c:v>8.1</c:v>
                </c:pt>
                <c:pt idx="17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4-4AA0-A5AA-069ECD345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件单价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</c:strCache>
            </c:strRef>
          </c:cat>
          <c:val>
            <c:numRef>
              <c:f>Sheet1!$C$2:$C$19</c:f>
              <c:numCache>
                <c:formatCode>#,##0.00_ </c:formatCode>
                <c:ptCount val="1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EC4-4AA0-A5AA-069ECD345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  <a:endParaRPr lang="zh-CN"/>
          </a:p>
        </c:txPr>
        <c:crossAx val="767653444"/>
        <c:crosses val="autoZero"/>
        <c:crossBetween val="between"/>
        <c:majorUnit val="3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467498201007403E-2"/>
          <c:y val="0.18291505791505799"/>
          <c:w val="0.84190453346126204"/>
          <c:h val="0.56528314028313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997-46D5-A50E-102E5525D628}"/>
              </c:ext>
            </c:extLst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997-46D5-A50E-102E5525D6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97-46D5-A50E-102E5525D6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997-46D5-A50E-102E5525D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F997-46D5-A50E-102E5525D628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997-46D5-A50E-102E5525D6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997-46D5-A50E-102E5525D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33899016550731598"/>
          <c:y val="0.8783783783783779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渠道推广二级费用分析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4744432906426698E-2"/>
          <c:y val="0.198872373141978"/>
          <c:w val="0.91391484942886803"/>
          <c:h val="0.491132752434648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89-4556-9379-ED1FFB85EC8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9-4556-9379-ED1FFB85E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4.4999999999999998E-2</c:v>
                </c:pt>
                <c:pt idx="2">
                  <c:v>2.7E-2</c:v>
                </c:pt>
                <c:pt idx="3">
                  <c:v>3.3000000000000002E-2</c:v>
                </c:pt>
                <c:pt idx="4">
                  <c:v>0.01</c:v>
                </c:pt>
                <c:pt idx="5">
                  <c:v>7.0000000000000007E-2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F89-4556-9379-ED1FFB85E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43806968962732201"/>
          <c:y val="0.8867247565351099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媒介推广&amp;加热&amp;市场推广二级费用预实对比</a:t>
            </a:r>
          </a:p>
        </c:rich>
      </c:tx>
      <c:layout>
        <c:manualLayout>
          <c:xMode val="edge"/>
          <c:yMode val="edge"/>
          <c:x val="0.109713134024226"/>
          <c:y val="2.56107662054422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6203220684962599E-2"/>
          <c:y val="0.201327014218009"/>
          <c:w val="0.94039464731231603"/>
          <c:h val="0.621118483412322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754-481F-BE23-DAB5B7EB3D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54-481F-BE23-DAB5B7EB3D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54-481F-BE23-DAB5B7EB3D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40748571663137201"/>
          <c:y val="0.9055308470256949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各退款节点退款情况</a:t>
            </a:r>
          </a:p>
        </c:rich>
      </c:tx>
      <c:layout>
        <c:manualLayout>
          <c:xMode val="edge"/>
          <c:yMode val="edge"/>
          <c:x val="0.43934661236931699"/>
          <c:y val="2.7913113406800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31296328722349E-2"/>
          <c:y val="0.19565775950667999"/>
          <c:w val="0.87039047452285101"/>
          <c:h val="0.52078622816032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仅退款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发货前</c:v>
                </c:pt>
                <c:pt idx="1">
                  <c:v>发货后签收前</c:v>
                </c:pt>
                <c:pt idx="2">
                  <c:v>签收后确认收货前</c:v>
                </c:pt>
                <c:pt idx="3">
                  <c:v>确认收货后</c:v>
                </c:pt>
                <c:pt idx="4">
                  <c:v>线下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30</c:v>
                </c:pt>
                <c:pt idx="2">
                  <c:v>20</c:v>
                </c:pt>
                <c:pt idx="3">
                  <c:v>100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2-4DC2-BFA7-5E43A74DDB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退货退款</c:v>
                </c:pt>
              </c:strCache>
            </c:strRef>
          </c:tx>
          <c:spPr>
            <a:solidFill>
              <a:srgbClr val="063B49"/>
            </a:solidFill>
            <a:ln w="28575" cap="rnd">
              <a:solidFill>
                <a:srgbClr val="063B49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发货前</c:v>
                </c:pt>
                <c:pt idx="1">
                  <c:v>发货后签收前</c:v>
                </c:pt>
                <c:pt idx="2">
                  <c:v>签收后确认收货前</c:v>
                </c:pt>
                <c:pt idx="3">
                  <c:v>确认收货后</c:v>
                </c:pt>
                <c:pt idx="4">
                  <c:v>线下</c:v>
                </c:pt>
              </c:strCache>
            </c:strRef>
          </c:cat>
          <c:val>
            <c:numRef>
              <c:f>Sheet1!$C$2:$C$6</c:f>
              <c:numCache>
                <c:formatCode>#,##0_ </c:formatCode>
                <c:ptCount val="5"/>
                <c:pt idx="0">
                  <c:v>60</c:v>
                </c:pt>
                <c:pt idx="1">
                  <c:v>50</c:v>
                </c:pt>
                <c:pt idx="2">
                  <c:v>30</c:v>
                </c:pt>
                <c:pt idx="3">
                  <c:v>70</c:v>
                </c:pt>
                <c:pt idx="4" formatCode="General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92-4DC2-BFA7-5E43A74DDB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1"/>
        <c:overlap val="100"/>
        <c:axId val="767653444"/>
        <c:axId val="807236658"/>
      </c:bar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6438818479879002"/>
          <c:y val="0.8725010924779600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渠道退款情况</a:t>
            </a:r>
          </a:p>
        </c:rich>
      </c:tx>
      <c:layout>
        <c:manualLayout>
          <c:xMode val="edge"/>
          <c:yMode val="edge"/>
          <c:x val="0.35698658711591802"/>
          <c:y val="4.26515069219068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3142365379886906E-2"/>
          <c:y val="0.19566247926048799"/>
          <c:w val="0.87039999999999995"/>
          <c:h val="0.4818440388717710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退前GMV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80</c:v>
                </c:pt>
                <c:pt idx="2">
                  <c:v>100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8-4AAB-BE6D-495BBCE3DA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退款金额</c:v>
                </c:pt>
              </c:strCache>
            </c:strRef>
          </c:tx>
          <c:spPr>
            <a:solidFill>
              <a:srgbClr val="063B49"/>
            </a:solidFill>
            <a:ln w="28575" cap="rnd">
              <a:solidFill>
                <a:srgbClr val="063B49"/>
              </a:solidFill>
              <a:round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</c:strCache>
            </c:strRef>
          </c:cat>
          <c:val>
            <c:numRef>
              <c:f>Sheet1!$C$2:$C$8</c:f>
              <c:numCache>
                <c:formatCode>#,##0.00_ </c:formatCode>
                <c:ptCount val="7"/>
                <c:pt idx="0">
                  <c:v>12</c:v>
                </c:pt>
                <c:pt idx="1">
                  <c:v>9.6</c:v>
                </c:pt>
                <c:pt idx="2">
                  <c:v>16</c:v>
                </c:pt>
                <c:pt idx="3">
                  <c:v>13.5</c:v>
                </c:pt>
                <c:pt idx="4">
                  <c:v>11.7</c:v>
                </c:pt>
                <c:pt idx="5">
                  <c:v>11.7</c:v>
                </c:pt>
                <c:pt idx="6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8-4AAB-BE6D-495BBCE3D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退款率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0.1</c:v>
                </c:pt>
                <c:pt idx="1">
                  <c:v>0.12</c:v>
                </c:pt>
                <c:pt idx="2">
                  <c:v>0.16</c:v>
                </c:pt>
                <c:pt idx="3">
                  <c:v>0.15</c:v>
                </c:pt>
                <c:pt idx="4">
                  <c:v>0.13</c:v>
                </c:pt>
                <c:pt idx="5">
                  <c:v>0.13</c:v>
                </c:pt>
                <c:pt idx="6">
                  <c:v>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E8-4AAB-BE6D-495BBCE3D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3706948"/>
        <c:axId val="85068366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264000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catAx>
        <c:axId val="7537069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50683668"/>
        <c:crosses val="autoZero"/>
        <c:auto val="1"/>
        <c:lblAlgn val="ctr"/>
        <c:lblOffset val="100"/>
        <c:noMultiLvlLbl val="0"/>
      </c:catAx>
      <c:valAx>
        <c:axId val="85068366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706948"/>
        <c:crosses val="max"/>
        <c:crossBetween val="between"/>
        <c:majorUnit val="0.04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247953110721402"/>
          <c:y val="0.889229472065057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渠道退货情况</a:t>
            </a:r>
          </a:p>
        </c:rich>
      </c:tx>
      <c:layout>
        <c:manualLayout>
          <c:xMode val="edge"/>
          <c:yMode val="edge"/>
          <c:x val="0.35698658711591802"/>
          <c:y val="4.26515069219068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3142365379886906E-2"/>
          <c:y val="0.19566247926048799"/>
          <c:w val="0.87039999999999995"/>
          <c:h val="0.4818440388717710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销量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其他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60-471E-A981-B1D8A141C8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退货量</c:v>
                </c:pt>
              </c:strCache>
            </c:strRef>
          </c:tx>
          <c:spPr>
            <a:solidFill>
              <a:srgbClr val="063B49"/>
            </a:solidFill>
            <a:ln w="28575" cap="rnd">
              <a:solidFill>
                <a:srgbClr val="063B49"/>
              </a:solidFill>
              <a:round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其他</c:v>
                </c:pt>
              </c:strCache>
            </c:strRef>
          </c:cat>
          <c:val>
            <c:numRef>
              <c:f>Sheet1!$C$2:$C$9</c:f>
              <c:numCache>
                <c:formatCode>#,##0.00_ </c:formatCode>
                <c:ptCount val="8"/>
                <c:pt idx="0">
                  <c:v>0.8</c:v>
                </c:pt>
                <c:pt idx="1">
                  <c:v>0.96</c:v>
                </c:pt>
                <c:pt idx="2">
                  <c:v>1.6</c:v>
                </c:pt>
                <c:pt idx="3">
                  <c:v>1.35</c:v>
                </c:pt>
                <c:pt idx="4">
                  <c:v>1.17</c:v>
                </c:pt>
                <c:pt idx="5">
                  <c:v>1.17</c:v>
                </c:pt>
                <c:pt idx="6">
                  <c:v>1.17</c:v>
                </c:pt>
                <c:pt idx="7">
                  <c:v>1.26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60-471E-A981-B1D8A141C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退货率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其他</c:v>
                </c:pt>
              </c:strCache>
            </c:strRef>
          </c:cat>
          <c:val>
            <c:numRef>
              <c:f>Sheet1!$D$2:$D$9</c:f>
              <c:numCache>
                <c:formatCode>0.00%</c:formatCode>
                <c:ptCount val="8"/>
                <c:pt idx="0">
                  <c:v>0.1</c:v>
                </c:pt>
                <c:pt idx="1">
                  <c:v>0.12</c:v>
                </c:pt>
                <c:pt idx="2">
                  <c:v>0.16</c:v>
                </c:pt>
                <c:pt idx="3">
                  <c:v>0.15</c:v>
                </c:pt>
                <c:pt idx="4">
                  <c:v>0.13</c:v>
                </c:pt>
                <c:pt idx="5">
                  <c:v>0.13</c:v>
                </c:pt>
                <c:pt idx="6">
                  <c:v>0.13</c:v>
                </c:pt>
                <c:pt idx="7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E60-471E-A981-B1D8A141C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3706948"/>
        <c:axId val="85068366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2640000" spcFirstLastPara="0" vertOverflow="ellipsis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pPr>
            <a:endParaRPr lang="zh-CN"/>
          </a:p>
        </c:txPr>
        <c:crossAx val="767653444"/>
        <c:crosses val="autoZero"/>
        <c:crossBetween val="between"/>
      </c:valAx>
      <c:catAx>
        <c:axId val="7537069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50683668"/>
        <c:crosses val="autoZero"/>
        <c:auto val="1"/>
        <c:lblAlgn val="ctr"/>
        <c:lblOffset val="100"/>
        <c:noMultiLvlLbl val="0"/>
      </c:catAx>
      <c:valAx>
        <c:axId val="85068366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706948"/>
        <c:crosses val="max"/>
        <c:crossBetween val="between"/>
        <c:majorUnit val="0.04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452732867047598"/>
          <c:y val="0.885680016314939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微软雅黑" panose="020B0503020204020204" charset="-122"/>
              <a:ea typeface="微软雅黑" panose="020B0503020204020204" charset="-122"/>
              <a:cs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65000"/>
          <a:lumOff val="35000"/>
        </a:sysClr>
      </a:solidFill>
      <a:ln w="9525">
        <a:solidFill>
          <a:sysClr val="windowText" lastClr="000000">
            <a:lumMod val="65000"/>
            <a:lumOff val="35000"/>
          </a:sysClr>
        </a:solidFill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75000"/>
            <a:lumOff val="25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>
        <a:solidFill>
          <a:sysClr val="windowText" lastClr="000000">
            <a:lumMod val="15000"/>
            <a:lumOff val="85000"/>
          </a:sysClr>
        </a:solidFill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918" y="2880000"/>
            <a:ext cx="9800165" cy="809574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918" y="11213858"/>
            <a:ext cx="9800165" cy="463748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60" y="1916220"/>
            <a:ext cx="10970280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60" y="4694173"/>
            <a:ext cx="10970280" cy="149896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996" y="12120944"/>
            <a:ext cx="7769565" cy="241511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996" y="14536062"/>
            <a:ext cx="7769565" cy="273259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60" y="1916220"/>
            <a:ext cx="10970280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60" y="4728189"/>
            <a:ext cx="5177310" cy="149555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2231" y="4728189"/>
            <a:ext cx="5177310" cy="1495559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60" y="1916220"/>
            <a:ext cx="10970280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60" y="4501417"/>
            <a:ext cx="5342926" cy="120189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60" y="5839370"/>
            <a:ext cx="5342926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6364" y="4477886"/>
            <a:ext cx="5342926" cy="120189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6364" y="5839370"/>
            <a:ext cx="5342926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60" y="1916220"/>
            <a:ext cx="10970280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60" y="4898267"/>
            <a:ext cx="5233592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1025" y="4898267"/>
            <a:ext cx="5227715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2023/7/12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5808" y="2880000"/>
            <a:ext cx="1044103" cy="1583999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90" y="2880000"/>
            <a:ext cx="9170103" cy="15839999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60" y="2437795"/>
            <a:ext cx="10973880" cy="172686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918" y="7823622"/>
            <a:ext cx="9800165" cy="320881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918" y="11213858"/>
            <a:ext cx="9800165" cy="14853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60" y="1916220"/>
            <a:ext cx="10970280" cy="222236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60" y="4694173"/>
            <a:ext cx="10970280" cy="149896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60" y="19887873"/>
            <a:ext cx="2700266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405" y="19887873"/>
            <a:ext cx="3960390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8474" y="19887873"/>
            <a:ext cx="2700266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6" Type="http://schemas.openxmlformats.org/officeDocument/2006/relationships/tags" Target="../tags/tag79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chart" Target="../charts/chart3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chart" Target="../charts/chart4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54" Type="http://schemas.openxmlformats.org/officeDocument/2006/relationships/tags" Target="../tags/tag117.xml"/><Relationship Id="rId62" Type="http://schemas.openxmlformats.org/officeDocument/2006/relationships/tags" Target="../tags/tag125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tags" Target="../tags/tag99.xml"/><Relationship Id="rId49" Type="http://schemas.openxmlformats.org/officeDocument/2006/relationships/tags" Target="../tags/tag112.xml"/><Relationship Id="rId57" Type="http://schemas.openxmlformats.org/officeDocument/2006/relationships/tags" Target="../tags/tag120.xml"/><Relationship Id="rId106" Type="http://schemas.openxmlformats.org/officeDocument/2006/relationships/image" Target="../media/image1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slideLayout" Target="../slideLayouts/slideLayout1.xml"/><Relationship Id="rId101" Type="http://schemas.openxmlformats.org/officeDocument/2006/relationships/chart" Target="../charts/chart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chart" Target="../charts/chart5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chart" Target="../charts/chart1.xml"/><Relationship Id="rId105" Type="http://schemas.openxmlformats.org/officeDocument/2006/relationships/chart" Target="../charts/chart6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26" Type="http://schemas.openxmlformats.org/officeDocument/2006/relationships/tags" Target="../tags/tag187.xml"/><Relationship Id="rId39" Type="http://schemas.openxmlformats.org/officeDocument/2006/relationships/tags" Target="../tags/tag200.xml"/><Relationship Id="rId21" Type="http://schemas.openxmlformats.org/officeDocument/2006/relationships/tags" Target="../tags/tag182.xml"/><Relationship Id="rId34" Type="http://schemas.openxmlformats.org/officeDocument/2006/relationships/tags" Target="../tags/tag195.xml"/><Relationship Id="rId42" Type="http://schemas.openxmlformats.org/officeDocument/2006/relationships/chart" Target="../charts/chart7.xml"/><Relationship Id="rId7" Type="http://schemas.openxmlformats.org/officeDocument/2006/relationships/tags" Target="../tags/tag16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0" Type="http://schemas.openxmlformats.org/officeDocument/2006/relationships/tags" Target="../tags/tag181.xml"/><Relationship Id="rId29" Type="http://schemas.openxmlformats.org/officeDocument/2006/relationships/tags" Target="../tags/tag190.xml"/><Relationship Id="rId41" Type="http://schemas.openxmlformats.org/officeDocument/2006/relationships/slideLayout" Target="../slideLayouts/slideLayout1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24" Type="http://schemas.openxmlformats.org/officeDocument/2006/relationships/tags" Target="../tags/tag185.xml"/><Relationship Id="rId32" Type="http://schemas.openxmlformats.org/officeDocument/2006/relationships/tags" Target="../tags/tag193.xml"/><Relationship Id="rId37" Type="http://schemas.openxmlformats.org/officeDocument/2006/relationships/tags" Target="../tags/tag198.xml"/><Relationship Id="rId40" Type="http://schemas.openxmlformats.org/officeDocument/2006/relationships/tags" Target="../tags/tag201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23" Type="http://schemas.openxmlformats.org/officeDocument/2006/relationships/tags" Target="../tags/tag184.xml"/><Relationship Id="rId28" Type="http://schemas.openxmlformats.org/officeDocument/2006/relationships/tags" Target="../tags/tag189.xml"/><Relationship Id="rId36" Type="http://schemas.openxmlformats.org/officeDocument/2006/relationships/tags" Target="../tags/tag197.xml"/><Relationship Id="rId10" Type="http://schemas.openxmlformats.org/officeDocument/2006/relationships/tags" Target="../tags/tag171.xml"/><Relationship Id="rId19" Type="http://schemas.openxmlformats.org/officeDocument/2006/relationships/tags" Target="../tags/tag180.xml"/><Relationship Id="rId31" Type="http://schemas.openxmlformats.org/officeDocument/2006/relationships/tags" Target="../tags/tag192.xml"/><Relationship Id="rId44" Type="http://schemas.openxmlformats.org/officeDocument/2006/relationships/chart" Target="../charts/chart9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tags" Target="../tags/tag183.xml"/><Relationship Id="rId27" Type="http://schemas.openxmlformats.org/officeDocument/2006/relationships/tags" Target="../tags/tag188.xml"/><Relationship Id="rId30" Type="http://schemas.openxmlformats.org/officeDocument/2006/relationships/tags" Target="../tags/tag191.xml"/><Relationship Id="rId35" Type="http://schemas.openxmlformats.org/officeDocument/2006/relationships/tags" Target="../tags/tag196.xml"/><Relationship Id="rId43" Type="http://schemas.openxmlformats.org/officeDocument/2006/relationships/chart" Target="../charts/chart8.xml"/><Relationship Id="rId8" Type="http://schemas.openxmlformats.org/officeDocument/2006/relationships/tags" Target="../tags/tag169.xml"/><Relationship Id="rId3" Type="http://schemas.openxmlformats.org/officeDocument/2006/relationships/tags" Target="../tags/tag164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5" Type="http://schemas.openxmlformats.org/officeDocument/2006/relationships/tags" Target="../tags/tag186.xml"/><Relationship Id="rId33" Type="http://schemas.openxmlformats.org/officeDocument/2006/relationships/tags" Target="../tags/tag194.xml"/><Relationship Id="rId38" Type="http://schemas.openxmlformats.org/officeDocument/2006/relationships/tags" Target="../tags/tag19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14.xml"/><Relationship Id="rId18" Type="http://schemas.openxmlformats.org/officeDocument/2006/relationships/tags" Target="../tags/tag219.xml"/><Relationship Id="rId26" Type="http://schemas.openxmlformats.org/officeDocument/2006/relationships/tags" Target="../tags/tag227.xml"/><Relationship Id="rId39" Type="http://schemas.openxmlformats.org/officeDocument/2006/relationships/tags" Target="../tags/tag240.xml"/><Relationship Id="rId21" Type="http://schemas.openxmlformats.org/officeDocument/2006/relationships/tags" Target="../tags/tag222.xml"/><Relationship Id="rId34" Type="http://schemas.openxmlformats.org/officeDocument/2006/relationships/tags" Target="../tags/tag235.xml"/><Relationship Id="rId42" Type="http://schemas.openxmlformats.org/officeDocument/2006/relationships/tags" Target="../tags/tag243.xml"/><Relationship Id="rId47" Type="http://schemas.openxmlformats.org/officeDocument/2006/relationships/tags" Target="../tags/tag248.xml"/><Relationship Id="rId50" Type="http://schemas.openxmlformats.org/officeDocument/2006/relationships/tags" Target="../tags/tag251.xml"/><Relationship Id="rId55" Type="http://schemas.openxmlformats.org/officeDocument/2006/relationships/slideLayout" Target="../slideLayouts/slideLayout1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6" Type="http://schemas.openxmlformats.org/officeDocument/2006/relationships/tags" Target="../tags/tag217.xml"/><Relationship Id="rId29" Type="http://schemas.openxmlformats.org/officeDocument/2006/relationships/tags" Target="../tags/tag230.xml"/><Relationship Id="rId11" Type="http://schemas.openxmlformats.org/officeDocument/2006/relationships/tags" Target="../tags/tag212.xml"/><Relationship Id="rId24" Type="http://schemas.openxmlformats.org/officeDocument/2006/relationships/tags" Target="../tags/tag225.xml"/><Relationship Id="rId32" Type="http://schemas.openxmlformats.org/officeDocument/2006/relationships/tags" Target="../tags/tag233.xml"/><Relationship Id="rId37" Type="http://schemas.openxmlformats.org/officeDocument/2006/relationships/tags" Target="../tags/tag238.xml"/><Relationship Id="rId40" Type="http://schemas.openxmlformats.org/officeDocument/2006/relationships/tags" Target="../tags/tag241.xml"/><Relationship Id="rId45" Type="http://schemas.openxmlformats.org/officeDocument/2006/relationships/tags" Target="../tags/tag246.xml"/><Relationship Id="rId53" Type="http://schemas.openxmlformats.org/officeDocument/2006/relationships/tags" Target="../tags/tag254.xml"/><Relationship Id="rId5" Type="http://schemas.openxmlformats.org/officeDocument/2006/relationships/tags" Target="../tags/tag206.xml"/><Relationship Id="rId10" Type="http://schemas.openxmlformats.org/officeDocument/2006/relationships/tags" Target="../tags/tag211.xml"/><Relationship Id="rId19" Type="http://schemas.openxmlformats.org/officeDocument/2006/relationships/tags" Target="../tags/tag220.xml"/><Relationship Id="rId31" Type="http://schemas.openxmlformats.org/officeDocument/2006/relationships/tags" Target="../tags/tag232.xml"/><Relationship Id="rId44" Type="http://schemas.openxmlformats.org/officeDocument/2006/relationships/tags" Target="../tags/tag245.xml"/><Relationship Id="rId52" Type="http://schemas.openxmlformats.org/officeDocument/2006/relationships/tags" Target="../tags/tag253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tags" Target="../tags/tag215.xml"/><Relationship Id="rId22" Type="http://schemas.openxmlformats.org/officeDocument/2006/relationships/tags" Target="../tags/tag223.xml"/><Relationship Id="rId27" Type="http://schemas.openxmlformats.org/officeDocument/2006/relationships/tags" Target="../tags/tag228.xml"/><Relationship Id="rId30" Type="http://schemas.openxmlformats.org/officeDocument/2006/relationships/tags" Target="../tags/tag231.xml"/><Relationship Id="rId35" Type="http://schemas.openxmlformats.org/officeDocument/2006/relationships/tags" Target="../tags/tag236.xml"/><Relationship Id="rId43" Type="http://schemas.openxmlformats.org/officeDocument/2006/relationships/tags" Target="../tags/tag244.xml"/><Relationship Id="rId48" Type="http://schemas.openxmlformats.org/officeDocument/2006/relationships/tags" Target="../tags/tag249.xml"/><Relationship Id="rId56" Type="http://schemas.openxmlformats.org/officeDocument/2006/relationships/chart" Target="../charts/chart10.xml"/><Relationship Id="rId8" Type="http://schemas.openxmlformats.org/officeDocument/2006/relationships/tags" Target="../tags/tag209.xml"/><Relationship Id="rId51" Type="http://schemas.openxmlformats.org/officeDocument/2006/relationships/tags" Target="../tags/tag252.xml"/><Relationship Id="rId3" Type="http://schemas.openxmlformats.org/officeDocument/2006/relationships/tags" Target="../tags/tag204.xml"/><Relationship Id="rId12" Type="http://schemas.openxmlformats.org/officeDocument/2006/relationships/tags" Target="../tags/tag213.xml"/><Relationship Id="rId17" Type="http://schemas.openxmlformats.org/officeDocument/2006/relationships/tags" Target="../tags/tag218.xml"/><Relationship Id="rId25" Type="http://schemas.openxmlformats.org/officeDocument/2006/relationships/tags" Target="../tags/tag226.xml"/><Relationship Id="rId33" Type="http://schemas.openxmlformats.org/officeDocument/2006/relationships/tags" Target="../tags/tag234.xml"/><Relationship Id="rId38" Type="http://schemas.openxmlformats.org/officeDocument/2006/relationships/tags" Target="../tags/tag239.xml"/><Relationship Id="rId46" Type="http://schemas.openxmlformats.org/officeDocument/2006/relationships/tags" Target="../tags/tag247.xml"/><Relationship Id="rId20" Type="http://schemas.openxmlformats.org/officeDocument/2006/relationships/tags" Target="../tags/tag221.xml"/><Relationship Id="rId41" Type="http://schemas.openxmlformats.org/officeDocument/2006/relationships/tags" Target="../tags/tag242.xml"/><Relationship Id="rId54" Type="http://schemas.openxmlformats.org/officeDocument/2006/relationships/tags" Target="../tags/tag255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5" Type="http://schemas.openxmlformats.org/officeDocument/2006/relationships/tags" Target="../tags/tag216.xml"/><Relationship Id="rId23" Type="http://schemas.openxmlformats.org/officeDocument/2006/relationships/tags" Target="../tags/tag224.xml"/><Relationship Id="rId28" Type="http://schemas.openxmlformats.org/officeDocument/2006/relationships/tags" Target="../tags/tag229.xml"/><Relationship Id="rId36" Type="http://schemas.openxmlformats.org/officeDocument/2006/relationships/tags" Target="../tags/tag237.xml"/><Relationship Id="rId49" Type="http://schemas.openxmlformats.org/officeDocument/2006/relationships/tags" Target="../tags/tag250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281.xml"/><Relationship Id="rId21" Type="http://schemas.openxmlformats.org/officeDocument/2006/relationships/tags" Target="../tags/tag276.xml"/><Relationship Id="rId42" Type="http://schemas.openxmlformats.org/officeDocument/2006/relationships/tags" Target="../tags/tag297.xml"/><Relationship Id="rId47" Type="http://schemas.openxmlformats.org/officeDocument/2006/relationships/tags" Target="../tags/tag302.xml"/><Relationship Id="rId63" Type="http://schemas.openxmlformats.org/officeDocument/2006/relationships/tags" Target="../tags/tag318.xml"/><Relationship Id="rId68" Type="http://schemas.openxmlformats.org/officeDocument/2006/relationships/tags" Target="../tags/tag323.xml"/><Relationship Id="rId16" Type="http://schemas.openxmlformats.org/officeDocument/2006/relationships/tags" Target="../tags/tag271.xml"/><Relationship Id="rId11" Type="http://schemas.openxmlformats.org/officeDocument/2006/relationships/tags" Target="../tags/tag266.xml"/><Relationship Id="rId32" Type="http://schemas.openxmlformats.org/officeDocument/2006/relationships/tags" Target="../tags/tag287.xml"/><Relationship Id="rId37" Type="http://schemas.openxmlformats.org/officeDocument/2006/relationships/tags" Target="../tags/tag292.xml"/><Relationship Id="rId53" Type="http://schemas.openxmlformats.org/officeDocument/2006/relationships/tags" Target="../tags/tag308.xml"/><Relationship Id="rId58" Type="http://schemas.openxmlformats.org/officeDocument/2006/relationships/tags" Target="../tags/tag313.xml"/><Relationship Id="rId74" Type="http://schemas.openxmlformats.org/officeDocument/2006/relationships/slideLayout" Target="../slideLayouts/slideLayout1.xml"/><Relationship Id="rId79" Type="http://schemas.openxmlformats.org/officeDocument/2006/relationships/chart" Target="../charts/chart15.xml"/><Relationship Id="rId5" Type="http://schemas.openxmlformats.org/officeDocument/2006/relationships/tags" Target="../tags/tag260.xml"/><Relationship Id="rId61" Type="http://schemas.openxmlformats.org/officeDocument/2006/relationships/tags" Target="../tags/tag316.xml"/><Relationship Id="rId19" Type="http://schemas.openxmlformats.org/officeDocument/2006/relationships/tags" Target="../tags/tag274.xml"/><Relationship Id="rId14" Type="http://schemas.openxmlformats.org/officeDocument/2006/relationships/tags" Target="../tags/tag269.xml"/><Relationship Id="rId22" Type="http://schemas.openxmlformats.org/officeDocument/2006/relationships/tags" Target="../tags/tag277.xml"/><Relationship Id="rId27" Type="http://schemas.openxmlformats.org/officeDocument/2006/relationships/tags" Target="../tags/tag282.xml"/><Relationship Id="rId30" Type="http://schemas.openxmlformats.org/officeDocument/2006/relationships/tags" Target="../tags/tag285.xml"/><Relationship Id="rId35" Type="http://schemas.openxmlformats.org/officeDocument/2006/relationships/tags" Target="../tags/tag290.xml"/><Relationship Id="rId43" Type="http://schemas.openxmlformats.org/officeDocument/2006/relationships/tags" Target="../tags/tag298.xml"/><Relationship Id="rId48" Type="http://schemas.openxmlformats.org/officeDocument/2006/relationships/tags" Target="../tags/tag303.xml"/><Relationship Id="rId56" Type="http://schemas.openxmlformats.org/officeDocument/2006/relationships/tags" Target="../tags/tag311.xml"/><Relationship Id="rId64" Type="http://schemas.openxmlformats.org/officeDocument/2006/relationships/tags" Target="../tags/tag319.xml"/><Relationship Id="rId69" Type="http://schemas.openxmlformats.org/officeDocument/2006/relationships/tags" Target="../tags/tag324.xml"/><Relationship Id="rId77" Type="http://schemas.openxmlformats.org/officeDocument/2006/relationships/chart" Target="../charts/chart13.xml"/><Relationship Id="rId8" Type="http://schemas.openxmlformats.org/officeDocument/2006/relationships/tags" Target="../tags/tag263.xml"/><Relationship Id="rId51" Type="http://schemas.openxmlformats.org/officeDocument/2006/relationships/tags" Target="../tags/tag306.xml"/><Relationship Id="rId72" Type="http://schemas.openxmlformats.org/officeDocument/2006/relationships/tags" Target="../tags/tag327.xml"/><Relationship Id="rId80" Type="http://schemas.openxmlformats.org/officeDocument/2006/relationships/chart" Target="../charts/chart16.xml"/><Relationship Id="rId3" Type="http://schemas.openxmlformats.org/officeDocument/2006/relationships/tags" Target="../tags/tag258.xml"/><Relationship Id="rId12" Type="http://schemas.openxmlformats.org/officeDocument/2006/relationships/tags" Target="../tags/tag267.xml"/><Relationship Id="rId17" Type="http://schemas.openxmlformats.org/officeDocument/2006/relationships/tags" Target="../tags/tag272.xml"/><Relationship Id="rId25" Type="http://schemas.openxmlformats.org/officeDocument/2006/relationships/tags" Target="../tags/tag280.xml"/><Relationship Id="rId33" Type="http://schemas.openxmlformats.org/officeDocument/2006/relationships/tags" Target="../tags/tag288.xml"/><Relationship Id="rId38" Type="http://schemas.openxmlformats.org/officeDocument/2006/relationships/tags" Target="../tags/tag293.xml"/><Relationship Id="rId46" Type="http://schemas.openxmlformats.org/officeDocument/2006/relationships/tags" Target="../tags/tag301.xml"/><Relationship Id="rId59" Type="http://schemas.openxmlformats.org/officeDocument/2006/relationships/tags" Target="../tags/tag314.xml"/><Relationship Id="rId67" Type="http://schemas.openxmlformats.org/officeDocument/2006/relationships/tags" Target="../tags/tag322.xml"/><Relationship Id="rId20" Type="http://schemas.openxmlformats.org/officeDocument/2006/relationships/tags" Target="../tags/tag275.xml"/><Relationship Id="rId41" Type="http://schemas.openxmlformats.org/officeDocument/2006/relationships/tags" Target="../tags/tag296.xml"/><Relationship Id="rId54" Type="http://schemas.openxmlformats.org/officeDocument/2006/relationships/tags" Target="../tags/tag309.xml"/><Relationship Id="rId62" Type="http://schemas.openxmlformats.org/officeDocument/2006/relationships/tags" Target="../tags/tag317.xml"/><Relationship Id="rId70" Type="http://schemas.openxmlformats.org/officeDocument/2006/relationships/tags" Target="../tags/tag325.xml"/><Relationship Id="rId75" Type="http://schemas.openxmlformats.org/officeDocument/2006/relationships/chart" Target="../charts/chart11.xml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5" Type="http://schemas.openxmlformats.org/officeDocument/2006/relationships/tags" Target="../tags/tag270.xml"/><Relationship Id="rId23" Type="http://schemas.openxmlformats.org/officeDocument/2006/relationships/tags" Target="../tags/tag278.xml"/><Relationship Id="rId28" Type="http://schemas.openxmlformats.org/officeDocument/2006/relationships/tags" Target="../tags/tag283.xml"/><Relationship Id="rId36" Type="http://schemas.openxmlformats.org/officeDocument/2006/relationships/tags" Target="../tags/tag291.xml"/><Relationship Id="rId49" Type="http://schemas.openxmlformats.org/officeDocument/2006/relationships/tags" Target="../tags/tag304.xml"/><Relationship Id="rId57" Type="http://schemas.openxmlformats.org/officeDocument/2006/relationships/tags" Target="../tags/tag312.xml"/><Relationship Id="rId10" Type="http://schemas.openxmlformats.org/officeDocument/2006/relationships/tags" Target="../tags/tag265.xml"/><Relationship Id="rId31" Type="http://schemas.openxmlformats.org/officeDocument/2006/relationships/tags" Target="../tags/tag286.xml"/><Relationship Id="rId44" Type="http://schemas.openxmlformats.org/officeDocument/2006/relationships/tags" Target="../tags/tag299.xml"/><Relationship Id="rId52" Type="http://schemas.openxmlformats.org/officeDocument/2006/relationships/tags" Target="../tags/tag307.xml"/><Relationship Id="rId60" Type="http://schemas.openxmlformats.org/officeDocument/2006/relationships/tags" Target="../tags/tag315.xml"/><Relationship Id="rId65" Type="http://schemas.openxmlformats.org/officeDocument/2006/relationships/tags" Target="../tags/tag320.xml"/><Relationship Id="rId73" Type="http://schemas.openxmlformats.org/officeDocument/2006/relationships/tags" Target="../tags/tag328.xml"/><Relationship Id="rId78" Type="http://schemas.openxmlformats.org/officeDocument/2006/relationships/chart" Target="../charts/chart14.xml"/><Relationship Id="rId81" Type="http://schemas.openxmlformats.org/officeDocument/2006/relationships/chart" Target="../charts/chart17.xml"/><Relationship Id="rId4" Type="http://schemas.openxmlformats.org/officeDocument/2006/relationships/tags" Target="../tags/tag259.xml"/><Relationship Id="rId9" Type="http://schemas.openxmlformats.org/officeDocument/2006/relationships/tags" Target="../tags/tag264.xml"/><Relationship Id="rId13" Type="http://schemas.openxmlformats.org/officeDocument/2006/relationships/tags" Target="../tags/tag268.xml"/><Relationship Id="rId18" Type="http://schemas.openxmlformats.org/officeDocument/2006/relationships/tags" Target="../tags/tag273.xml"/><Relationship Id="rId39" Type="http://schemas.openxmlformats.org/officeDocument/2006/relationships/tags" Target="../tags/tag294.xml"/><Relationship Id="rId34" Type="http://schemas.openxmlformats.org/officeDocument/2006/relationships/tags" Target="../tags/tag289.xml"/><Relationship Id="rId50" Type="http://schemas.openxmlformats.org/officeDocument/2006/relationships/tags" Target="../tags/tag305.xml"/><Relationship Id="rId55" Type="http://schemas.openxmlformats.org/officeDocument/2006/relationships/tags" Target="../tags/tag310.xml"/><Relationship Id="rId76" Type="http://schemas.openxmlformats.org/officeDocument/2006/relationships/chart" Target="../charts/chart12.xml"/><Relationship Id="rId7" Type="http://schemas.openxmlformats.org/officeDocument/2006/relationships/tags" Target="../tags/tag262.xml"/><Relationship Id="rId71" Type="http://schemas.openxmlformats.org/officeDocument/2006/relationships/tags" Target="../tags/tag326.xml"/><Relationship Id="rId2" Type="http://schemas.openxmlformats.org/officeDocument/2006/relationships/tags" Target="../tags/tag257.xml"/><Relationship Id="rId29" Type="http://schemas.openxmlformats.org/officeDocument/2006/relationships/tags" Target="../tags/tag284.xml"/><Relationship Id="rId24" Type="http://schemas.openxmlformats.org/officeDocument/2006/relationships/tags" Target="../tags/tag279.xml"/><Relationship Id="rId40" Type="http://schemas.openxmlformats.org/officeDocument/2006/relationships/tags" Target="../tags/tag295.xml"/><Relationship Id="rId45" Type="http://schemas.openxmlformats.org/officeDocument/2006/relationships/tags" Target="../tags/tag300.xml"/><Relationship Id="rId66" Type="http://schemas.openxmlformats.org/officeDocument/2006/relationships/tags" Target="../tags/tag32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341.xml"/><Relationship Id="rId18" Type="http://schemas.openxmlformats.org/officeDocument/2006/relationships/tags" Target="../tags/tag346.xml"/><Relationship Id="rId26" Type="http://schemas.openxmlformats.org/officeDocument/2006/relationships/tags" Target="../tags/tag354.xml"/><Relationship Id="rId39" Type="http://schemas.openxmlformats.org/officeDocument/2006/relationships/tags" Target="../tags/tag367.xml"/><Relationship Id="rId21" Type="http://schemas.openxmlformats.org/officeDocument/2006/relationships/tags" Target="../tags/tag349.xml"/><Relationship Id="rId34" Type="http://schemas.openxmlformats.org/officeDocument/2006/relationships/tags" Target="../tags/tag362.xml"/><Relationship Id="rId42" Type="http://schemas.openxmlformats.org/officeDocument/2006/relationships/tags" Target="../tags/tag370.xml"/><Relationship Id="rId47" Type="http://schemas.openxmlformats.org/officeDocument/2006/relationships/tags" Target="../tags/tag375.xml"/><Relationship Id="rId50" Type="http://schemas.openxmlformats.org/officeDocument/2006/relationships/tags" Target="../tags/tag378.xml"/><Relationship Id="rId55" Type="http://schemas.openxmlformats.org/officeDocument/2006/relationships/tags" Target="../tags/tag383.xml"/><Relationship Id="rId63" Type="http://schemas.openxmlformats.org/officeDocument/2006/relationships/chart" Target="../charts/chart19.xml"/><Relationship Id="rId7" Type="http://schemas.openxmlformats.org/officeDocument/2006/relationships/tags" Target="../tags/tag335.xml"/><Relationship Id="rId2" Type="http://schemas.openxmlformats.org/officeDocument/2006/relationships/tags" Target="../tags/tag330.xml"/><Relationship Id="rId16" Type="http://schemas.openxmlformats.org/officeDocument/2006/relationships/tags" Target="../tags/tag344.xml"/><Relationship Id="rId29" Type="http://schemas.openxmlformats.org/officeDocument/2006/relationships/tags" Target="../tags/tag357.xml"/><Relationship Id="rId11" Type="http://schemas.openxmlformats.org/officeDocument/2006/relationships/tags" Target="../tags/tag339.xml"/><Relationship Id="rId24" Type="http://schemas.openxmlformats.org/officeDocument/2006/relationships/tags" Target="../tags/tag352.xml"/><Relationship Id="rId32" Type="http://schemas.openxmlformats.org/officeDocument/2006/relationships/tags" Target="../tags/tag360.xml"/><Relationship Id="rId37" Type="http://schemas.openxmlformats.org/officeDocument/2006/relationships/tags" Target="../tags/tag365.xml"/><Relationship Id="rId40" Type="http://schemas.openxmlformats.org/officeDocument/2006/relationships/tags" Target="../tags/tag368.xml"/><Relationship Id="rId45" Type="http://schemas.openxmlformats.org/officeDocument/2006/relationships/tags" Target="../tags/tag373.xml"/><Relationship Id="rId53" Type="http://schemas.openxmlformats.org/officeDocument/2006/relationships/tags" Target="../tags/tag381.xml"/><Relationship Id="rId58" Type="http://schemas.openxmlformats.org/officeDocument/2006/relationships/tags" Target="../tags/tag386.xml"/><Relationship Id="rId5" Type="http://schemas.openxmlformats.org/officeDocument/2006/relationships/tags" Target="../tags/tag333.xml"/><Relationship Id="rId61" Type="http://schemas.openxmlformats.org/officeDocument/2006/relationships/slideLayout" Target="../slideLayouts/slideLayout1.xml"/><Relationship Id="rId19" Type="http://schemas.openxmlformats.org/officeDocument/2006/relationships/tags" Target="../tags/tag347.xml"/><Relationship Id="rId14" Type="http://schemas.openxmlformats.org/officeDocument/2006/relationships/tags" Target="../tags/tag342.xml"/><Relationship Id="rId22" Type="http://schemas.openxmlformats.org/officeDocument/2006/relationships/tags" Target="../tags/tag350.xml"/><Relationship Id="rId27" Type="http://schemas.openxmlformats.org/officeDocument/2006/relationships/tags" Target="../tags/tag355.xml"/><Relationship Id="rId30" Type="http://schemas.openxmlformats.org/officeDocument/2006/relationships/tags" Target="../tags/tag358.xml"/><Relationship Id="rId35" Type="http://schemas.openxmlformats.org/officeDocument/2006/relationships/tags" Target="../tags/tag363.xml"/><Relationship Id="rId43" Type="http://schemas.openxmlformats.org/officeDocument/2006/relationships/tags" Target="../tags/tag371.xml"/><Relationship Id="rId48" Type="http://schemas.openxmlformats.org/officeDocument/2006/relationships/tags" Target="../tags/tag376.xml"/><Relationship Id="rId56" Type="http://schemas.openxmlformats.org/officeDocument/2006/relationships/tags" Target="../tags/tag384.xml"/><Relationship Id="rId64" Type="http://schemas.openxmlformats.org/officeDocument/2006/relationships/chart" Target="../charts/chart20.xml"/><Relationship Id="rId8" Type="http://schemas.openxmlformats.org/officeDocument/2006/relationships/tags" Target="../tags/tag336.xml"/><Relationship Id="rId51" Type="http://schemas.openxmlformats.org/officeDocument/2006/relationships/tags" Target="../tags/tag379.xml"/><Relationship Id="rId3" Type="http://schemas.openxmlformats.org/officeDocument/2006/relationships/tags" Target="../tags/tag331.xml"/><Relationship Id="rId12" Type="http://schemas.openxmlformats.org/officeDocument/2006/relationships/tags" Target="../tags/tag340.xml"/><Relationship Id="rId17" Type="http://schemas.openxmlformats.org/officeDocument/2006/relationships/tags" Target="../tags/tag345.xml"/><Relationship Id="rId25" Type="http://schemas.openxmlformats.org/officeDocument/2006/relationships/tags" Target="../tags/tag353.xml"/><Relationship Id="rId33" Type="http://schemas.openxmlformats.org/officeDocument/2006/relationships/tags" Target="../tags/tag361.xml"/><Relationship Id="rId38" Type="http://schemas.openxmlformats.org/officeDocument/2006/relationships/tags" Target="../tags/tag366.xml"/><Relationship Id="rId46" Type="http://schemas.openxmlformats.org/officeDocument/2006/relationships/tags" Target="../tags/tag374.xml"/><Relationship Id="rId59" Type="http://schemas.openxmlformats.org/officeDocument/2006/relationships/tags" Target="../tags/tag387.xml"/><Relationship Id="rId20" Type="http://schemas.openxmlformats.org/officeDocument/2006/relationships/tags" Target="../tags/tag348.xml"/><Relationship Id="rId41" Type="http://schemas.openxmlformats.org/officeDocument/2006/relationships/tags" Target="../tags/tag369.xml"/><Relationship Id="rId54" Type="http://schemas.openxmlformats.org/officeDocument/2006/relationships/tags" Target="../tags/tag382.xml"/><Relationship Id="rId62" Type="http://schemas.openxmlformats.org/officeDocument/2006/relationships/chart" Target="../charts/chart18.xml"/><Relationship Id="rId1" Type="http://schemas.openxmlformats.org/officeDocument/2006/relationships/tags" Target="../tags/tag329.xml"/><Relationship Id="rId6" Type="http://schemas.openxmlformats.org/officeDocument/2006/relationships/tags" Target="../tags/tag334.xml"/><Relationship Id="rId15" Type="http://schemas.openxmlformats.org/officeDocument/2006/relationships/tags" Target="../tags/tag343.xml"/><Relationship Id="rId23" Type="http://schemas.openxmlformats.org/officeDocument/2006/relationships/tags" Target="../tags/tag351.xml"/><Relationship Id="rId28" Type="http://schemas.openxmlformats.org/officeDocument/2006/relationships/tags" Target="../tags/tag356.xml"/><Relationship Id="rId36" Type="http://schemas.openxmlformats.org/officeDocument/2006/relationships/tags" Target="../tags/tag364.xml"/><Relationship Id="rId49" Type="http://schemas.openxmlformats.org/officeDocument/2006/relationships/tags" Target="../tags/tag377.xml"/><Relationship Id="rId57" Type="http://schemas.openxmlformats.org/officeDocument/2006/relationships/tags" Target="../tags/tag385.xml"/><Relationship Id="rId10" Type="http://schemas.openxmlformats.org/officeDocument/2006/relationships/tags" Target="../tags/tag338.xml"/><Relationship Id="rId31" Type="http://schemas.openxmlformats.org/officeDocument/2006/relationships/tags" Target="../tags/tag359.xml"/><Relationship Id="rId44" Type="http://schemas.openxmlformats.org/officeDocument/2006/relationships/tags" Target="../tags/tag372.xml"/><Relationship Id="rId52" Type="http://schemas.openxmlformats.org/officeDocument/2006/relationships/tags" Target="../tags/tag380.xml"/><Relationship Id="rId60" Type="http://schemas.openxmlformats.org/officeDocument/2006/relationships/tags" Target="../tags/tag388.xml"/><Relationship Id="rId4" Type="http://schemas.openxmlformats.org/officeDocument/2006/relationships/tags" Target="../tags/tag332.xml"/><Relationship Id="rId9" Type="http://schemas.openxmlformats.org/officeDocument/2006/relationships/tags" Target="../tags/tag3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文本框 12"/>
          <p:cNvSpPr txBox="1"/>
          <p:nvPr>
            <p:custDataLst>
              <p:tags r:id="rId2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产品分析</a:t>
            </a:r>
          </a:p>
        </p:txBody>
      </p:sp>
      <p:sp>
        <p:nvSpPr>
          <p:cNvPr id="276" name="圆角矩形 275"/>
          <p:cNvSpPr/>
          <p:nvPr>
            <p:custDataLst>
              <p:tags r:id="rId3"/>
            </p:custDataLst>
          </p:nvPr>
        </p:nvSpPr>
        <p:spPr>
          <a:xfrm>
            <a:off x="680720" y="12651105"/>
            <a:ext cx="10979785" cy="27698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>
            <p:custDataLst>
              <p:tags r:id="rId4"/>
            </p:custDataLst>
          </p:nvPr>
        </p:nvSpPr>
        <p:spPr>
          <a:xfrm>
            <a:off x="6036310" y="1871980"/>
            <a:ext cx="5539105" cy="1771650"/>
          </a:xfrm>
          <a:prstGeom prst="roundRect">
            <a:avLst>
              <a:gd name="adj" fmla="val 0"/>
            </a:avLst>
          </a:prstGeom>
          <a:ln w="12700">
            <a:solidFill>
              <a:sysClr val="window" lastClr="FFFFFF">
                <a:lumMod val="85000"/>
              </a:sysClr>
            </a:solidFill>
          </a:ln>
        </p:spPr>
        <p:style>
          <a:lnRef idx="2">
            <a:srgbClr val="D9B992"/>
          </a:lnRef>
          <a:fillRef idx="1">
            <a:sysClr val="window" lastClr="FFFFFF"/>
          </a:fillRef>
          <a:effectRef idx="0">
            <a:srgbClr val="D9B992"/>
          </a:effectRef>
          <a:fontRef idx="minor">
            <a:sysClr val="windowText" lastClr="000000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5" name="图表 124"/>
          <p:cNvGraphicFramePr/>
          <p:nvPr>
            <p:custDataLst>
              <p:tags r:id="rId5"/>
            </p:custDataLst>
          </p:nvPr>
        </p:nvGraphicFramePr>
        <p:xfrm>
          <a:off x="6047105" y="1904365"/>
          <a:ext cx="5527040" cy="1732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  <p:sp>
        <p:nvSpPr>
          <p:cNvPr id="127" name="文本框 126"/>
          <p:cNvSpPr txBox="1"/>
          <p:nvPr>
            <p:custDataLst>
              <p:tags r:id="rId6"/>
            </p:custDataLst>
          </p:nvPr>
        </p:nvSpPr>
        <p:spPr>
          <a:xfrm>
            <a:off x="10739120" y="2019935"/>
            <a:ext cx="836295" cy="1758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pSp>
        <p:nvGrpSpPr>
          <p:cNvPr id="158" name="Group 16"/>
          <p:cNvGrpSpPr/>
          <p:nvPr/>
        </p:nvGrpSpPr>
        <p:grpSpPr>
          <a:xfrm>
            <a:off x="544195" y="880520"/>
            <a:ext cx="2291715" cy="260350"/>
            <a:chOff x="9428626" y="548559"/>
            <a:chExt cx="2062214" cy="438633"/>
          </a:xfrm>
        </p:grpSpPr>
        <p:sp>
          <p:nvSpPr>
            <p:cNvPr id="159" name="Rectangle: Top Corners Rounded 17"/>
            <p:cNvSpPr/>
            <p:nvPr>
              <p:custDataLst>
                <p:tags r:id="rId95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</a:p>
          </p:txBody>
        </p:sp>
        <p:sp>
          <p:nvSpPr>
            <p:cNvPr id="160" name="Rectangle: Single Corner Rounded 18"/>
            <p:cNvSpPr/>
            <p:nvPr>
              <p:custDataLst>
                <p:tags r:id="rId96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1" name="Isosceles Triangle 19"/>
            <p:cNvSpPr/>
            <p:nvPr>
              <p:custDataLst>
                <p:tags r:id="rId97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" name="TextBox 20"/>
            <p:cNvSpPr txBox="1"/>
            <p:nvPr>
              <p:custDataLst>
                <p:tags r:id="rId98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开始月份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164" name="Group 16"/>
          <p:cNvGrpSpPr/>
          <p:nvPr/>
        </p:nvGrpSpPr>
        <p:grpSpPr>
          <a:xfrm>
            <a:off x="2713355" y="883060"/>
            <a:ext cx="2291715" cy="260350"/>
            <a:chOff x="9428626" y="548559"/>
            <a:chExt cx="2062214" cy="438633"/>
          </a:xfrm>
        </p:grpSpPr>
        <p:sp>
          <p:nvSpPr>
            <p:cNvPr id="166" name="Rectangle: Top Corners Rounded 17"/>
            <p:cNvSpPr/>
            <p:nvPr>
              <p:custDataLst>
                <p:tags r:id="rId91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</a:p>
          </p:txBody>
        </p:sp>
        <p:sp>
          <p:nvSpPr>
            <p:cNvPr id="167" name="Rectangle: Single Corner Rounded 18"/>
            <p:cNvSpPr/>
            <p:nvPr>
              <p:custDataLst>
                <p:tags r:id="rId92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1" name="Isosceles Triangle 19"/>
            <p:cNvSpPr/>
            <p:nvPr>
              <p:custDataLst>
                <p:tags r:id="rId93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TextBox 20"/>
            <p:cNvSpPr txBox="1"/>
            <p:nvPr>
              <p:custDataLst>
                <p:tags r:id="rId94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截止月份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175" name="Group 16"/>
          <p:cNvGrpSpPr/>
          <p:nvPr/>
        </p:nvGrpSpPr>
        <p:grpSpPr>
          <a:xfrm>
            <a:off x="4843780" y="889410"/>
            <a:ext cx="2291715" cy="260350"/>
            <a:chOff x="9428626" y="548559"/>
            <a:chExt cx="2062214" cy="438633"/>
          </a:xfrm>
        </p:grpSpPr>
        <p:sp>
          <p:nvSpPr>
            <p:cNvPr id="176" name="Rectangle: Top Corners Rounded 17"/>
            <p:cNvSpPr/>
            <p:nvPr>
              <p:custDataLst>
                <p:tags r:id="rId87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</a:p>
          </p:txBody>
        </p:sp>
        <p:sp>
          <p:nvSpPr>
            <p:cNvPr id="178" name="Rectangle: Single Corner Rounded 18"/>
            <p:cNvSpPr/>
            <p:nvPr>
              <p:custDataLst>
                <p:tags r:id="rId88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9" name="Isosceles Triangle 19"/>
            <p:cNvSpPr/>
            <p:nvPr>
              <p:custDataLst>
                <p:tags r:id="rId89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0" name="TextBox 20"/>
            <p:cNvSpPr txBox="1"/>
            <p:nvPr>
              <p:custDataLst>
                <p:tags r:id="rId90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aphicFrame>
        <p:nvGraphicFramePr>
          <p:cNvPr id="191" name="表格 152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741680" y="12915265"/>
          <a:ext cx="10760710" cy="245364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3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62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5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单品名称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华文楷体" panose="02010600040101010101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退后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华文楷体" panose="02010600040101010101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税后净收入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销量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（万件）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件单价（元）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产品贡献率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营销费用（万元）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费比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产品成本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销售毛利率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出厂毛利率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贡献利润率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华文楷体" panose="02010600040101010101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花西子花隐星穹口红-雕花版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28.57%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20.00%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花西子薇露流丹唇釉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花西子花露养唇同心锁口红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花西子花露流锦丝滑口红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2" name="文本框 191"/>
          <p:cNvSpPr txBox="1"/>
          <p:nvPr>
            <p:custDataLst>
              <p:tags r:id="rId8"/>
            </p:custDataLst>
          </p:nvPr>
        </p:nvSpPr>
        <p:spPr>
          <a:xfrm>
            <a:off x="651510" y="12637770"/>
            <a:ext cx="166814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产品分析明细表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035675" y="3716655"/>
            <a:ext cx="5580380" cy="2607310"/>
            <a:chOff x="9505" y="4278"/>
            <a:chExt cx="8788" cy="4106"/>
          </a:xfrm>
        </p:grpSpPr>
        <p:graphicFrame>
          <p:nvGraphicFramePr>
            <p:cNvPr id="22" name="图表 21"/>
            <p:cNvGraphicFramePr/>
            <p:nvPr>
              <p:custDataLst>
                <p:tags r:id="rId84"/>
              </p:custDataLst>
            </p:nvPr>
          </p:nvGraphicFramePr>
          <p:xfrm>
            <a:off x="9505" y="4332"/>
            <a:ext cx="8789" cy="40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1"/>
            </a:graphicData>
          </a:graphic>
        </p:graphicFrame>
        <p:sp>
          <p:nvSpPr>
            <p:cNvPr id="19" name="圆角矩形 240"/>
            <p:cNvSpPr/>
            <p:nvPr>
              <p:custDataLst>
                <p:tags r:id="rId85"/>
              </p:custDataLst>
            </p:nvPr>
          </p:nvSpPr>
          <p:spPr>
            <a:xfrm>
              <a:off x="9506" y="4278"/>
              <a:ext cx="8700" cy="410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86"/>
              </p:custDataLst>
            </p:nvPr>
          </p:nvSpPr>
          <p:spPr>
            <a:xfrm>
              <a:off x="16811" y="4422"/>
              <a:ext cx="1338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6892289" y="902745"/>
            <a:ext cx="2379346" cy="260350"/>
            <a:chOff x="9349771" y="548559"/>
            <a:chExt cx="2141069" cy="438633"/>
          </a:xfrm>
        </p:grpSpPr>
        <p:sp>
          <p:nvSpPr>
            <p:cNvPr id="6" name="Rectangle: Top Corners Rounded 17"/>
            <p:cNvSpPr/>
            <p:nvPr>
              <p:custDataLst>
                <p:tags r:id="rId80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Rectangle: Single Corner Rounded 18"/>
            <p:cNvSpPr/>
            <p:nvPr>
              <p:custDataLst>
                <p:tags r:id="rId81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Isosceles Triangle 19"/>
            <p:cNvSpPr/>
            <p:nvPr>
              <p:custDataLst>
                <p:tags r:id="rId82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TextBox 20"/>
            <p:cNvSpPr txBox="1"/>
            <p:nvPr>
              <p:custDataLst>
                <p:tags r:id="rId83"/>
              </p:custDataLst>
            </p:nvPr>
          </p:nvSpPr>
          <p:spPr>
            <a:xfrm>
              <a:off x="9349771" y="548559"/>
              <a:ext cx="971845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11" name="Group 16"/>
          <p:cNvGrpSpPr/>
          <p:nvPr/>
        </p:nvGrpSpPr>
        <p:grpSpPr>
          <a:xfrm>
            <a:off x="9027796" y="912270"/>
            <a:ext cx="2386964" cy="260350"/>
            <a:chOff x="9342916" y="548559"/>
            <a:chExt cx="2147924" cy="438633"/>
          </a:xfrm>
        </p:grpSpPr>
        <p:sp>
          <p:nvSpPr>
            <p:cNvPr id="12" name="Rectangle: Top Corners Rounded 17"/>
            <p:cNvSpPr/>
            <p:nvPr>
              <p:custDataLst>
                <p:tags r:id="rId76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Rectangle: Single Corner Rounded 18"/>
            <p:cNvSpPr/>
            <p:nvPr>
              <p:custDataLst>
                <p:tags r:id="rId77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Isosceles Triangle 19"/>
            <p:cNvSpPr/>
            <p:nvPr>
              <p:custDataLst>
                <p:tags r:id="rId78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Box 20"/>
            <p:cNvSpPr txBox="1"/>
            <p:nvPr>
              <p:custDataLst>
                <p:tags r:id="rId79"/>
              </p:custDataLst>
            </p:nvPr>
          </p:nvSpPr>
          <p:spPr>
            <a:xfrm>
              <a:off x="934291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25" name="Group 16"/>
          <p:cNvGrpSpPr/>
          <p:nvPr/>
        </p:nvGrpSpPr>
        <p:grpSpPr>
          <a:xfrm>
            <a:off x="470536" y="1146585"/>
            <a:ext cx="2377439" cy="260350"/>
            <a:chOff x="9351487" y="548559"/>
            <a:chExt cx="2139353" cy="438633"/>
          </a:xfrm>
        </p:grpSpPr>
        <p:sp>
          <p:nvSpPr>
            <p:cNvPr id="26" name="Rectangle: Top Corners Rounded 17"/>
            <p:cNvSpPr/>
            <p:nvPr>
              <p:custDataLst>
                <p:tags r:id="rId72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Rectangle: Single Corner Rounded 18"/>
            <p:cNvSpPr/>
            <p:nvPr>
              <p:custDataLst>
                <p:tags r:id="rId73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Isosceles Triangle 19"/>
            <p:cNvSpPr/>
            <p:nvPr>
              <p:custDataLst>
                <p:tags r:id="rId74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TextBox 20"/>
            <p:cNvSpPr txBox="1"/>
            <p:nvPr>
              <p:custDataLst>
                <p:tags r:id="rId75"/>
              </p:custDataLst>
            </p:nvPr>
          </p:nvSpPr>
          <p:spPr>
            <a:xfrm>
              <a:off x="9351487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30" name="Group 16"/>
          <p:cNvGrpSpPr/>
          <p:nvPr/>
        </p:nvGrpSpPr>
        <p:grpSpPr>
          <a:xfrm>
            <a:off x="2644776" y="1163095"/>
            <a:ext cx="2358389" cy="260350"/>
            <a:chOff x="9368629" y="548559"/>
            <a:chExt cx="2122211" cy="438633"/>
          </a:xfrm>
        </p:grpSpPr>
        <p:sp>
          <p:nvSpPr>
            <p:cNvPr id="31" name="Rectangle: Top Corners Rounded 17"/>
            <p:cNvSpPr/>
            <p:nvPr>
              <p:custDataLst>
                <p:tags r:id="rId68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: Single Corner Rounded 18"/>
            <p:cNvSpPr/>
            <p:nvPr>
              <p:custDataLst>
                <p:tags r:id="rId69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Isosceles Triangle 19"/>
            <p:cNvSpPr/>
            <p:nvPr>
              <p:custDataLst>
                <p:tags r:id="rId70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TextBox 20"/>
            <p:cNvSpPr txBox="1"/>
            <p:nvPr>
              <p:custDataLst>
                <p:tags r:id="rId71"/>
              </p:custDataLst>
            </p:nvPr>
          </p:nvSpPr>
          <p:spPr>
            <a:xfrm>
              <a:off x="9368629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31520" y="1866900"/>
            <a:ext cx="1607185" cy="822960"/>
            <a:chOff x="1152" y="2797"/>
            <a:chExt cx="2531" cy="1296"/>
          </a:xfrm>
        </p:grpSpPr>
        <p:sp>
          <p:nvSpPr>
            <p:cNvPr id="115" name="圆角矩形 114"/>
            <p:cNvSpPr/>
            <p:nvPr>
              <p:custDataLst>
                <p:tags r:id="rId64"/>
              </p:custDataLst>
            </p:nvPr>
          </p:nvSpPr>
          <p:spPr>
            <a:xfrm>
              <a:off x="1152" y="2797"/>
              <a:ext cx="2404" cy="1296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65"/>
              </p:custDataLst>
            </p:nvPr>
          </p:nvSpPr>
          <p:spPr>
            <a:xfrm>
              <a:off x="1534" y="2801"/>
              <a:ext cx="1599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</a:p>
          </p:txBody>
        </p:sp>
        <p:sp>
          <p:nvSpPr>
            <p:cNvPr id="120" name="文本框 119"/>
            <p:cNvSpPr txBox="1"/>
            <p:nvPr>
              <p:custDataLst>
                <p:tags r:id="rId66"/>
              </p:custDataLst>
            </p:nvPr>
          </p:nvSpPr>
          <p:spPr>
            <a:xfrm>
              <a:off x="1669" y="3418"/>
              <a:ext cx="1463" cy="64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21,700</a:t>
              </a:r>
            </a:p>
          </p:txBody>
        </p:sp>
        <p:sp>
          <p:nvSpPr>
            <p:cNvPr id="121" name="文本框 120"/>
            <p:cNvSpPr txBox="1"/>
            <p:nvPr>
              <p:custDataLst>
                <p:tags r:id="rId67"/>
              </p:custDataLst>
            </p:nvPr>
          </p:nvSpPr>
          <p:spPr>
            <a:xfrm>
              <a:off x="2874" y="2929"/>
              <a:ext cx="809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609850" y="1869440"/>
            <a:ext cx="1526540" cy="821055"/>
            <a:chOff x="3665" y="2797"/>
            <a:chExt cx="2404" cy="1293"/>
          </a:xfrm>
        </p:grpSpPr>
        <p:sp>
          <p:nvSpPr>
            <p:cNvPr id="51" name="圆角矩形 50"/>
            <p:cNvSpPr/>
            <p:nvPr>
              <p:custDataLst>
                <p:tags r:id="rId60"/>
              </p:custDataLst>
            </p:nvPr>
          </p:nvSpPr>
          <p:spPr>
            <a:xfrm>
              <a:off x="3665" y="2797"/>
              <a:ext cx="2404" cy="1293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61"/>
              </p:custDataLst>
            </p:nvPr>
          </p:nvSpPr>
          <p:spPr>
            <a:xfrm>
              <a:off x="4370" y="2801"/>
              <a:ext cx="1173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销量</a:t>
              </a:r>
            </a:p>
          </p:txBody>
        </p:sp>
        <p:sp>
          <p:nvSpPr>
            <p:cNvPr id="54" name="文本框 53"/>
            <p:cNvSpPr txBox="1"/>
            <p:nvPr>
              <p:custDataLst>
                <p:tags r:id="rId62"/>
              </p:custDataLst>
            </p:nvPr>
          </p:nvSpPr>
          <p:spPr>
            <a:xfrm>
              <a:off x="4488" y="3448"/>
              <a:ext cx="1007" cy="64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</a:p>
          </p:txBody>
        </p:sp>
        <p:sp>
          <p:nvSpPr>
            <p:cNvPr id="55" name="文本框 54"/>
            <p:cNvSpPr txBox="1"/>
            <p:nvPr>
              <p:custDataLst>
                <p:tags r:id="rId63"/>
              </p:custDataLst>
            </p:nvPr>
          </p:nvSpPr>
          <p:spPr>
            <a:xfrm>
              <a:off x="5260" y="2933"/>
              <a:ext cx="809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407535" y="1866900"/>
            <a:ext cx="1526540" cy="842645"/>
            <a:chOff x="6152" y="2795"/>
            <a:chExt cx="2404" cy="1327"/>
          </a:xfrm>
        </p:grpSpPr>
        <p:sp>
          <p:nvSpPr>
            <p:cNvPr id="64" name="圆角矩形 63"/>
            <p:cNvSpPr/>
            <p:nvPr>
              <p:custDataLst>
                <p:tags r:id="rId56"/>
              </p:custDataLst>
            </p:nvPr>
          </p:nvSpPr>
          <p:spPr>
            <a:xfrm>
              <a:off x="6152" y="2795"/>
              <a:ext cx="2404" cy="1327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57"/>
              </p:custDataLst>
            </p:nvPr>
          </p:nvSpPr>
          <p:spPr>
            <a:xfrm>
              <a:off x="6619" y="2799"/>
              <a:ext cx="1617" cy="27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营销费用</a:t>
              </a:r>
            </a:p>
          </p:txBody>
        </p:sp>
        <p:sp>
          <p:nvSpPr>
            <p:cNvPr id="67" name="文本框 66"/>
            <p:cNvSpPr txBox="1"/>
            <p:nvPr>
              <p:custDataLst>
                <p:tags r:id="rId58"/>
              </p:custDataLst>
            </p:nvPr>
          </p:nvSpPr>
          <p:spPr>
            <a:xfrm>
              <a:off x="6723" y="3450"/>
              <a:ext cx="1455" cy="339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10,000</a:t>
              </a:r>
            </a:p>
          </p:txBody>
        </p:sp>
        <p:sp>
          <p:nvSpPr>
            <p:cNvPr id="68" name="文本框 67"/>
            <p:cNvSpPr txBox="1"/>
            <p:nvPr>
              <p:custDataLst>
                <p:tags r:id="rId59"/>
              </p:custDataLst>
            </p:nvPr>
          </p:nvSpPr>
          <p:spPr>
            <a:xfrm>
              <a:off x="7798" y="2931"/>
              <a:ext cx="71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633345" y="2811780"/>
            <a:ext cx="1581150" cy="831850"/>
            <a:chOff x="6152" y="2788"/>
            <a:chExt cx="2490" cy="1310"/>
          </a:xfrm>
        </p:grpSpPr>
        <p:sp>
          <p:nvSpPr>
            <p:cNvPr id="131" name="圆角矩形 130"/>
            <p:cNvSpPr/>
            <p:nvPr>
              <p:custDataLst>
                <p:tags r:id="rId52"/>
              </p:custDataLst>
            </p:nvPr>
          </p:nvSpPr>
          <p:spPr>
            <a:xfrm>
              <a:off x="6152" y="2788"/>
              <a:ext cx="2385" cy="1310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" name="文本框 133"/>
            <p:cNvSpPr txBox="1"/>
            <p:nvPr>
              <p:custDataLst>
                <p:tags r:id="rId53"/>
              </p:custDataLst>
            </p:nvPr>
          </p:nvSpPr>
          <p:spPr>
            <a:xfrm>
              <a:off x="6527" y="2801"/>
              <a:ext cx="1452" cy="45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销售毛利</a:t>
              </a:r>
            </a:p>
          </p:txBody>
        </p:sp>
        <p:sp>
          <p:nvSpPr>
            <p:cNvPr id="141" name="文本框 140"/>
            <p:cNvSpPr txBox="1"/>
            <p:nvPr>
              <p:custDataLst>
                <p:tags r:id="rId54"/>
              </p:custDataLst>
            </p:nvPr>
          </p:nvSpPr>
          <p:spPr>
            <a:xfrm>
              <a:off x="6649" y="3457"/>
              <a:ext cx="1263" cy="56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11,500</a:t>
              </a:r>
            </a:p>
          </p:txBody>
        </p:sp>
        <p:sp>
          <p:nvSpPr>
            <p:cNvPr id="142" name="文本框 141"/>
            <p:cNvSpPr txBox="1"/>
            <p:nvPr>
              <p:custDataLst>
                <p:tags r:id="rId55"/>
              </p:custDataLst>
            </p:nvPr>
          </p:nvSpPr>
          <p:spPr>
            <a:xfrm>
              <a:off x="7756" y="2957"/>
              <a:ext cx="886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408170" y="2803525"/>
            <a:ext cx="1526540" cy="840105"/>
            <a:chOff x="8642" y="2775"/>
            <a:chExt cx="2404" cy="1323"/>
          </a:xfrm>
        </p:grpSpPr>
        <p:sp>
          <p:nvSpPr>
            <p:cNvPr id="80" name="圆角矩形 79"/>
            <p:cNvSpPr/>
            <p:nvPr>
              <p:custDataLst>
                <p:tags r:id="rId48"/>
              </p:custDataLst>
            </p:nvPr>
          </p:nvSpPr>
          <p:spPr>
            <a:xfrm>
              <a:off x="8642" y="2775"/>
              <a:ext cx="2404" cy="1314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49"/>
              </p:custDataLst>
            </p:nvPr>
          </p:nvSpPr>
          <p:spPr>
            <a:xfrm>
              <a:off x="9405" y="2823"/>
              <a:ext cx="1306" cy="729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费比</a:t>
              </a:r>
            </a:p>
          </p:txBody>
        </p:sp>
        <p:sp>
          <p:nvSpPr>
            <p:cNvPr id="83" name="文本框 82"/>
            <p:cNvSpPr txBox="1"/>
            <p:nvPr>
              <p:custDataLst>
                <p:tags r:id="rId50"/>
              </p:custDataLst>
            </p:nvPr>
          </p:nvSpPr>
          <p:spPr>
            <a:xfrm>
              <a:off x="9405" y="3444"/>
              <a:ext cx="1007" cy="65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45%</a:t>
              </a:r>
            </a:p>
          </p:txBody>
        </p:sp>
        <p:sp>
          <p:nvSpPr>
            <p:cNvPr id="84" name="文本框 83"/>
            <p:cNvSpPr txBox="1"/>
            <p:nvPr>
              <p:custDataLst>
                <p:tags r:id="rId51"/>
              </p:custDataLst>
            </p:nvPr>
          </p:nvSpPr>
          <p:spPr>
            <a:xfrm>
              <a:off x="10273" y="2955"/>
              <a:ext cx="71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000" i="1" dirty="0">
                  <a:latin typeface="微软雅黑" panose="020B0503020204020204" charset="-122"/>
                  <a:ea typeface="微软雅黑" panose="020B0503020204020204" charset="-122"/>
                </a:rPr>
                <a:t>%</a:t>
              </a:r>
            </a:p>
          </p:txBody>
        </p:sp>
      </p:grpSp>
      <p:graphicFrame>
        <p:nvGraphicFramePr>
          <p:cNvPr id="91" name="图表 90"/>
          <p:cNvGraphicFramePr/>
          <p:nvPr>
            <p:custDataLst>
              <p:tags r:id="rId9"/>
            </p:custDataLst>
          </p:nvPr>
        </p:nvGraphicFramePr>
        <p:xfrm>
          <a:off x="741045" y="3732530"/>
          <a:ext cx="5215255" cy="2591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2"/>
          </a:graphicData>
        </a:graphic>
      </p:graphicFrame>
      <p:sp>
        <p:nvSpPr>
          <p:cNvPr id="92" name="圆角矩形 240"/>
          <p:cNvSpPr/>
          <p:nvPr>
            <p:custDataLst>
              <p:tags r:id="rId10"/>
            </p:custDataLst>
          </p:nvPr>
        </p:nvSpPr>
        <p:spPr>
          <a:xfrm>
            <a:off x="737870" y="3710940"/>
            <a:ext cx="5218430" cy="261302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11"/>
            </p:custDataLst>
          </p:nvPr>
        </p:nvSpPr>
        <p:spPr>
          <a:xfrm>
            <a:off x="5056505" y="3816985"/>
            <a:ext cx="8985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aphicFrame>
        <p:nvGraphicFramePr>
          <p:cNvPr id="94" name="图表 93"/>
          <p:cNvGraphicFramePr/>
          <p:nvPr/>
        </p:nvGraphicFramePr>
        <p:xfrm>
          <a:off x="726440" y="6402705"/>
          <a:ext cx="5264785" cy="2592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3"/>
          </a:graphicData>
        </a:graphic>
      </p:graphicFrame>
      <p:sp>
        <p:nvSpPr>
          <p:cNvPr id="95" name="圆角矩形 240"/>
          <p:cNvSpPr/>
          <p:nvPr>
            <p:custDataLst>
              <p:tags r:id="rId12"/>
            </p:custDataLst>
          </p:nvPr>
        </p:nvSpPr>
        <p:spPr>
          <a:xfrm>
            <a:off x="741680" y="6380480"/>
            <a:ext cx="5214620" cy="261429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319145" y="7188835"/>
            <a:ext cx="1217295" cy="645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口红</a:t>
            </a:r>
          </a:p>
          <a:p>
            <a:pPr algn="l"/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市占率：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70%</a:t>
            </a:r>
          </a:p>
          <a:p>
            <a:pPr algn="l"/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毛利率：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48%</a:t>
            </a:r>
          </a:p>
          <a:p>
            <a:pPr algn="l"/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退后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万元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4558665" y="7188835"/>
            <a:ext cx="157480" cy="126365"/>
          </a:xfrm>
          <a:prstGeom prst="straightConnector1">
            <a:avLst/>
          </a:prstGeom>
          <a:ln>
            <a:solidFill>
              <a:srgbClr val="48B8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圆角矩形 240"/>
          <p:cNvSpPr/>
          <p:nvPr>
            <p:custDataLst>
              <p:tags r:id="rId13"/>
            </p:custDataLst>
          </p:nvPr>
        </p:nvSpPr>
        <p:spPr>
          <a:xfrm>
            <a:off x="6047740" y="9370695"/>
            <a:ext cx="5527040" cy="260731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14"/>
            </p:custDataLst>
          </p:nvPr>
        </p:nvSpPr>
        <p:spPr>
          <a:xfrm>
            <a:off x="10808970" y="9385935"/>
            <a:ext cx="84963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aphicFrame>
        <p:nvGraphicFramePr>
          <p:cNvPr id="172" name="图表 171"/>
          <p:cNvGraphicFramePr/>
          <p:nvPr>
            <p:custDataLst>
              <p:tags r:id="rId15"/>
            </p:custDataLst>
          </p:nvPr>
        </p:nvGraphicFramePr>
        <p:xfrm>
          <a:off x="6094095" y="9404985"/>
          <a:ext cx="5320030" cy="2564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4"/>
          </a:graphicData>
        </a:graphic>
      </p:graphicFrame>
      <p:grpSp>
        <p:nvGrpSpPr>
          <p:cNvPr id="173" name="Group 16"/>
          <p:cNvGrpSpPr/>
          <p:nvPr/>
        </p:nvGrpSpPr>
        <p:grpSpPr>
          <a:xfrm>
            <a:off x="604521" y="12353700"/>
            <a:ext cx="2195829" cy="260350"/>
            <a:chOff x="9514910" y="548559"/>
            <a:chExt cx="1975930" cy="438633"/>
          </a:xfrm>
        </p:grpSpPr>
        <p:sp>
          <p:nvSpPr>
            <p:cNvPr id="177" name="Rectangle: Top Corners Rounded 17"/>
            <p:cNvSpPr/>
            <p:nvPr>
              <p:custDataLst>
                <p:tags r:id="rId44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0" name="Rectangle: Single Corner Rounded 18"/>
            <p:cNvSpPr/>
            <p:nvPr>
              <p:custDataLst>
                <p:tags r:id="rId45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1" name="Isosceles Triangle 19"/>
            <p:cNvSpPr/>
            <p:nvPr>
              <p:custDataLst>
                <p:tags r:id="rId46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20"/>
            <p:cNvSpPr txBox="1"/>
            <p:nvPr>
              <p:custDataLst>
                <p:tags r:id="rId47"/>
              </p:custDataLst>
            </p:nvPr>
          </p:nvSpPr>
          <p:spPr>
            <a:xfrm>
              <a:off x="9514910" y="548559"/>
              <a:ext cx="712547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渠道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sp>
        <p:nvSpPr>
          <p:cNvPr id="187" name="圆角矩形 240"/>
          <p:cNvSpPr/>
          <p:nvPr>
            <p:custDataLst>
              <p:tags r:id="rId16"/>
            </p:custDataLst>
          </p:nvPr>
        </p:nvSpPr>
        <p:spPr>
          <a:xfrm>
            <a:off x="726440" y="9364980"/>
            <a:ext cx="5208905" cy="261429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88" name="图表 187"/>
          <p:cNvGraphicFramePr/>
          <p:nvPr>
            <p:custDataLst>
              <p:tags r:id="rId17"/>
            </p:custDataLst>
          </p:nvPr>
        </p:nvGraphicFramePr>
        <p:xfrm>
          <a:off x="1433830" y="9703435"/>
          <a:ext cx="3815715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5"/>
          </a:graphicData>
        </a:graphic>
      </p:graphicFrame>
      <p:sp>
        <p:nvSpPr>
          <p:cNvPr id="197" name="文本框 196"/>
          <p:cNvSpPr txBox="1"/>
          <p:nvPr>
            <p:custDataLst>
              <p:tags r:id="rId18"/>
            </p:custDataLst>
          </p:nvPr>
        </p:nvSpPr>
        <p:spPr>
          <a:xfrm>
            <a:off x="2319655" y="9413875"/>
            <a:ext cx="1929765" cy="2889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新老品退后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占比</a:t>
            </a:r>
          </a:p>
        </p:txBody>
      </p:sp>
      <p:sp>
        <p:nvSpPr>
          <p:cNvPr id="198" name="文本框 197"/>
          <p:cNvSpPr txBox="1"/>
          <p:nvPr>
            <p:custDataLst>
              <p:tags r:id="rId19"/>
            </p:custDataLst>
          </p:nvPr>
        </p:nvSpPr>
        <p:spPr>
          <a:xfrm>
            <a:off x="671830" y="1419860"/>
            <a:ext cx="204597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产品经营分析</a:t>
            </a:r>
          </a:p>
        </p:txBody>
      </p:sp>
      <p:sp>
        <p:nvSpPr>
          <p:cNvPr id="199" name="文本框 198"/>
          <p:cNvSpPr txBox="1"/>
          <p:nvPr>
            <p:custDataLst>
              <p:tags r:id="rId20"/>
            </p:custDataLst>
          </p:nvPr>
        </p:nvSpPr>
        <p:spPr>
          <a:xfrm>
            <a:off x="677545" y="8978900"/>
            <a:ext cx="186626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新品分析</a:t>
            </a:r>
          </a:p>
        </p:txBody>
      </p:sp>
      <p:sp>
        <p:nvSpPr>
          <p:cNvPr id="200" name="文本框 199"/>
          <p:cNvSpPr txBox="1"/>
          <p:nvPr>
            <p:custDataLst>
              <p:tags r:id="rId21"/>
            </p:custDataLst>
          </p:nvPr>
        </p:nvSpPr>
        <p:spPr>
          <a:xfrm>
            <a:off x="604520" y="11979275"/>
            <a:ext cx="186626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报表明细</a:t>
            </a:r>
          </a:p>
        </p:txBody>
      </p:sp>
      <p:sp>
        <p:nvSpPr>
          <p:cNvPr id="201" name="文本框 200"/>
          <p:cNvSpPr txBox="1"/>
          <p:nvPr>
            <p:custDataLst>
              <p:tags r:id="rId22"/>
            </p:custDataLst>
          </p:nvPr>
        </p:nvSpPr>
        <p:spPr>
          <a:xfrm>
            <a:off x="718185" y="6564630"/>
            <a:ext cx="76962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市占率</a:t>
            </a:r>
          </a:p>
        </p:txBody>
      </p:sp>
      <p:sp>
        <p:nvSpPr>
          <p:cNvPr id="202" name="文本框 201"/>
          <p:cNvSpPr txBox="1"/>
          <p:nvPr>
            <p:custDataLst>
              <p:tags r:id="rId23"/>
            </p:custDataLst>
          </p:nvPr>
        </p:nvSpPr>
        <p:spPr>
          <a:xfrm>
            <a:off x="5211445" y="8710930"/>
            <a:ext cx="706755" cy="245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毛利率</a:t>
            </a:r>
          </a:p>
        </p:txBody>
      </p:sp>
      <p:sp>
        <p:nvSpPr>
          <p:cNvPr id="63" name="文本框 62"/>
          <p:cNvSpPr txBox="1"/>
          <p:nvPr>
            <p:custDataLst>
              <p:tags r:id="rId24"/>
            </p:custDataLst>
          </p:nvPr>
        </p:nvSpPr>
        <p:spPr>
          <a:xfrm>
            <a:off x="5057775" y="9538335"/>
            <a:ext cx="8985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ysClr val="window" lastClr="FFFFFF">
                    <a:lumMod val="50000"/>
                  </a:sys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37235" y="2814955"/>
            <a:ext cx="1607185" cy="829310"/>
            <a:chOff x="1152" y="2797"/>
            <a:chExt cx="2531" cy="1306"/>
          </a:xfrm>
        </p:grpSpPr>
        <p:sp>
          <p:nvSpPr>
            <p:cNvPr id="10" name="圆角矩形 9"/>
            <p:cNvSpPr/>
            <p:nvPr>
              <p:custDataLst>
                <p:tags r:id="rId40"/>
              </p:custDataLst>
            </p:nvPr>
          </p:nvSpPr>
          <p:spPr>
            <a:xfrm>
              <a:off x="1152" y="2797"/>
              <a:ext cx="2404" cy="1306"/>
            </a:xfrm>
            <a:prstGeom prst="roundRect">
              <a:avLst>
                <a:gd name="adj" fmla="val 0"/>
              </a:avLst>
            </a:prstGeom>
            <a:ln w="12700">
              <a:solidFill>
                <a:sysClr val="window" lastClr="FFFFFF">
                  <a:lumMod val="85000"/>
                </a:sysClr>
              </a:solidFill>
            </a:ln>
          </p:spPr>
          <p:style>
            <a:lnRef idx="2">
              <a:srgbClr val="D9B992"/>
            </a:lnRef>
            <a:fillRef idx="1">
              <a:sysClr val="window" lastClr="FFFFFF"/>
            </a:fillRef>
            <a:effectRef idx="0">
              <a:srgbClr val="D9B992"/>
            </a:effectRef>
            <a:fontRef idx="minor">
              <a:sysClr val="windowText" lastClr="000000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1"/>
              </p:custDataLst>
            </p:nvPr>
          </p:nvSpPr>
          <p:spPr>
            <a:xfrm>
              <a:off x="1534" y="2801"/>
              <a:ext cx="1599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退前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</a:p>
          </p:txBody>
        </p:sp>
        <p:sp>
          <p:nvSpPr>
            <p:cNvPr id="14" name="文本框 13"/>
            <p:cNvSpPr txBox="1"/>
            <p:nvPr>
              <p:custDataLst>
                <p:tags r:id="rId42"/>
              </p:custDataLst>
            </p:nvPr>
          </p:nvSpPr>
          <p:spPr>
            <a:xfrm>
              <a:off x="1669" y="3418"/>
              <a:ext cx="1463" cy="64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22,000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43"/>
              </p:custDataLst>
            </p:nvPr>
          </p:nvSpPr>
          <p:spPr>
            <a:xfrm>
              <a:off x="2874" y="2929"/>
              <a:ext cx="809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</p:grpSp>
      <p:sp>
        <p:nvSpPr>
          <p:cNvPr id="17" name="图表 5"/>
          <p:cNvSpPr/>
          <p:nvPr>
            <p:custDataLst>
              <p:tags r:id="rId25"/>
            </p:custDataLst>
          </p:nvPr>
        </p:nvSpPr>
        <p:spPr>
          <a:xfrm>
            <a:off x="3392805" y="9435687"/>
            <a:ext cx="5407025" cy="2728150"/>
          </a:xfrm>
        </p:spPr>
      </p:sp>
      <p:sp>
        <p:nvSpPr>
          <p:cNvPr id="35" name="圆角矩形 240"/>
          <p:cNvSpPr/>
          <p:nvPr>
            <p:custDataLst>
              <p:tags r:id="rId26"/>
            </p:custDataLst>
          </p:nvPr>
        </p:nvSpPr>
        <p:spPr>
          <a:xfrm>
            <a:off x="6035675" y="6679565"/>
            <a:ext cx="5525135" cy="231521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6477000" y="6903085"/>
            <a:ext cx="4620895" cy="207518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28"/>
            </p:custDataLst>
          </p:nvPr>
        </p:nvSpPr>
        <p:spPr>
          <a:xfrm>
            <a:off x="7903845" y="6671945"/>
            <a:ext cx="181483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占比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6038215" y="6384290"/>
            <a:ext cx="2370455" cy="295910"/>
            <a:chOff x="9053" y="2284"/>
            <a:chExt cx="3733" cy="466"/>
          </a:xfrm>
        </p:grpSpPr>
        <p:sp>
          <p:nvSpPr>
            <p:cNvPr id="3" name="Rectangle: Rounded Corners 156"/>
            <p:cNvSpPr/>
            <p:nvPr>
              <p:custDataLst>
                <p:tags r:id="rId37"/>
              </p:custDataLst>
            </p:nvPr>
          </p:nvSpPr>
          <p:spPr>
            <a:xfrm>
              <a:off x="10282" y="2284"/>
              <a:ext cx="1252" cy="46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</a:p>
          </p:txBody>
        </p:sp>
        <p:sp>
          <p:nvSpPr>
            <p:cNvPr id="16" name="Rectangle: Rounded Corners 156"/>
            <p:cNvSpPr/>
            <p:nvPr>
              <p:custDataLst>
                <p:tags r:id="rId38"/>
              </p:custDataLst>
            </p:nvPr>
          </p:nvSpPr>
          <p:spPr>
            <a:xfrm>
              <a:off x="9053" y="2284"/>
              <a:ext cx="1252" cy="46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BFD5F5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</a:p>
          </p:txBody>
        </p:sp>
        <p:sp>
          <p:nvSpPr>
            <p:cNvPr id="18" name="Rectangle: Rounded Corners 156"/>
            <p:cNvSpPr/>
            <p:nvPr>
              <p:custDataLst>
                <p:tags r:id="rId39"/>
              </p:custDataLst>
            </p:nvPr>
          </p:nvSpPr>
          <p:spPr>
            <a:xfrm>
              <a:off x="11534" y="2284"/>
              <a:ext cx="1252" cy="46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</a:p>
          </p:txBody>
        </p:sp>
      </p:grpSp>
      <p:grpSp>
        <p:nvGrpSpPr>
          <p:cNvPr id="42" name="Group 16"/>
          <p:cNvGrpSpPr/>
          <p:nvPr/>
        </p:nvGrpSpPr>
        <p:grpSpPr>
          <a:xfrm>
            <a:off x="5314316" y="12377195"/>
            <a:ext cx="2367914" cy="260350"/>
            <a:chOff x="9360058" y="548559"/>
            <a:chExt cx="2130782" cy="438633"/>
          </a:xfrm>
        </p:grpSpPr>
        <p:sp>
          <p:nvSpPr>
            <p:cNvPr id="43" name="Rectangle: Top Corners Rounded 17"/>
            <p:cNvSpPr/>
            <p:nvPr>
              <p:custDataLst>
                <p:tags r:id="rId33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ectangle: Single Corner Rounded 18"/>
            <p:cNvSpPr/>
            <p:nvPr>
              <p:custDataLst>
                <p:tags r:id="rId34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Isosceles Triangle 19"/>
            <p:cNvSpPr/>
            <p:nvPr>
              <p:custDataLst>
                <p:tags r:id="rId35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TextBox 20"/>
            <p:cNvSpPr txBox="1"/>
            <p:nvPr>
              <p:custDataLst>
                <p:tags r:id="rId36"/>
              </p:custDataLst>
            </p:nvPr>
          </p:nvSpPr>
          <p:spPr>
            <a:xfrm>
              <a:off x="9360058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业务来源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56" name="Group 16"/>
          <p:cNvGrpSpPr/>
          <p:nvPr/>
        </p:nvGrpSpPr>
        <p:grpSpPr>
          <a:xfrm>
            <a:off x="2949575" y="12353700"/>
            <a:ext cx="2155825" cy="260350"/>
            <a:chOff x="9550908" y="548559"/>
            <a:chExt cx="1939932" cy="438633"/>
          </a:xfrm>
        </p:grpSpPr>
        <p:sp>
          <p:nvSpPr>
            <p:cNvPr id="57" name="Rectangle: Top Corners Rounded 17"/>
            <p:cNvSpPr/>
            <p:nvPr>
              <p:custDataLst>
                <p:tags r:id="rId29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Rectangle: Single Corner Rounded 18"/>
            <p:cNvSpPr/>
            <p:nvPr>
              <p:custDataLst>
                <p:tags r:id="rId30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Isosceles Triangle 19"/>
            <p:cNvSpPr/>
            <p:nvPr>
              <p:custDataLst>
                <p:tags r:id="rId31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TextBox 20"/>
            <p:cNvSpPr txBox="1"/>
            <p:nvPr>
              <p:custDataLst>
                <p:tags r:id="rId32"/>
              </p:custDataLst>
            </p:nvPr>
          </p:nvSpPr>
          <p:spPr>
            <a:xfrm>
              <a:off x="9550908" y="548559"/>
              <a:ext cx="676548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店铺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680932" y="15421207"/>
            <a:ext cx="4064212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隐藏明细表前面一级品类、二级品类</a:t>
            </a:r>
          </a:p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三级品类、产品简称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41680" y="3660775"/>
            <a:ext cx="2442210" cy="5067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9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点击指定品的柱子，可跳转至产品费用分析，</a:t>
            </a:r>
          </a:p>
          <a:p>
            <a:pPr algn="l"/>
            <a:r>
              <a:rPr lang="zh-CN" altLang="en-US" sz="9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查看该品的费用情况</a:t>
            </a:r>
          </a:p>
          <a:p>
            <a:pPr algn="l"/>
            <a:endParaRPr lang="zh-CN" altLang="en-US" sz="9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16"/>
          <p:cNvGrpSpPr/>
          <p:nvPr/>
        </p:nvGrpSpPr>
        <p:grpSpPr>
          <a:xfrm>
            <a:off x="544195" y="641125"/>
            <a:ext cx="2291715" cy="260350"/>
            <a:chOff x="9428626" y="548559"/>
            <a:chExt cx="2062214" cy="438633"/>
          </a:xfrm>
        </p:grpSpPr>
        <p:sp>
          <p:nvSpPr>
            <p:cNvPr id="41" name="Rectangle: Top Corners Rounded 17"/>
            <p:cNvSpPr/>
            <p:nvPr>
              <p:custDataLst>
                <p:tags r:id="rId37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</a:p>
          </p:txBody>
        </p:sp>
        <p:sp>
          <p:nvSpPr>
            <p:cNvPr id="61" name="Rectangle: Single Corner Rounded 18"/>
            <p:cNvSpPr/>
            <p:nvPr>
              <p:custDataLst>
                <p:tags r:id="rId38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Isosceles Triangle 19"/>
            <p:cNvSpPr/>
            <p:nvPr>
              <p:custDataLst>
                <p:tags r:id="rId39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20"/>
            <p:cNvSpPr txBox="1"/>
            <p:nvPr>
              <p:custDataLst>
                <p:tags r:id="rId40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开始月份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70" name="Group 16"/>
          <p:cNvGrpSpPr/>
          <p:nvPr/>
        </p:nvGrpSpPr>
        <p:grpSpPr>
          <a:xfrm>
            <a:off x="2713355" y="643665"/>
            <a:ext cx="2291715" cy="260350"/>
            <a:chOff x="9428626" y="548559"/>
            <a:chExt cx="2062214" cy="438633"/>
          </a:xfrm>
        </p:grpSpPr>
        <p:sp>
          <p:nvSpPr>
            <p:cNvPr id="71" name="Rectangle: Top Corners Rounded 17"/>
            <p:cNvSpPr/>
            <p:nvPr>
              <p:custDataLst>
                <p:tags r:id="rId33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</a:p>
          </p:txBody>
        </p:sp>
        <p:sp>
          <p:nvSpPr>
            <p:cNvPr id="72" name="Rectangle: Single Corner Rounded 18"/>
            <p:cNvSpPr/>
            <p:nvPr>
              <p:custDataLst>
                <p:tags r:id="rId34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Isosceles Triangle 19"/>
            <p:cNvSpPr/>
            <p:nvPr>
              <p:custDataLst>
                <p:tags r:id="rId35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TextBox 20"/>
            <p:cNvSpPr txBox="1"/>
            <p:nvPr>
              <p:custDataLst>
                <p:tags r:id="rId36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截止月份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75" name="Group 16"/>
          <p:cNvGrpSpPr/>
          <p:nvPr/>
        </p:nvGrpSpPr>
        <p:grpSpPr>
          <a:xfrm>
            <a:off x="4843780" y="650015"/>
            <a:ext cx="2291715" cy="260350"/>
            <a:chOff x="9428626" y="548559"/>
            <a:chExt cx="2062214" cy="438633"/>
          </a:xfrm>
        </p:grpSpPr>
        <p:sp>
          <p:nvSpPr>
            <p:cNvPr id="76" name="Rectangle: Top Corners Rounded 17"/>
            <p:cNvSpPr/>
            <p:nvPr>
              <p:custDataLst>
                <p:tags r:id="rId29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</a:p>
          </p:txBody>
        </p:sp>
        <p:sp>
          <p:nvSpPr>
            <p:cNvPr id="77" name="Rectangle: Single Corner Rounded 18"/>
            <p:cNvSpPr/>
            <p:nvPr>
              <p:custDataLst>
                <p:tags r:id="rId30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8" name="Isosceles Triangle 19"/>
            <p:cNvSpPr/>
            <p:nvPr>
              <p:custDataLst>
                <p:tags r:id="rId31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TextBox 20"/>
            <p:cNvSpPr txBox="1"/>
            <p:nvPr>
              <p:custDataLst>
                <p:tags r:id="rId32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81" name="Group 16"/>
          <p:cNvGrpSpPr/>
          <p:nvPr/>
        </p:nvGrpSpPr>
        <p:grpSpPr>
          <a:xfrm>
            <a:off x="6892289" y="663350"/>
            <a:ext cx="2379346" cy="260350"/>
            <a:chOff x="9349771" y="548559"/>
            <a:chExt cx="2141069" cy="438633"/>
          </a:xfrm>
        </p:grpSpPr>
        <p:sp>
          <p:nvSpPr>
            <p:cNvPr id="85" name="Rectangle: Top Corners Rounded 17"/>
            <p:cNvSpPr/>
            <p:nvPr>
              <p:custDataLst>
                <p:tags r:id="rId25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Rectangle: Single Corner Rounded 18"/>
            <p:cNvSpPr/>
            <p:nvPr>
              <p:custDataLst>
                <p:tags r:id="rId26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" name="Isosceles Triangle 19"/>
            <p:cNvSpPr/>
            <p:nvPr>
              <p:custDataLst>
                <p:tags r:id="rId27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TextBox 20"/>
            <p:cNvSpPr txBox="1"/>
            <p:nvPr>
              <p:custDataLst>
                <p:tags r:id="rId28"/>
              </p:custDataLst>
            </p:nvPr>
          </p:nvSpPr>
          <p:spPr>
            <a:xfrm>
              <a:off x="9349771" y="548559"/>
              <a:ext cx="971845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89" name="Group 16"/>
          <p:cNvGrpSpPr/>
          <p:nvPr/>
        </p:nvGrpSpPr>
        <p:grpSpPr>
          <a:xfrm>
            <a:off x="9027796" y="672875"/>
            <a:ext cx="2386964" cy="260350"/>
            <a:chOff x="9342916" y="548559"/>
            <a:chExt cx="2147924" cy="438633"/>
          </a:xfrm>
        </p:grpSpPr>
        <p:sp>
          <p:nvSpPr>
            <p:cNvPr id="90" name="Rectangle: Top Corners Rounded 17"/>
            <p:cNvSpPr/>
            <p:nvPr>
              <p:custDataLst>
                <p:tags r:id="rId21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6" name="Rectangle: Single Corner Rounded 18"/>
            <p:cNvSpPr/>
            <p:nvPr>
              <p:custDataLst>
                <p:tags r:id="rId22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Isosceles Triangle 19"/>
            <p:cNvSpPr/>
            <p:nvPr>
              <p:custDataLst>
                <p:tags r:id="rId23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TextBox 20"/>
            <p:cNvSpPr txBox="1"/>
            <p:nvPr>
              <p:custDataLst>
                <p:tags r:id="rId24"/>
              </p:custDataLst>
            </p:nvPr>
          </p:nvSpPr>
          <p:spPr>
            <a:xfrm>
              <a:off x="934291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101" name="Group 16"/>
          <p:cNvGrpSpPr/>
          <p:nvPr/>
        </p:nvGrpSpPr>
        <p:grpSpPr>
          <a:xfrm>
            <a:off x="470536" y="907190"/>
            <a:ext cx="2377439" cy="260350"/>
            <a:chOff x="9351487" y="548559"/>
            <a:chExt cx="2139353" cy="438633"/>
          </a:xfrm>
        </p:grpSpPr>
        <p:sp>
          <p:nvSpPr>
            <p:cNvPr id="102" name="Rectangle: Top Corners Rounded 17"/>
            <p:cNvSpPr/>
            <p:nvPr>
              <p:custDataLst>
                <p:tags r:id="rId17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Rectangle: Single Corner Rounded 18"/>
            <p:cNvSpPr/>
            <p:nvPr>
              <p:custDataLst>
                <p:tags r:id="rId18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Isosceles Triangle 19"/>
            <p:cNvSpPr/>
            <p:nvPr>
              <p:custDataLst>
                <p:tags r:id="rId19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9351487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106" name="Group 16"/>
          <p:cNvGrpSpPr/>
          <p:nvPr/>
        </p:nvGrpSpPr>
        <p:grpSpPr>
          <a:xfrm>
            <a:off x="2644776" y="923700"/>
            <a:ext cx="2358389" cy="260350"/>
            <a:chOff x="9368629" y="548559"/>
            <a:chExt cx="2122211" cy="438633"/>
          </a:xfrm>
        </p:grpSpPr>
        <p:sp>
          <p:nvSpPr>
            <p:cNvPr id="107" name="Rectangle: Top Corners Rounded 17"/>
            <p:cNvSpPr/>
            <p:nvPr>
              <p:custDataLst>
                <p:tags r:id="rId13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雕花口红</a:t>
              </a:r>
            </a:p>
          </p:txBody>
        </p:sp>
        <p:sp>
          <p:nvSpPr>
            <p:cNvPr id="108" name="Rectangle: Single Corner Rounded 18"/>
            <p:cNvSpPr/>
            <p:nvPr>
              <p:custDataLst>
                <p:tags r:id="rId14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Isosceles Triangle 19"/>
            <p:cNvSpPr/>
            <p:nvPr>
              <p:custDataLst>
                <p:tags r:id="rId15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9368629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sp>
        <p:nvSpPr>
          <p:cNvPr id="111" name="文本框 12"/>
          <p:cNvSpPr txBox="1"/>
          <p:nvPr>
            <p:custDataLst>
              <p:tags r:id="rId2"/>
            </p:custDataLst>
          </p:nvPr>
        </p:nvSpPr>
        <p:spPr>
          <a:xfrm>
            <a:off x="3815080" y="20089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产品费用分析</a:t>
            </a:r>
          </a:p>
        </p:txBody>
      </p:sp>
      <p:sp>
        <p:nvSpPr>
          <p:cNvPr id="194" name="圆角矩形 193"/>
          <p:cNvSpPr/>
          <p:nvPr>
            <p:custDataLst>
              <p:tags r:id="rId3"/>
            </p:custDataLst>
          </p:nvPr>
        </p:nvSpPr>
        <p:spPr>
          <a:xfrm>
            <a:off x="598170" y="1258570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12" name="图表 111"/>
          <p:cNvGraphicFramePr/>
          <p:nvPr>
            <p:custDataLst>
              <p:tags r:id="rId4"/>
            </p:custDataLst>
          </p:nvPr>
        </p:nvGraphicFramePr>
        <p:xfrm>
          <a:off x="608965" y="1294765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sp>
        <p:nvSpPr>
          <p:cNvPr id="114" name="文本框 113"/>
          <p:cNvSpPr txBox="1"/>
          <p:nvPr>
            <p:custDataLst>
              <p:tags r:id="rId5"/>
            </p:custDataLst>
          </p:nvPr>
        </p:nvSpPr>
        <p:spPr>
          <a:xfrm>
            <a:off x="5036820" y="150431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pSp>
        <p:nvGrpSpPr>
          <p:cNvPr id="116" name="组合 115"/>
          <p:cNvGrpSpPr/>
          <p:nvPr/>
        </p:nvGrpSpPr>
        <p:grpSpPr>
          <a:xfrm>
            <a:off x="598805" y="4253230"/>
            <a:ext cx="11015345" cy="2477770"/>
            <a:chOff x="1036" y="45547"/>
            <a:chExt cx="17347" cy="3902"/>
          </a:xfrm>
        </p:grpSpPr>
        <p:graphicFrame>
          <p:nvGraphicFramePr>
            <p:cNvPr id="117" name="图表 116"/>
            <p:cNvGraphicFramePr/>
            <p:nvPr>
              <p:custDataLst>
                <p:tags r:id="rId10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3"/>
            </a:graphicData>
          </a:graphic>
        </p:graphicFrame>
        <p:sp>
          <p:nvSpPr>
            <p:cNvPr id="118" name="圆角矩形 117"/>
            <p:cNvSpPr/>
            <p:nvPr>
              <p:custDataLst>
                <p:tags r:id="rId11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2" name="文本框 121"/>
            <p:cNvSpPr txBox="1"/>
            <p:nvPr>
              <p:custDataLst>
                <p:tags r:id="rId12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</a:p>
          </p:txBody>
        </p:sp>
      </p:grpSp>
      <p:graphicFrame>
        <p:nvGraphicFramePr>
          <p:cNvPr id="123" name="图表 12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501532229"/>
              </p:ext>
            </p:extLst>
          </p:nvPr>
        </p:nvGraphicFramePr>
        <p:xfrm>
          <a:off x="5997575" y="1258570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63" name="圆角矩形 162"/>
          <p:cNvSpPr/>
          <p:nvPr>
            <p:custDataLst>
              <p:tags r:id="rId7"/>
            </p:custDataLst>
          </p:nvPr>
        </p:nvSpPr>
        <p:spPr>
          <a:xfrm>
            <a:off x="5997575" y="1259840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8"/>
            </p:custDataLst>
          </p:nvPr>
        </p:nvSpPr>
        <p:spPr>
          <a:xfrm>
            <a:off x="10742295" y="1614805"/>
            <a:ext cx="862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sp>
        <p:nvSpPr>
          <p:cNvPr id="124" name="文本框 123"/>
          <p:cNvSpPr txBox="1"/>
          <p:nvPr>
            <p:custDataLst>
              <p:tags r:id="rId9"/>
            </p:custDataLst>
          </p:nvPr>
        </p:nvSpPr>
        <p:spPr>
          <a:xfrm>
            <a:off x="733425" y="388620"/>
            <a:ext cx="2315210" cy="259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9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由产品分析的重点品费用分析跳转过来</a:t>
            </a:r>
          </a:p>
          <a:p>
            <a:pPr algn="l"/>
            <a:endParaRPr lang="zh-CN" altLang="en-US" sz="9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文本框 12"/>
          <p:cNvSpPr txBox="1"/>
          <p:nvPr>
            <p:custDataLst>
              <p:tags r:id="rId2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促销分析</a:t>
            </a:r>
          </a:p>
        </p:txBody>
      </p:sp>
      <p:grpSp>
        <p:nvGrpSpPr>
          <p:cNvPr id="81" name="Group 16"/>
          <p:cNvGrpSpPr/>
          <p:nvPr/>
        </p:nvGrpSpPr>
        <p:grpSpPr>
          <a:xfrm>
            <a:off x="591820" y="880520"/>
            <a:ext cx="2291715" cy="260350"/>
            <a:chOff x="9428626" y="548559"/>
            <a:chExt cx="2062214" cy="438633"/>
          </a:xfrm>
        </p:grpSpPr>
        <p:sp>
          <p:nvSpPr>
            <p:cNvPr id="82" name="Rectangle: Top Corners Rounded 17"/>
            <p:cNvSpPr/>
            <p:nvPr>
              <p:custDataLst>
                <p:tags r:id="rId51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</a:p>
          </p:txBody>
        </p:sp>
        <p:sp>
          <p:nvSpPr>
            <p:cNvPr id="83" name="Rectangle: Single Corner Rounded 18"/>
            <p:cNvSpPr/>
            <p:nvPr>
              <p:custDataLst>
                <p:tags r:id="rId52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Isosceles Triangle 19"/>
            <p:cNvSpPr/>
            <p:nvPr>
              <p:custDataLst>
                <p:tags r:id="rId53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5" name="TextBox 20"/>
            <p:cNvSpPr txBox="1"/>
            <p:nvPr>
              <p:custDataLst>
                <p:tags r:id="rId54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开始日期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86" name="Group 16"/>
          <p:cNvGrpSpPr/>
          <p:nvPr/>
        </p:nvGrpSpPr>
        <p:grpSpPr>
          <a:xfrm>
            <a:off x="2875280" y="883060"/>
            <a:ext cx="2291715" cy="260350"/>
            <a:chOff x="9428626" y="548559"/>
            <a:chExt cx="2062214" cy="438633"/>
          </a:xfrm>
        </p:grpSpPr>
        <p:sp>
          <p:nvSpPr>
            <p:cNvPr id="87" name="Rectangle: Top Corners Rounded 17"/>
            <p:cNvSpPr/>
            <p:nvPr>
              <p:custDataLst>
                <p:tags r:id="rId47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</a:p>
          </p:txBody>
        </p:sp>
        <p:sp>
          <p:nvSpPr>
            <p:cNvPr id="88" name="Rectangle: Single Corner Rounded 18"/>
            <p:cNvSpPr/>
            <p:nvPr>
              <p:custDataLst>
                <p:tags r:id="rId48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9" name="Isosceles Triangle 19"/>
            <p:cNvSpPr/>
            <p:nvPr>
              <p:custDataLst>
                <p:tags r:id="rId49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0" name="TextBox 20"/>
            <p:cNvSpPr txBox="1"/>
            <p:nvPr>
              <p:custDataLst>
                <p:tags r:id="rId50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截止日期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91" name="Group 16"/>
          <p:cNvGrpSpPr/>
          <p:nvPr/>
        </p:nvGrpSpPr>
        <p:grpSpPr>
          <a:xfrm>
            <a:off x="5110480" y="889410"/>
            <a:ext cx="2291715" cy="260350"/>
            <a:chOff x="9428626" y="548559"/>
            <a:chExt cx="2062214" cy="438633"/>
          </a:xfrm>
        </p:grpSpPr>
        <p:sp>
          <p:nvSpPr>
            <p:cNvPr id="92" name="Rectangle: Top Corners Rounded 17"/>
            <p:cNvSpPr/>
            <p:nvPr>
              <p:custDataLst>
                <p:tags r:id="rId43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</a:p>
          </p:txBody>
        </p:sp>
        <p:sp>
          <p:nvSpPr>
            <p:cNvPr id="93" name="Rectangle: Single Corner Rounded 18"/>
            <p:cNvSpPr/>
            <p:nvPr>
              <p:custDataLst>
                <p:tags r:id="rId44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Isosceles Triangle 19"/>
            <p:cNvSpPr/>
            <p:nvPr>
              <p:custDataLst>
                <p:tags r:id="rId45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TextBox 20"/>
            <p:cNvSpPr txBox="1"/>
            <p:nvPr>
              <p:custDataLst>
                <p:tags r:id="rId46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aphicFrame>
        <p:nvGraphicFramePr>
          <p:cNvPr id="118" name="图表 117"/>
          <p:cNvGraphicFramePr/>
          <p:nvPr>
            <p:custDataLst>
              <p:tags r:id="rId3"/>
            </p:custDataLst>
          </p:nvPr>
        </p:nvGraphicFramePr>
        <p:xfrm>
          <a:off x="801370" y="2654300"/>
          <a:ext cx="10648950" cy="2769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6"/>
          </a:graphicData>
        </a:graphic>
      </p:graphicFrame>
      <p:sp>
        <p:nvSpPr>
          <p:cNvPr id="177" name="圆角矩形 176"/>
          <p:cNvSpPr/>
          <p:nvPr>
            <p:custDataLst>
              <p:tags r:id="rId4"/>
            </p:custDataLst>
          </p:nvPr>
        </p:nvSpPr>
        <p:spPr>
          <a:xfrm>
            <a:off x="784860" y="2654300"/>
            <a:ext cx="10665460" cy="277431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84860" y="1577975"/>
            <a:ext cx="1657350" cy="971550"/>
            <a:chOff x="1236" y="1980"/>
            <a:chExt cx="2610" cy="1530"/>
          </a:xfrm>
        </p:grpSpPr>
        <p:sp>
          <p:nvSpPr>
            <p:cNvPr id="169" name="文本框 168"/>
            <p:cNvSpPr txBox="1"/>
            <p:nvPr>
              <p:custDataLst>
                <p:tags r:id="rId39"/>
              </p:custDataLst>
            </p:nvPr>
          </p:nvSpPr>
          <p:spPr>
            <a:xfrm>
              <a:off x="1516" y="2015"/>
              <a:ext cx="1945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优惠前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</a:p>
          </p:txBody>
        </p:sp>
        <p:sp>
          <p:nvSpPr>
            <p:cNvPr id="170" name="文本框 169"/>
            <p:cNvSpPr txBox="1"/>
            <p:nvPr>
              <p:custDataLst>
                <p:tags r:id="rId40"/>
              </p:custDataLst>
            </p:nvPr>
          </p:nvSpPr>
          <p:spPr>
            <a:xfrm>
              <a:off x="3094" y="2200"/>
              <a:ext cx="752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  <p:sp>
          <p:nvSpPr>
            <p:cNvPr id="172" name="圆角矩形 171"/>
            <p:cNvSpPr/>
            <p:nvPr>
              <p:custDataLst>
                <p:tags r:id="rId41"/>
              </p:custDataLst>
            </p:nvPr>
          </p:nvSpPr>
          <p:spPr>
            <a:xfrm>
              <a:off x="1236" y="1980"/>
              <a:ext cx="2521" cy="1530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73" name="文本框 172"/>
            <p:cNvSpPr txBox="1"/>
            <p:nvPr>
              <p:custDataLst>
                <p:tags r:id="rId42"/>
              </p:custDataLst>
            </p:nvPr>
          </p:nvSpPr>
          <p:spPr>
            <a:xfrm>
              <a:off x="1810" y="2637"/>
              <a:ext cx="1498" cy="57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1,000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342890" y="1577975"/>
            <a:ext cx="1656080" cy="975360"/>
            <a:chOff x="6542" y="1960"/>
            <a:chExt cx="2608" cy="1536"/>
          </a:xfrm>
        </p:grpSpPr>
        <p:sp>
          <p:nvSpPr>
            <p:cNvPr id="203" name="文本框 202"/>
            <p:cNvSpPr txBox="1"/>
            <p:nvPr>
              <p:custDataLst>
                <p:tags r:id="rId35"/>
              </p:custDataLst>
            </p:nvPr>
          </p:nvSpPr>
          <p:spPr>
            <a:xfrm>
              <a:off x="7039" y="1995"/>
              <a:ext cx="1492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赠品成本</a:t>
              </a:r>
            </a:p>
          </p:txBody>
        </p:sp>
        <p:sp>
          <p:nvSpPr>
            <p:cNvPr id="204" name="文本框 203"/>
            <p:cNvSpPr txBox="1"/>
            <p:nvPr>
              <p:custDataLst>
                <p:tags r:id="rId36"/>
              </p:custDataLst>
            </p:nvPr>
          </p:nvSpPr>
          <p:spPr>
            <a:xfrm>
              <a:off x="7417" y="2602"/>
              <a:ext cx="1252" cy="57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80</a:t>
              </a:r>
            </a:p>
          </p:txBody>
        </p:sp>
        <p:sp>
          <p:nvSpPr>
            <p:cNvPr id="209" name="圆角矩形 208"/>
            <p:cNvSpPr/>
            <p:nvPr>
              <p:custDataLst>
                <p:tags r:id="rId37"/>
              </p:custDataLst>
            </p:nvPr>
          </p:nvSpPr>
          <p:spPr>
            <a:xfrm>
              <a:off x="6542" y="1960"/>
              <a:ext cx="2608" cy="1536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220" name="文本框 219"/>
            <p:cNvSpPr txBox="1"/>
            <p:nvPr>
              <p:custDataLst>
                <p:tags r:id="rId38"/>
              </p:custDataLst>
            </p:nvPr>
          </p:nvSpPr>
          <p:spPr>
            <a:xfrm>
              <a:off x="8269" y="2156"/>
              <a:ext cx="81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064510" y="1577975"/>
            <a:ext cx="1656080" cy="971550"/>
            <a:chOff x="3850" y="1965"/>
            <a:chExt cx="2608" cy="1530"/>
          </a:xfrm>
        </p:grpSpPr>
        <p:sp>
          <p:nvSpPr>
            <p:cNvPr id="227" name="文本框 226"/>
            <p:cNvSpPr txBox="1"/>
            <p:nvPr>
              <p:custDataLst>
                <p:tags r:id="rId31"/>
              </p:custDataLst>
            </p:nvPr>
          </p:nvSpPr>
          <p:spPr>
            <a:xfrm>
              <a:off x="4416" y="2000"/>
              <a:ext cx="1677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优惠金额</a:t>
              </a:r>
            </a:p>
          </p:txBody>
        </p:sp>
        <p:sp>
          <p:nvSpPr>
            <p:cNvPr id="228" name="文本框 227"/>
            <p:cNvSpPr txBox="1"/>
            <p:nvPr>
              <p:custDataLst>
                <p:tags r:id="rId32"/>
              </p:custDataLst>
            </p:nvPr>
          </p:nvSpPr>
          <p:spPr>
            <a:xfrm>
              <a:off x="5678" y="2110"/>
              <a:ext cx="726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  <p:sp>
          <p:nvSpPr>
            <p:cNvPr id="229" name="圆角矩形 228"/>
            <p:cNvSpPr/>
            <p:nvPr>
              <p:custDataLst>
                <p:tags r:id="rId33"/>
              </p:custDataLst>
            </p:nvPr>
          </p:nvSpPr>
          <p:spPr>
            <a:xfrm>
              <a:off x="3850" y="1965"/>
              <a:ext cx="2608" cy="1530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230" name="文本框 229"/>
            <p:cNvSpPr txBox="1"/>
            <p:nvPr>
              <p:custDataLst>
                <p:tags r:id="rId34"/>
              </p:custDataLst>
            </p:nvPr>
          </p:nvSpPr>
          <p:spPr>
            <a:xfrm>
              <a:off x="4747" y="2622"/>
              <a:ext cx="1346" cy="57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80</a:t>
              </a:r>
            </a:p>
          </p:txBody>
        </p:sp>
      </p:grpSp>
      <p:sp>
        <p:nvSpPr>
          <p:cNvPr id="193" name="文本框 192"/>
          <p:cNvSpPr txBox="1"/>
          <p:nvPr>
            <p:custDataLst>
              <p:tags r:id="rId5"/>
            </p:custDataLst>
          </p:nvPr>
        </p:nvSpPr>
        <p:spPr>
          <a:xfrm>
            <a:off x="7846060" y="1600200"/>
            <a:ext cx="109347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价格折扣率</a:t>
            </a:r>
          </a:p>
        </p:txBody>
      </p:sp>
      <p:sp>
        <p:nvSpPr>
          <p:cNvPr id="199" name="圆角矩形 198"/>
          <p:cNvSpPr/>
          <p:nvPr>
            <p:custDataLst>
              <p:tags r:id="rId6"/>
            </p:custDataLst>
          </p:nvPr>
        </p:nvSpPr>
        <p:spPr>
          <a:xfrm>
            <a:off x="7621270" y="1577975"/>
            <a:ext cx="1603375" cy="97409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37" name="矩形 236"/>
          <p:cNvSpPr/>
          <p:nvPr>
            <p:custDataLst>
              <p:tags r:id="rId7"/>
            </p:custDataLst>
          </p:nvPr>
        </p:nvSpPr>
        <p:spPr>
          <a:xfrm flipV="1">
            <a:off x="7767320" y="2065655"/>
            <a:ext cx="1210945" cy="330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063B49">
              <a:shade val="50000"/>
            </a:srgbClr>
          </a:lnRef>
          <a:fillRef idx="1">
            <a:srgbClr val="063B49"/>
          </a:fillRef>
          <a:effectRef idx="0">
            <a:srgbClr val="063B4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38" name="矩形 237"/>
          <p:cNvSpPr/>
          <p:nvPr>
            <p:custDataLst>
              <p:tags r:id="rId8"/>
            </p:custDataLst>
          </p:nvPr>
        </p:nvSpPr>
        <p:spPr>
          <a:xfrm flipV="1">
            <a:off x="7751445" y="2065655"/>
            <a:ext cx="151200" cy="330200"/>
          </a:xfrm>
          <a:prstGeom prst="rect">
            <a:avLst/>
          </a:prstGeom>
          <a:solidFill>
            <a:srgbClr val="D9B992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063B49">
              <a:shade val="50000"/>
            </a:srgbClr>
          </a:lnRef>
          <a:fillRef idx="1">
            <a:srgbClr val="063B49"/>
          </a:fillRef>
          <a:effectRef idx="0">
            <a:srgbClr val="063B4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94" name="文本框 193"/>
          <p:cNvSpPr txBox="1"/>
          <p:nvPr>
            <p:custDataLst>
              <p:tags r:id="rId9"/>
            </p:custDataLst>
          </p:nvPr>
        </p:nvSpPr>
        <p:spPr>
          <a:xfrm>
            <a:off x="7906385" y="2065655"/>
            <a:ext cx="942340" cy="3302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rgbClr val="063B49"/>
                </a:solidFill>
                <a:latin typeface="微软雅黑" panose="020B0503020204020204" charset="-122"/>
                <a:ea typeface="微软雅黑" panose="020B0503020204020204" charset="-122"/>
              </a:rPr>
              <a:t>10.00%</a:t>
            </a:r>
          </a:p>
        </p:txBody>
      </p:sp>
      <p:sp>
        <p:nvSpPr>
          <p:cNvPr id="245" name="圆角矩形 244"/>
          <p:cNvSpPr/>
          <p:nvPr>
            <p:custDataLst>
              <p:tags r:id="rId10"/>
            </p:custDataLst>
          </p:nvPr>
        </p:nvSpPr>
        <p:spPr>
          <a:xfrm>
            <a:off x="784225" y="5808980"/>
            <a:ext cx="10666095" cy="281749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6" name="表格 152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870585" y="6198870"/>
          <a:ext cx="10483850" cy="23609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8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0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2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优惠金额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赠品成本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价格折扣率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赠品费比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抖音达播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抖音货架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7" name="文本框 246"/>
          <p:cNvSpPr txBox="1"/>
          <p:nvPr>
            <p:custDataLst>
              <p:tags r:id="rId12"/>
            </p:custDataLst>
          </p:nvPr>
        </p:nvSpPr>
        <p:spPr>
          <a:xfrm>
            <a:off x="800735" y="5859780"/>
            <a:ext cx="166814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渠道分析明细表</a:t>
            </a:r>
          </a:p>
        </p:txBody>
      </p:sp>
      <p:sp>
        <p:nvSpPr>
          <p:cNvPr id="16" name="圆角矩形 15"/>
          <p:cNvSpPr/>
          <p:nvPr>
            <p:custDataLst>
              <p:tags r:id="rId13"/>
            </p:custDataLst>
          </p:nvPr>
        </p:nvSpPr>
        <p:spPr>
          <a:xfrm>
            <a:off x="784860" y="8966200"/>
            <a:ext cx="10664825" cy="275907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809625" y="8966200"/>
            <a:ext cx="166814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产品分析明细表</a:t>
            </a:r>
          </a:p>
        </p:txBody>
      </p:sp>
      <p:sp>
        <p:nvSpPr>
          <p:cNvPr id="2" name="文本框 12"/>
          <p:cNvSpPr txBox="1"/>
          <p:nvPr>
            <p:custDataLst>
              <p:tags r:id="rId15"/>
            </p:custDataLst>
          </p:nvPr>
        </p:nvSpPr>
        <p:spPr>
          <a:xfrm>
            <a:off x="721995" y="544091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明细报表</a:t>
            </a:r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10203180" y="1600200"/>
            <a:ext cx="109347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赠品费比</a:t>
            </a:r>
          </a:p>
        </p:txBody>
      </p:sp>
      <p:sp>
        <p:nvSpPr>
          <p:cNvPr id="9" name="圆角矩形 8"/>
          <p:cNvSpPr/>
          <p:nvPr>
            <p:custDataLst>
              <p:tags r:id="rId17"/>
            </p:custDataLst>
          </p:nvPr>
        </p:nvSpPr>
        <p:spPr>
          <a:xfrm>
            <a:off x="9846310" y="1577975"/>
            <a:ext cx="1603375" cy="9480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18"/>
            </p:custDataLst>
          </p:nvPr>
        </p:nvSpPr>
        <p:spPr>
          <a:xfrm flipV="1">
            <a:off x="9992360" y="2065655"/>
            <a:ext cx="1210945" cy="330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063B49">
              <a:shade val="50000"/>
            </a:srgbClr>
          </a:lnRef>
          <a:fillRef idx="1">
            <a:srgbClr val="063B49"/>
          </a:fillRef>
          <a:effectRef idx="0">
            <a:srgbClr val="063B4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9"/>
            </p:custDataLst>
          </p:nvPr>
        </p:nvSpPr>
        <p:spPr>
          <a:xfrm flipV="1">
            <a:off x="9976485" y="2065655"/>
            <a:ext cx="154305" cy="330200"/>
          </a:xfrm>
          <a:prstGeom prst="rect">
            <a:avLst/>
          </a:prstGeom>
          <a:solidFill>
            <a:srgbClr val="D9B992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063B49">
              <a:shade val="50000"/>
            </a:srgbClr>
          </a:lnRef>
          <a:fillRef idx="1">
            <a:srgbClr val="063B49"/>
          </a:fillRef>
          <a:effectRef idx="0">
            <a:srgbClr val="063B4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20"/>
            </p:custDataLst>
          </p:nvPr>
        </p:nvSpPr>
        <p:spPr>
          <a:xfrm>
            <a:off x="10131425" y="2065655"/>
            <a:ext cx="942340" cy="3302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rgbClr val="063B49"/>
                </a:solidFill>
                <a:latin typeface="微软雅黑" panose="020B0503020204020204" charset="-122"/>
                <a:ea typeface="微软雅黑" panose="020B0503020204020204" charset="-122"/>
              </a:rPr>
              <a:t>10.00%</a:t>
            </a:r>
          </a:p>
        </p:txBody>
      </p:sp>
      <p:sp>
        <p:nvSpPr>
          <p:cNvPr id="27" name="文本框 12"/>
          <p:cNvSpPr txBox="1"/>
          <p:nvPr>
            <p:custDataLst>
              <p:tags r:id="rId21"/>
            </p:custDataLst>
          </p:nvPr>
        </p:nvSpPr>
        <p:spPr>
          <a:xfrm>
            <a:off x="695325" y="1179428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促销概览</a:t>
            </a:r>
          </a:p>
        </p:txBody>
      </p:sp>
      <p:graphicFrame>
        <p:nvGraphicFramePr>
          <p:cNvPr id="45" name="表格 152"/>
          <p:cNvGraphicFramePr>
            <a:graphicFrameLocks noGrp="1"/>
          </p:cNvGraphicFramePr>
          <p:nvPr>
            <p:custDataLst>
              <p:tags r:id="rId22"/>
            </p:custDataLst>
          </p:nvPr>
        </p:nvGraphicFramePr>
        <p:xfrm>
          <a:off x="870585" y="9272905"/>
          <a:ext cx="10483850" cy="232791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4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7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优惠金额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赠品成本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价格折扣率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赠品费比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雕花口红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唇纱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翡翠气垫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持妆粉底液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石斛粉底液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眉妆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眉笔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首乌眉笔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" name="Rectangle: Rounded Corners 156"/>
          <p:cNvSpPr/>
          <p:nvPr>
            <p:custDataLst>
              <p:tags r:id="rId23"/>
            </p:custDataLst>
          </p:nvPr>
        </p:nvSpPr>
        <p:spPr>
          <a:xfrm>
            <a:off x="156527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</a:p>
        </p:txBody>
      </p:sp>
      <p:sp>
        <p:nvSpPr>
          <p:cNvPr id="54" name="Rectangle: Rounded Corners 156"/>
          <p:cNvSpPr/>
          <p:nvPr>
            <p:custDataLst>
              <p:tags r:id="rId24"/>
            </p:custDataLst>
          </p:nvPr>
        </p:nvSpPr>
        <p:spPr>
          <a:xfrm>
            <a:off x="784860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D5F5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</a:p>
        </p:txBody>
      </p:sp>
      <p:sp>
        <p:nvSpPr>
          <p:cNvPr id="55" name="Rectangle: Rounded Corners 156"/>
          <p:cNvSpPr/>
          <p:nvPr>
            <p:custDataLst>
              <p:tags r:id="rId25"/>
            </p:custDataLst>
          </p:nvPr>
        </p:nvSpPr>
        <p:spPr>
          <a:xfrm>
            <a:off x="236029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</a:p>
        </p:txBody>
      </p:sp>
      <p:sp>
        <p:nvSpPr>
          <p:cNvPr id="56" name="Rectangle: Rounded Corners 156"/>
          <p:cNvSpPr/>
          <p:nvPr>
            <p:custDataLst>
              <p:tags r:id="rId26"/>
            </p:custDataLst>
          </p:nvPr>
        </p:nvSpPr>
        <p:spPr>
          <a:xfrm>
            <a:off x="315531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</a:p>
        </p:txBody>
      </p:sp>
      <p:sp>
        <p:nvSpPr>
          <p:cNvPr id="57" name="Rectangle: Rounded Corners 156"/>
          <p:cNvSpPr/>
          <p:nvPr>
            <p:custDataLst>
              <p:tags r:id="rId27"/>
            </p:custDataLst>
          </p:nvPr>
        </p:nvSpPr>
        <p:spPr>
          <a:xfrm>
            <a:off x="395033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</a:p>
        </p:txBody>
      </p:sp>
      <p:sp>
        <p:nvSpPr>
          <p:cNvPr id="58" name="Rectangle: Rounded Corners 156"/>
          <p:cNvSpPr/>
          <p:nvPr>
            <p:custDataLst>
              <p:tags r:id="rId28"/>
            </p:custDataLst>
          </p:nvPr>
        </p:nvSpPr>
        <p:spPr>
          <a:xfrm>
            <a:off x="474535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</a:p>
        </p:txBody>
      </p:sp>
      <p:sp>
        <p:nvSpPr>
          <p:cNvPr id="59" name="Rectangle: Rounded Corners 156"/>
          <p:cNvSpPr/>
          <p:nvPr>
            <p:custDataLst>
              <p:tags r:id="rId29"/>
            </p:custDataLst>
          </p:nvPr>
        </p:nvSpPr>
        <p:spPr>
          <a:xfrm>
            <a:off x="554037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综合渠道</a:t>
            </a:r>
          </a:p>
        </p:txBody>
      </p:sp>
      <p:sp>
        <p:nvSpPr>
          <p:cNvPr id="60" name="Rectangle: Rounded Corners 156"/>
          <p:cNvSpPr/>
          <p:nvPr>
            <p:custDataLst>
              <p:tags r:id="rId30"/>
            </p:custDataLst>
          </p:nvPr>
        </p:nvSpPr>
        <p:spPr>
          <a:xfrm>
            <a:off x="6335395" y="8670290"/>
            <a:ext cx="79502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拼多多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705" y="1626870"/>
            <a:ext cx="669290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9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不含赠品</a:t>
            </a: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634365" y="1763395"/>
            <a:ext cx="353060" cy="12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文本框 12"/>
          <p:cNvSpPr txBox="1"/>
          <p:nvPr>
            <p:custDataLst>
              <p:tags r:id="rId2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大促分析</a:t>
            </a:r>
          </a:p>
        </p:txBody>
      </p:sp>
      <p:sp>
        <p:nvSpPr>
          <p:cNvPr id="82" name="Rectangle: Top Corners Rounded 17"/>
          <p:cNvSpPr/>
          <p:nvPr>
            <p:custDataLst>
              <p:tags r:id="rId3"/>
            </p:custDataLst>
          </p:nvPr>
        </p:nvSpPr>
        <p:spPr>
          <a:xfrm>
            <a:off x="1330325" y="931545"/>
            <a:ext cx="2952000" cy="179705"/>
          </a:xfrm>
          <a:prstGeom prst="round2Same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2023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20:00 - 2023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20:00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975735" y="934085"/>
            <a:ext cx="316230" cy="167640"/>
            <a:chOff x="4043" y="1471"/>
            <a:chExt cx="498" cy="264"/>
          </a:xfrm>
        </p:grpSpPr>
        <p:sp>
          <p:nvSpPr>
            <p:cNvPr id="83" name="Rectangle: Single Corner Rounded 18"/>
            <p:cNvSpPr/>
            <p:nvPr>
              <p:custDataLst>
                <p:tags r:id="rId72"/>
              </p:custDataLst>
            </p:nvPr>
          </p:nvSpPr>
          <p:spPr>
            <a:xfrm>
              <a:off x="4043" y="1471"/>
              <a:ext cx="498" cy="26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Isosceles Triangle 19"/>
            <p:cNvSpPr/>
            <p:nvPr>
              <p:custDataLst>
                <p:tags r:id="rId73"/>
              </p:custDataLst>
            </p:nvPr>
          </p:nvSpPr>
          <p:spPr>
            <a:xfrm rot="10800000">
              <a:off x="4236" y="1580"/>
              <a:ext cx="95" cy="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5" name="TextBox 20"/>
          <p:cNvSpPr txBox="1"/>
          <p:nvPr>
            <p:custDataLst>
              <p:tags r:id="rId4"/>
            </p:custDataLst>
          </p:nvPr>
        </p:nvSpPr>
        <p:spPr>
          <a:xfrm>
            <a:off x="422275" y="899795"/>
            <a:ext cx="908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大促期间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:</a:t>
            </a:r>
          </a:p>
        </p:txBody>
      </p:sp>
      <p:grpSp>
        <p:nvGrpSpPr>
          <p:cNvPr id="91" name="Group 16"/>
          <p:cNvGrpSpPr/>
          <p:nvPr/>
        </p:nvGrpSpPr>
        <p:grpSpPr>
          <a:xfrm>
            <a:off x="4138930" y="898300"/>
            <a:ext cx="2201545" cy="260350"/>
            <a:chOff x="9509766" y="548559"/>
            <a:chExt cx="1981074" cy="438633"/>
          </a:xfrm>
        </p:grpSpPr>
        <p:sp>
          <p:nvSpPr>
            <p:cNvPr id="92" name="Rectangle: Top Corners Rounded 17"/>
            <p:cNvSpPr/>
            <p:nvPr>
              <p:custDataLst>
                <p:tags r:id="rId68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</a:p>
          </p:txBody>
        </p:sp>
        <p:sp>
          <p:nvSpPr>
            <p:cNvPr id="93" name="Rectangle: Single Corner Rounded 18"/>
            <p:cNvSpPr/>
            <p:nvPr>
              <p:custDataLst>
                <p:tags r:id="rId69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Isosceles Triangle 19"/>
            <p:cNvSpPr/>
            <p:nvPr>
              <p:custDataLst>
                <p:tags r:id="rId70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TextBox 20"/>
            <p:cNvSpPr txBox="1"/>
            <p:nvPr>
              <p:custDataLst>
                <p:tags r:id="rId71"/>
              </p:custDataLst>
            </p:nvPr>
          </p:nvSpPr>
          <p:spPr>
            <a:xfrm>
              <a:off x="9509766" y="548559"/>
              <a:ext cx="786258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aphicFrame>
        <p:nvGraphicFramePr>
          <p:cNvPr id="425" name="图表 424"/>
          <p:cNvGraphicFramePr/>
          <p:nvPr>
            <p:custDataLst>
              <p:tags r:id="rId5"/>
            </p:custDataLst>
          </p:nvPr>
        </p:nvGraphicFramePr>
        <p:xfrm>
          <a:off x="6130290" y="371983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5"/>
          </a:graphicData>
        </a:graphic>
      </p:graphicFrame>
      <p:sp>
        <p:nvSpPr>
          <p:cNvPr id="169" name="圆角矩形 168"/>
          <p:cNvSpPr/>
          <p:nvPr>
            <p:custDataLst>
              <p:tags r:id="rId6"/>
            </p:custDataLst>
          </p:nvPr>
        </p:nvSpPr>
        <p:spPr>
          <a:xfrm>
            <a:off x="637540" y="1623060"/>
            <a:ext cx="10975975" cy="41389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文本框 115"/>
          <p:cNvSpPr txBox="1"/>
          <p:nvPr>
            <p:custDataLst>
              <p:tags r:id="rId7"/>
            </p:custDataLst>
          </p:nvPr>
        </p:nvSpPr>
        <p:spPr>
          <a:xfrm>
            <a:off x="3672205" y="1711960"/>
            <a:ext cx="217487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达成率</a:t>
            </a:r>
          </a:p>
        </p:txBody>
      </p:sp>
      <p:grpSp>
        <p:nvGrpSpPr>
          <p:cNvPr id="120" name="组合 119"/>
          <p:cNvGrpSpPr/>
          <p:nvPr/>
        </p:nvGrpSpPr>
        <p:grpSpPr>
          <a:xfrm>
            <a:off x="3919855" y="1961515"/>
            <a:ext cx="1663065" cy="1053465"/>
            <a:chOff x="1292" y="2411"/>
            <a:chExt cx="2619" cy="1659"/>
          </a:xfrm>
        </p:grpSpPr>
        <p:graphicFrame>
          <p:nvGraphicFramePr>
            <p:cNvPr id="121" name="图表 120"/>
            <p:cNvGraphicFramePr/>
            <p:nvPr>
              <p:custDataLst>
                <p:tags r:id="rId66"/>
              </p:custDataLst>
            </p:nvPr>
          </p:nvGraphicFramePr>
          <p:xfrm>
            <a:off x="1292" y="2411"/>
            <a:ext cx="2619" cy="16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6"/>
            </a:graphicData>
          </a:graphic>
        </p:graphicFrame>
        <p:sp>
          <p:nvSpPr>
            <p:cNvPr id="131" name="文本框 130"/>
            <p:cNvSpPr txBox="1"/>
            <p:nvPr>
              <p:custDataLst>
                <p:tags r:id="rId67"/>
              </p:custDataLst>
            </p:nvPr>
          </p:nvSpPr>
          <p:spPr>
            <a:xfrm>
              <a:off x="2060" y="2764"/>
              <a:ext cx="1502" cy="72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2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   105.00%             </a:t>
              </a:r>
            </a:p>
          </p:txBody>
        </p:sp>
      </p:grpSp>
      <p:sp>
        <p:nvSpPr>
          <p:cNvPr id="2" name="圆角矩形 1"/>
          <p:cNvSpPr/>
          <p:nvPr>
            <p:custDataLst>
              <p:tags r:id="rId8"/>
            </p:custDataLst>
          </p:nvPr>
        </p:nvSpPr>
        <p:spPr>
          <a:xfrm>
            <a:off x="779145" y="3094990"/>
            <a:ext cx="2595880" cy="12242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852805" y="4932680"/>
            <a:ext cx="115125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10.00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1212850" y="442595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销量</a:t>
            </a:r>
          </a:p>
        </p:txBody>
      </p:sp>
      <p:sp>
        <p:nvSpPr>
          <p:cNvPr id="36" name="圆角矩形 35"/>
          <p:cNvSpPr/>
          <p:nvPr>
            <p:custDataLst>
              <p:tags r:id="rId11"/>
            </p:custDataLst>
          </p:nvPr>
        </p:nvSpPr>
        <p:spPr>
          <a:xfrm>
            <a:off x="779145" y="4410710"/>
            <a:ext cx="128524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12"/>
            </p:custDataLst>
          </p:nvPr>
        </p:nvSpPr>
        <p:spPr>
          <a:xfrm>
            <a:off x="561975" y="1184910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</a:p>
        </p:txBody>
      </p:sp>
      <p:sp>
        <p:nvSpPr>
          <p:cNvPr id="167" name="文本框 166"/>
          <p:cNvSpPr txBox="1"/>
          <p:nvPr>
            <p:custDataLst>
              <p:tags r:id="rId13"/>
            </p:custDataLst>
          </p:nvPr>
        </p:nvSpPr>
        <p:spPr>
          <a:xfrm>
            <a:off x="635000" y="871474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</a:p>
        </p:txBody>
      </p:sp>
      <p:sp>
        <p:nvSpPr>
          <p:cNvPr id="168" name="圆角矩形 167"/>
          <p:cNvSpPr/>
          <p:nvPr>
            <p:custDataLst>
              <p:tags r:id="rId14"/>
            </p:custDataLst>
          </p:nvPr>
        </p:nvSpPr>
        <p:spPr>
          <a:xfrm>
            <a:off x="647065" y="8714740"/>
            <a:ext cx="10975975" cy="28676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1" name="Rectangle: Rounded Corners 156"/>
          <p:cNvSpPr/>
          <p:nvPr>
            <p:custDataLst>
              <p:tags r:id="rId15"/>
            </p:custDataLst>
          </p:nvPr>
        </p:nvSpPr>
        <p:spPr>
          <a:xfrm>
            <a:off x="758825" y="901954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</a:p>
        </p:txBody>
      </p:sp>
      <p:sp>
        <p:nvSpPr>
          <p:cNvPr id="402" name="Rectangle: Rounded Corners 156"/>
          <p:cNvSpPr/>
          <p:nvPr>
            <p:custDataLst>
              <p:tags r:id="rId16"/>
            </p:custDataLst>
          </p:nvPr>
        </p:nvSpPr>
        <p:spPr>
          <a:xfrm>
            <a:off x="156845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</a:p>
        </p:txBody>
      </p:sp>
      <p:sp>
        <p:nvSpPr>
          <p:cNvPr id="171" name="Rectangle: Rounded Corners 156"/>
          <p:cNvSpPr/>
          <p:nvPr>
            <p:custDataLst>
              <p:tags r:id="rId17"/>
            </p:custDataLst>
          </p:nvPr>
        </p:nvSpPr>
        <p:spPr>
          <a:xfrm>
            <a:off x="238950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</a:p>
        </p:txBody>
      </p:sp>
      <p:sp>
        <p:nvSpPr>
          <p:cNvPr id="172" name="Rectangle: Rounded Corners 156"/>
          <p:cNvSpPr/>
          <p:nvPr>
            <p:custDataLst>
              <p:tags r:id="rId18"/>
            </p:custDataLst>
          </p:nvPr>
        </p:nvSpPr>
        <p:spPr>
          <a:xfrm>
            <a:off x="321056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</a:p>
        </p:txBody>
      </p:sp>
      <p:sp>
        <p:nvSpPr>
          <p:cNvPr id="173" name="Rectangle: Rounded Corners 156"/>
          <p:cNvSpPr/>
          <p:nvPr>
            <p:custDataLst>
              <p:tags r:id="rId19"/>
            </p:custDataLst>
          </p:nvPr>
        </p:nvSpPr>
        <p:spPr>
          <a:xfrm>
            <a:off x="403161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</a:p>
        </p:txBody>
      </p:sp>
      <p:sp>
        <p:nvSpPr>
          <p:cNvPr id="174" name="Rectangle: Rounded Corners 156"/>
          <p:cNvSpPr/>
          <p:nvPr>
            <p:custDataLst>
              <p:tags r:id="rId20"/>
            </p:custDataLst>
          </p:nvPr>
        </p:nvSpPr>
        <p:spPr>
          <a:xfrm>
            <a:off x="484187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</a:p>
        </p:txBody>
      </p:sp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21"/>
            </p:custDataLst>
          </p:nvPr>
        </p:nvGraphicFramePr>
        <p:xfrm>
          <a:off x="748030" y="9398635"/>
          <a:ext cx="10742930" cy="212471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9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0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32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</a:p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期间累计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目标值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+200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快手旗舰店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京东旗舰店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" name="文本框 183"/>
          <p:cNvSpPr txBox="1"/>
          <p:nvPr>
            <p:custDataLst>
              <p:tags r:id="rId22"/>
            </p:custDataLst>
          </p:nvPr>
        </p:nvSpPr>
        <p:spPr>
          <a:xfrm>
            <a:off x="646430" y="1164082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</a:p>
        </p:txBody>
      </p:sp>
      <p:sp>
        <p:nvSpPr>
          <p:cNvPr id="186" name="圆角矩形 185"/>
          <p:cNvSpPr/>
          <p:nvPr>
            <p:custDataLst>
              <p:tags r:id="rId23"/>
            </p:custDataLst>
          </p:nvPr>
        </p:nvSpPr>
        <p:spPr>
          <a:xfrm>
            <a:off x="658495" y="11640820"/>
            <a:ext cx="10964545" cy="241935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3" name="表格 152"/>
          <p:cNvGraphicFramePr>
            <a:graphicFrameLocks noGrp="1"/>
          </p:cNvGraphicFramePr>
          <p:nvPr>
            <p:custDataLst>
              <p:tags r:id="rId24"/>
            </p:custDataLst>
          </p:nvPr>
        </p:nvGraphicFramePr>
        <p:xfrm>
          <a:off x="759460" y="11976735"/>
          <a:ext cx="10730865" cy="201993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3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05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期间累计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目标值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+200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底妆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色彩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护肤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" name="文本框 194"/>
          <p:cNvSpPr txBox="1"/>
          <p:nvPr>
            <p:custDataLst>
              <p:tags r:id="rId25"/>
            </p:custDataLst>
          </p:nvPr>
        </p:nvSpPr>
        <p:spPr>
          <a:xfrm>
            <a:off x="603250" y="1413319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费用预实分析</a:t>
            </a:r>
          </a:p>
        </p:txBody>
      </p:sp>
      <p:sp>
        <p:nvSpPr>
          <p:cNvPr id="194" name="圆角矩形 193"/>
          <p:cNvSpPr/>
          <p:nvPr>
            <p:custDataLst>
              <p:tags r:id="rId26"/>
            </p:custDataLst>
          </p:nvPr>
        </p:nvSpPr>
        <p:spPr>
          <a:xfrm>
            <a:off x="651510" y="14521815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" name="图表 4"/>
          <p:cNvGraphicFramePr/>
          <p:nvPr>
            <p:custDataLst>
              <p:tags r:id="rId27"/>
            </p:custDataLst>
          </p:nvPr>
        </p:nvGraphicFramePr>
        <p:xfrm>
          <a:off x="662305" y="14558010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7"/>
          </a:graphicData>
        </a:graphic>
      </p:graphicFrame>
      <p:sp>
        <p:nvSpPr>
          <p:cNvPr id="18" name="文本框 17"/>
          <p:cNvSpPr txBox="1"/>
          <p:nvPr>
            <p:custDataLst>
              <p:tags r:id="rId28"/>
            </p:custDataLst>
          </p:nvPr>
        </p:nvSpPr>
        <p:spPr>
          <a:xfrm>
            <a:off x="1228725" y="1695450"/>
            <a:ext cx="162877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</a:p>
        </p:txBody>
      </p:sp>
      <p:sp>
        <p:nvSpPr>
          <p:cNvPr id="19" name="文本框 18"/>
          <p:cNvSpPr txBox="1"/>
          <p:nvPr>
            <p:custDataLst>
              <p:tags r:id="rId29"/>
            </p:custDataLst>
          </p:nvPr>
        </p:nvSpPr>
        <p:spPr>
          <a:xfrm>
            <a:off x="1284605" y="2287270"/>
            <a:ext cx="1514475" cy="3721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10,500.00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</a:p>
        </p:txBody>
      </p:sp>
      <p:sp>
        <p:nvSpPr>
          <p:cNvPr id="23" name="圆角矩形 22"/>
          <p:cNvSpPr/>
          <p:nvPr>
            <p:custDataLst>
              <p:tags r:id="rId30"/>
            </p:custDataLst>
          </p:nvPr>
        </p:nvSpPr>
        <p:spPr>
          <a:xfrm>
            <a:off x="779145" y="1701165"/>
            <a:ext cx="259588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31"/>
            </p:custDataLst>
          </p:nvPr>
        </p:nvSpPr>
        <p:spPr>
          <a:xfrm>
            <a:off x="4968240" y="4425950"/>
            <a:ext cx="85407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</a:p>
        </p:txBody>
      </p:sp>
      <p:sp>
        <p:nvSpPr>
          <p:cNvPr id="97" name="圆角矩形 96"/>
          <p:cNvSpPr/>
          <p:nvPr>
            <p:custDataLst>
              <p:tags r:id="rId32"/>
            </p:custDataLst>
          </p:nvPr>
        </p:nvSpPr>
        <p:spPr>
          <a:xfrm>
            <a:off x="4719955" y="4410710"/>
            <a:ext cx="1332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33"/>
            </p:custDataLst>
          </p:nvPr>
        </p:nvSpPr>
        <p:spPr>
          <a:xfrm>
            <a:off x="4789805" y="4940935"/>
            <a:ext cx="115062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</a:p>
        </p:txBody>
      </p:sp>
      <p:sp>
        <p:nvSpPr>
          <p:cNvPr id="129" name="圆角矩形 128"/>
          <p:cNvSpPr/>
          <p:nvPr>
            <p:custDataLst>
              <p:tags r:id="rId34"/>
            </p:custDataLst>
          </p:nvPr>
        </p:nvSpPr>
        <p:spPr>
          <a:xfrm>
            <a:off x="3459480" y="3095625"/>
            <a:ext cx="2597785" cy="122809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35"/>
            </p:custDataLst>
          </p:nvPr>
        </p:nvSpPr>
        <p:spPr>
          <a:xfrm>
            <a:off x="565150" y="8340725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</a:p>
        </p:txBody>
      </p:sp>
      <p:sp>
        <p:nvSpPr>
          <p:cNvPr id="88" name="文本框 87"/>
          <p:cNvSpPr txBox="1"/>
          <p:nvPr>
            <p:custDataLst>
              <p:tags r:id="rId36"/>
            </p:custDataLst>
          </p:nvPr>
        </p:nvSpPr>
        <p:spPr>
          <a:xfrm>
            <a:off x="2324100" y="4425950"/>
            <a:ext cx="97091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</a:p>
        </p:txBody>
      </p:sp>
      <p:sp>
        <p:nvSpPr>
          <p:cNvPr id="89" name="圆角矩形 88"/>
          <p:cNvSpPr/>
          <p:nvPr>
            <p:custDataLst>
              <p:tags r:id="rId37"/>
            </p:custDataLst>
          </p:nvPr>
        </p:nvSpPr>
        <p:spPr>
          <a:xfrm>
            <a:off x="2142490" y="4410710"/>
            <a:ext cx="1235075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38"/>
            </p:custDataLst>
          </p:nvPr>
        </p:nvSpPr>
        <p:spPr>
          <a:xfrm>
            <a:off x="2165985" y="4932045"/>
            <a:ext cx="114427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8,000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</a:p>
        </p:txBody>
      </p:sp>
      <p:sp>
        <p:nvSpPr>
          <p:cNvPr id="31" name="文本框 30"/>
          <p:cNvSpPr txBox="1"/>
          <p:nvPr>
            <p:custDataLst>
              <p:tags r:id="rId39"/>
            </p:custDataLst>
          </p:nvPr>
        </p:nvSpPr>
        <p:spPr>
          <a:xfrm>
            <a:off x="3774440" y="442595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费比</a:t>
            </a:r>
          </a:p>
        </p:txBody>
      </p:sp>
      <p:sp>
        <p:nvSpPr>
          <p:cNvPr id="34" name="圆角矩形 33"/>
          <p:cNvSpPr/>
          <p:nvPr>
            <p:custDataLst>
              <p:tags r:id="rId40"/>
            </p:custDataLst>
          </p:nvPr>
        </p:nvSpPr>
        <p:spPr>
          <a:xfrm>
            <a:off x="3455035" y="4410710"/>
            <a:ext cx="1188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41"/>
            </p:custDataLst>
          </p:nvPr>
        </p:nvSpPr>
        <p:spPr>
          <a:xfrm>
            <a:off x="3520440" y="4940935"/>
            <a:ext cx="115062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>
            <p:custDataLst>
              <p:tags r:id="rId42"/>
            </p:custDataLst>
          </p:nvPr>
        </p:nvSpPr>
        <p:spPr>
          <a:xfrm>
            <a:off x="635000" y="5826125"/>
            <a:ext cx="10988040" cy="25285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9" name="图表 368"/>
          <p:cNvGraphicFramePr/>
          <p:nvPr>
            <p:custDataLst>
              <p:tags r:id="rId43"/>
            </p:custDataLst>
          </p:nvPr>
        </p:nvGraphicFramePr>
        <p:xfrm>
          <a:off x="796925" y="5826125"/>
          <a:ext cx="10751820" cy="2434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8"/>
          </a:graphicData>
        </a:graphic>
      </p:graphicFrame>
      <p:sp>
        <p:nvSpPr>
          <p:cNvPr id="370" name="文本框 369"/>
          <p:cNvSpPr txBox="1"/>
          <p:nvPr>
            <p:custDataLst>
              <p:tags r:id="rId44"/>
            </p:custDataLst>
          </p:nvPr>
        </p:nvSpPr>
        <p:spPr>
          <a:xfrm>
            <a:off x="784225" y="5992495"/>
            <a:ext cx="989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sp>
        <p:nvSpPr>
          <p:cNvPr id="372" name="文本框 371"/>
          <p:cNvSpPr txBox="1"/>
          <p:nvPr>
            <p:custDataLst>
              <p:tags r:id="rId45"/>
            </p:custDataLst>
          </p:nvPr>
        </p:nvSpPr>
        <p:spPr>
          <a:xfrm>
            <a:off x="10733405" y="6005195"/>
            <a:ext cx="7715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单位：元</a:t>
            </a:r>
          </a:p>
        </p:txBody>
      </p:sp>
      <p:sp>
        <p:nvSpPr>
          <p:cNvPr id="164" name="文本框 163"/>
          <p:cNvSpPr txBox="1"/>
          <p:nvPr>
            <p:custDataLst>
              <p:tags r:id="rId46"/>
            </p:custDataLst>
          </p:nvPr>
        </p:nvSpPr>
        <p:spPr>
          <a:xfrm>
            <a:off x="6056630" y="5405755"/>
            <a:ext cx="2293620" cy="3848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</a:p>
        </p:txBody>
      </p:sp>
      <p:sp>
        <p:nvSpPr>
          <p:cNvPr id="67" name="圆角矩形 66"/>
          <p:cNvSpPr/>
          <p:nvPr>
            <p:custDataLst>
              <p:tags r:id="rId47"/>
            </p:custDataLst>
          </p:nvPr>
        </p:nvSpPr>
        <p:spPr>
          <a:xfrm>
            <a:off x="3460115" y="1701800"/>
            <a:ext cx="259207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77" name="文本框 176"/>
          <p:cNvSpPr txBox="1"/>
          <p:nvPr>
            <p:custDataLst>
              <p:tags r:id="rId48"/>
            </p:custDataLst>
          </p:nvPr>
        </p:nvSpPr>
        <p:spPr>
          <a:xfrm>
            <a:off x="1342390" y="3094990"/>
            <a:ext cx="1616710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</a:p>
        </p:txBody>
      </p:sp>
      <p:sp>
        <p:nvSpPr>
          <p:cNvPr id="178" name="文本框 177"/>
          <p:cNvSpPr txBox="1"/>
          <p:nvPr>
            <p:custDataLst>
              <p:tags r:id="rId49"/>
            </p:custDataLst>
          </p:nvPr>
        </p:nvSpPr>
        <p:spPr>
          <a:xfrm>
            <a:off x="1400175" y="3653790"/>
            <a:ext cx="1514475" cy="3721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12,000.00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</a:p>
        </p:txBody>
      </p:sp>
      <p:graphicFrame>
        <p:nvGraphicFramePr>
          <p:cNvPr id="422" name="图表 421"/>
          <p:cNvGraphicFramePr/>
          <p:nvPr>
            <p:custDataLst>
              <p:tags r:id="rId50"/>
            </p:custDataLst>
          </p:nvPr>
        </p:nvGraphicFramePr>
        <p:xfrm>
          <a:off x="6129655" y="170180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9"/>
          </a:graphicData>
        </a:graphic>
      </p:graphicFrame>
      <p:sp>
        <p:nvSpPr>
          <p:cNvPr id="90" name="圆角矩形 89"/>
          <p:cNvSpPr/>
          <p:nvPr>
            <p:custDataLst>
              <p:tags r:id="rId51"/>
            </p:custDataLst>
          </p:nvPr>
        </p:nvSpPr>
        <p:spPr>
          <a:xfrm>
            <a:off x="6120130" y="170497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8" name="圆角矩形 57"/>
          <p:cNvSpPr/>
          <p:nvPr>
            <p:custDataLst>
              <p:tags r:id="rId52"/>
            </p:custDataLst>
          </p:nvPr>
        </p:nvSpPr>
        <p:spPr>
          <a:xfrm>
            <a:off x="6120130" y="372300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53"/>
            </p:custDataLst>
          </p:nvPr>
        </p:nvSpPr>
        <p:spPr>
          <a:xfrm>
            <a:off x="7588250" y="1704975"/>
            <a:ext cx="2682875" cy="3536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渠道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</a:p>
        </p:txBody>
      </p:sp>
      <p:sp>
        <p:nvSpPr>
          <p:cNvPr id="348" name="文本框 347"/>
          <p:cNvSpPr txBox="1"/>
          <p:nvPr>
            <p:custDataLst>
              <p:tags r:id="rId54"/>
            </p:custDataLst>
          </p:nvPr>
        </p:nvSpPr>
        <p:spPr>
          <a:xfrm>
            <a:off x="7550785" y="3723005"/>
            <a:ext cx="2682875" cy="3536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品类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</a:p>
        </p:txBody>
      </p:sp>
      <p:sp>
        <p:nvSpPr>
          <p:cNvPr id="62" name="文本框 61"/>
          <p:cNvSpPr txBox="1"/>
          <p:nvPr>
            <p:custDataLst>
              <p:tags r:id="rId55"/>
            </p:custDataLst>
          </p:nvPr>
        </p:nvSpPr>
        <p:spPr>
          <a:xfrm>
            <a:off x="10627360" y="3723005"/>
            <a:ext cx="8909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sp>
        <p:nvSpPr>
          <p:cNvPr id="63" name="文本框 62"/>
          <p:cNvSpPr txBox="1"/>
          <p:nvPr>
            <p:custDataLst>
              <p:tags r:id="rId56"/>
            </p:custDataLst>
          </p:nvPr>
        </p:nvSpPr>
        <p:spPr>
          <a:xfrm>
            <a:off x="10621645" y="1718310"/>
            <a:ext cx="8909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sp>
        <p:nvSpPr>
          <p:cNvPr id="64" name="文本框 63"/>
          <p:cNvSpPr txBox="1"/>
          <p:nvPr>
            <p:custDataLst>
              <p:tags r:id="rId57"/>
            </p:custDataLst>
          </p:nvPr>
        </p:nvSpPr>
        <p:spPr>
          <a:xfrm>
            <a:off x="5090160" y="1476756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652145" y="17516475"/>
            <a:ext cx="11015345" cy="2477770"/>
            <a:chOff x="1036" y="45547"/>
            <a:chExt cx="17347" cy="3902"/>
          </a:xfrm>
        </p:grpSpPr>
        <p:graphicFrame>
          <p:nvGraphicFramePr>
            <p:cNvPr id="66" name="图表 65"/>
            <p:cNvGraphicFramePr/>
            <p:nvPr>
              <p:custDataLst>
                <p:tags r:id="rId63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0"/>
            </a:graphicData>
          </a:graphic>
        </p:graphicFrame>
        <p:sp>
          <p:nvSpPr>
            <p:cNvPr id="74" name="圆角矩形 73"/>
            <p:cNvSpPr/>
            <p:nvPr>
              <p:custDataLst>
                <p:tags r:id="rId64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65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</a:p>
          </p:txBody>
        </p:sp>
      </p:grpSp>
      <p:sp>
        <p:nvSpPr>
          <p:cNvPr id="118" name="文本框 117"/>
          <p:cNvSpPr txBox="1"/>
          <p:nvPr>
            <p:custDataLst>
              <p:tags r:id="rId58"/>
            </p:custDataLst>
          </p:nvPr>
        </p:nvSpPr>
        <p:spPr>
          <a:xfrm>
            <a:off x="3553460" y="3119120"/>
            <a:ext cx="238696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目标差异</a:t>
            </a:r>
          </a:p>
        </p:txBody>
      </p:sp>
      <p:sp>
        <p:nvSpPr>
          <p:cNvPr id="119" name="文本框 118"/>
          <p:cNvSpPr txBox="1"/>
          <p:nvPr>
            <p:custDataLst>
              <p:tags r:id="rId59"/>
            </p:custDataLst>
          </p:nvPr>
        </p:nvSpPr>
        <p:spPr>
          <a:xfrm>
            <a:off x="4038600" y="3674745"/>
            <a:ext cx="1514475" cy="3721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+500.00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</a:p>
        </p:txBody>
      </p:sp>
      <p:graphicFrame>
        <p:nvGraphicFramePr>
          <p:cNvPr id="162" name="图表 161"/>
          <p:cNvGraphicFramePr/>
          <p:nvPr>
            <p:custDataLst>
              <p:tags r:id="rId60"/>
            </p:custDataLst>
          </p:nvPr>
        </p:nvGraphicFramePr>
        <p:xfrm>
          <a:off x="6050915" y="14521815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sp>
        <p:nvSpPr>
          <p:cNvPr id="163" name="圆角矩形 162"/>
          <p:cNvSpPr/>
          <p:nvPr>
            <p:custDataLst>
              <p:tags r:id="rId61"/>
            </p:custDataLst>
          </p:nvPr>
        </p:nvSpPr>
        <p:spPr>
          <a:xfrm>
            <a:off x="6050915" y="14523085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62"/>
            </p:custDataLst>
          </p:nvPr>
        </p:nvSpPr>
        <p:spPr>
          <a:xfrm>
            <a:off x="10795635" y="14878050"/>
            <a:ext cx="862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文本框 12"/>
          <p:cNvSpPr txBox="1"/>
          <p:nvPr>
            <p:custDataLst>
              <p:tags r:id="rId2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售后分析</a:t>
            </a:r>
          </a:p>
        </p:txBody>
      </p:sp>
      <p:grpSp>
        <p:nvGrpSpPr>
          <p:cNvPr id="81" name="Group 16"/>
          <p:cNvGrpSpPr/>
          <p:nvPr/>
        </p:nvGrpSpPr>
        <p:grpSpPr>
          <a:xfrm>
            <a:off x="458470" y="880520"/>
            <a:ext cx="2291715" cy="260350"/>
            <a:chOff x="9428626" y="548559"/>
            <a:chExt cx="2062214" cy="438633"/>
          </a:xfrm>
        </p:grpSpPr>
        <p:sp>
          <p:nvSpPr>
            <p:cNvPr id="82" name="Rectangle: Top Corners Rounded 17"/>
            <p:cNvSpPr/>
            <p:nvPr>
              <p:custDataLst>
                <p:tags r:id="rId57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</a:p>
          </p:txBody>
        </p:sp>
        <p:sp>
          <p:nvSpPr>
            <p:cNvPr id="83" name="Rectangle: Single Corner Rounded 18"/>
            <p:cNvSpPr/>
            <p:nvPr>
              <p:custDataLst>
                <p:tags r:id="rId58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Isosceles Triangle 19"/>
            <p:cNvSpPr/>
            <p:nvPr>
              <p:custDataLst>
                <p:tags r:id="rId59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5" name="TextBox 20"/>
            <p:cNvSpPr txBox="1"/>
            <p:nvPr>
              <p:custDataLst>
                <p:tags r:id="rId60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开始日期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86" name="Group 16"/>
          <p:cNvGrpSpPr/>
          <p:nvPr/>
        </p:nvGrpSpPr>
        <p:grpSpPr>
          <a:xfrm>
            <a:off x="2741930" y="883060"/>
            <a:ext cx="2291715" cy="260350"/>
            <a:chOff x="9428626" y="548559"/>
            <a:chExt cx="2062214" cy="438633"/>
          </a:xfrm>
        </p:grpSpPr>
        <p:sp>
          <p:nvSpPr>
            <p:cNvPr id="87" name="Rectangle: Top Corners Rounded 17"/>
            <p:cNvSpPr/>
            <p:nvPr>
              <p:custDataLst>
                <p:tags r:id="rId53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18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</a:p>
          </p:txBody>
        </p:sp>
        <p:sp>
          <p:nvSpPr>
            <p:cNvPr id="88" name="Rectangle: Single Corner Rounded 18"/>
            <p:cNvSpPr/>
            <p:nvPr>
              <p:custDataLst>
                <p:tags r:id="rId54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9" name="Isosceles Triangle 19"/>
            <p:cNvSpPr/>
            <p:nvPr>
              <p:custDataLst>
                <p:tags r:id="rId55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0" name="TextBox 20"/>
            <p:cNvSpPr txBox="1"/>
            <p:nvPr>
              <p:custDataLst>
                <p:tags r:id="rId56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截止日期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91" name="Group 16"/>
          <p:cNvGrpSpPr/>
          <p:nvPr/>
        </p:nvGrpSpPr>
        <p:grpSpPr>
          <a:xfrm>
            <a:off x="4977130" y="889410"/>
            <a:ext cx="2291715" cy="260350"/>
            <a:chOff x="9428626" y="548559"/>
            <a:chExt cx="2062214" cy="438633"/>
          </a:xfrm>
        </p:grpSpPr>
        <p:sp>
          <p:nvSpPr>
            <p:cNvPr id="92" name="Rectangle: Top Corners Rounded 17"/>
            <p:cNvSpPr/>
            <p:nvPr>
              <p:custDataLst>
                <p:tags r:id="rId49"/>
              </p:custDataLst>
            </p:nvPr>
          </p:nvSpPr>
          <p:spPr>
            <a:xfrm>
              <a:off x="10191896" y="634526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</a:p>
          </p:txBody>
        </p:sp>
        <p:sp>
          <p:nvSpPr>
            <p:cNvPr id="93" name="Rectangle: Single Corner Rounded 18"/>
            <p:cNvSpPr/>
            <p:nvPr>
              <p:custDataLst>
                <p:tags r:id="rId50"/>
              </p:custDataLst>
            </p:nvPr>
          </p:nvSpPr>
          <p:spPr>
            <a:xfrm>
              <a:off x="11206440" y="639126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Isosceles Triangle 19"/>
            <p:cNvSpPr/>
            <p:nvPr>
              <p:custDataLst>
                <p:tags r:id="rId51"/>
              </p:custDataLst>
            </p:nvPr>
          </p:nvSpPr>
          <p:spPr>
            <a:xfrm rot="10800000">
              <a:off x="11316631" y="755736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TextBox 20"/>
            <p:cNvSpPr txBox="1"/>
            <p:nvPr>
              <p:custDataLst>
                <p:tags r:id="rId52"/>
              </p:custDataLst>
            </p:nvPr>
          </p:nvSpPr>
          <p:spPr>
            <a:xfrm>
              <a:off x="9428626" y="548559"/>
              <a:ext cx="867410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19760" y="1216025"/>
            <a:ext cx="1553210" cy="965835"/>
            <a:chOff x="1066" y="1915"/>
            <a:chExt cx="2446" cy="1521"/>
          </a:xfrm>
        </p:grpSpPr>
        <p:sp>
          <p:nvSpPr>
            <p:cNvPr id="22" name="文本框 21"/>
            <p:cNvSpPr txBox="1"/>
            <p:nvPr>
              <p:custDataLst>
                <p:tags r:id="rId45"/>
              </p:custDataLst>
            </p:nvPr>
          </p:nvSpPr>
          <p:spPr>
            <a:xfrm>
              <a:off x="1414" y="1946"/>
              <a:ext cx="1747" cy="628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退款金额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46"/>
              </p:custDataLst>
            </p:nvPr>
          </p:nvSpPr>
          <p:spPr>
            <a:xfrm>
              <a:off x="2730" y="2156"/>
              <a:ext cx="73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</a:p>
          </p:txBody>
        </p:sp>
        <p:sp>
          <p:nvSpPr>
            <p:cNvPr id="28" name="圆角矩形 27"/>
            <p:cNvSpPr/>
            <p:nvPr>
              <p:custDataLst>
                <p:tags r:id="rId47"/>
              </p:custDataLst>
            </p:nvPr>
          </p:nvSpPr>
          <p:spPr>
            <a:xfrm>
              <a:off x="1066" y="1915"/>
              <a:ext cx="2446" cy="1521"/>
            </a:xfrm>
            <a:prstGeom prst="roundRect">
              <a:avLst>
                <a:gd name="adj" fmla="val 0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48"/>
              </p:custDataLst>
            </p:nvPr>
          </p:nvSpPr>
          <p:spPr>
            <a:xfrm>
              <a:off x="1525" y="2493"/>
              <a:ext cx="1145" cy="507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40.00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893695" y="1216025"/>
            <a:ext cx="1583690" cy="965200"/>
            <a:chOff x="4655" y="1915"/>
            <a:chExt cx="2494" cy="1520"/>
          </a:xfrm>
        </p:grpSpPr>
        <p:sp>
          <p:nvSpPr>
            <p:cNvPr id="31" name="文本框 30"/>
            <p:cNvSpPr txBox="1"/>
            <p:nvPr>
              <p:custDataLst>
                <p:tags r:id="rId41"/>
              </p:custDataLst>
            </p:nvPr>
          </p:nvSpPr>
          <p:spPr>
            <a:xfrm>
              <a:off x="5186" y="1950"/>
              <a:ext cx="1747" cy="867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退款率</a:t>
              </a:r>
            </a:p>
          </p:txBody>
        </p:sp>
        <p:sp>
          <p:nvSpPr>
            <p:cNvPr id="32" name="圆角矩形 31"/>
            <p:cNvSpPr/>
            <p:nvPr>
              <p:custDataLst>
                <p:tags r:id="rId42"/>
              </p:custDataLst>
            </p:nvPr>
          </p:nvSpPr>
          <p:spPr>
            <a:xfrm>
              <a:off x="4655" y="1915"/>
              <a:ext cx="2494" cy="1521"/>
            </a:xfrm>
            <a:prstGeom prst="roundRect">
              <a:avLst>
                <a:gd name="adj" fmla="val 0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43"/>
              </p:custDataLst>
            </p:nvPr>
          </p:nvSpPr>
          <p:spPr>
            <a:xfrm>
              <a:off x="5139" y="2482"/>
              <a:ext cx="1568" cy="70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10.00%</a:t>
              </a:r>
            </a:p>
          </p:txBody>
        </p:sp>
        <p:sp>
          <p:nvSpPr>
            <p:cNvPr id="119" name="文本框 118"/>
            <p:cNvSpPr txBox="1"/>
            <p:nvPr>
              <p:custDataLst>
                <p:tags r:id="rId44"/>
              </p:custDataLst>
            </p:nvPr>
          </p:nvSpPr>
          <p:spPr>
            <a:xfrm>
              <a:off x="6223" y="2096"/>
              <a:ext cx="73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000" i="1" dirty="0">
                  <a:latin typeface="微软雅黑" panose="020B0503020204020204" charset="-122"/>
                  <a:ea typeface="微软雅黑" panose="020B0503020204020204" charset="-122"/>
                </a:rPr>
                <a:t>%</a:t>
              </a:r>
            </a:p>
          </p:txBody>
        </p:sp>
      </p:grpSp>
      <p:sp>
        <p:nvSpPr>
          <p:cNvPr id="126" name="圆角矩形 125"/>
          <p:cNvSpPr/>
          <p:nvPr>
            <p:custDataLst>
              <p:tags r:id="rId3"/>
            </p:custDataLst>
          </p:nvPr>
        </p:nvSpPr>
        <p:spPr>
          <a:xfrm>
            <a:off x="624840" y="7966710"/>
            <a:ext cx="10891520" cy="2841625"/>
          </a:xfrm>
          <a:prstGeom prst="roundRect">
            <a:avLst>
              <a:gd name="adj" fmla="val 100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文本框 127"/>
          <p:cNvSpPr txBox="1"/>
          <p:nvPr>
            <p:custDataLst>
              <p:tags r:id="rId4"/>
            </p:custDataLst>
          </p:nvPr>
        </p:nvSpPr>
        <p:spPr>
          <a:xfrm>
            <a:off x="584200" y="7986395"/>
            <a:ext cx="2540000" cy="3251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渠道售后明细表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198110" y="1216025"/>
            <a:ext cx="1627505" cy="965200"/>
            <a:chOff x="6709" y="1916"/>
            <a:chExt cx="2563" cy="1520"/>
          </a:xfrm>
        </p:grpSpPr>
        <p:sp>
          <p:nvSpPr>
            <p:cNvPr id="70" name="文本框 69"/>
            <p:cNvSpPr txBox="1"/>
            <p:nvPr>
              <p:custDataLst>
                <p:tags r:id="rId36"/>
              </p:custDataLst>
            </p:nvPr>
          </p:nvSpPr>
          <p:spPr>
            <a:xfrm>
              <a:off x="7429" y="1964"/>
              <a:ext cx="1315" cy="7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正品</a:t>
              </a:r>
            </a:p>
          </p:txBody>
        </p:sp>
        <p:sp>
          <p:nvSpPr>
            <p:cNvPr id="71" name="文本框 70"/>
            <p:cNvSpPr txBox="1"/>
            <p:nvPr>
              <p:custDataLst>
                <p:tags r:id="rId37"/>
              </p:custDataLst>
            </p:nvPr>
          </p:nvSpPr>
          <p:spPr>
            <a:xfrm>
              <a:off x="8538" y="2151"/>
              <a:ext cx="73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</a:p>
          </p:txBody>
        </p:sp>
        <p:sp>
          <p:nvSpPr>
            <p:cNvPr id="73" name="圆角矩形 64"/>
            <p:cNvSpPr/>
            <p:nvPr>
              <p:custDataLst>
                <p:tags r:id="rId38"/>
              </p:custDataLst>
            </p:nvPr>
          </p:nvSpPr>
          <p:spPr>
            <a:xfrm>
              <a:off x="6709" y="1916"/>
              <a:ext cx="2540" cy="1520"/>
            </a:xfrm>
            <a:prstGeom prst="roundRect">
              <a:avLst>
                <a:gd name="adj" fmla="val 0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39"/>
              </p:custDataLst>
            </p:nvPr>
          </p:nvSpPr>
          <p:spPr>
            <a:xfrm>
              <a:off x="7430" y="2475"/>
              <a:ext cx="1043" cy="59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2.00</a:t>
              </a:r>
            </a:p>
          </p:txBody>
        </p:sp>
        <p:sp>
          <p:nvSpPr>
            <p:cNvPr id="98" name="文本框 97"/>
            <p:cNvSpPr txBox="1"/>
            <p:nvPr>
              <p:custDataLst>
                <p:tags r:id="rId40"/>
              </p:custDataLst>
            </p:nvPr>
          </p:nvSpPr>
          <p:spPr>
            <a:xfrm>
              <a:off x="6866" y="3001"/>
              <a:ext cx="238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货值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)          10.00</a:t>
              </a:r>
            </a:p>
          </p:txBody>
        </p:sp>
      </p:grpSp>
      <p:sp>
        <p:nvSpPr>
          <p:cNvPr id="21" name="Rectangle: Rounded Corners 156"/>
          <p:cNvSpPr/>
          <p:nvPr>
            <p:custDataLst>
              <p:tags r:id="rId5"/>
            </p:custDataLst>
          </p:nvPr>
        </p:nvSpPr>
        <p:spPr>
          <a:xfrm>
            <a:off x="629920" y="5097145"/>
            <a:ext cx="99250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</a:p>
        </p:txBody>
      </p:sp>
      <p:sp>
        <p:nvSpPr>
          <p:cNvPr id="24" name="Rectangle: Rounded Corners 156"/>
          <p:cNvSpPr/>
          <p:nvPr>
            <p:custDataLst>
              <p:tags r:id="rId6"/>
            </p:custDataLst>
          </p:nvPr>
        </p:nvSpPr>
        <p:spPr>
          <a:xfrm>
            <a:off x="1623060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</a:p>
        </p:txBody>
      </p:sp>
      <p:sp>
        <p:nvSpPr>
          <p:cNvPr id="25" name="Rectangle: Rounded Corners 156"/>
          <p:cNvSpPr/>
          <p:nvPr>
            <p:custDataLst>
              <p:tags r:id="rId7"/>
            </p:custDataLst>
          </p:nvPr>
        </p:nvSpPr>
        <p:spPr>
          <a:xfrm>
            <a:off x="2616835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</a:p>
        </p:txBody>
      </p:sp>
      <p:graphicFrame>
        <p:nvGraphicFramePr>
          <p:cNvPr id="50" name="图表 49"/>
          <p:cNvGraphicFramePr/>
          <p:nvPr>
            <p:custDataLst>
              <p:tags r:id="rId8"/>
            </p:custDataLst>
          </p:nvPr>
        </p:nvGraphicFramePr>
        <p:xfrm>
          <a:off x="629920" y="5419090"/>
          <a:ext cx="10879455" cy="247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2"/>
          </a:graphicData>
        </a:graphic>
      </p:graphicFrame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10607040" y="5586095"/>
            <a:ext cx="843280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r>
              <a:rPr lang="zh-CN" altLang="en-US" sz="9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624840" y="2295525"/>
            <a:ext cx="5419725" cy="2682875"/>
          </a:xfrm>
          <a:prstGeom prst="roundRect">
            <a:avLst>
              <a:gd name="adj" fmla="val 100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2" name="图表 41"/>
          <p:cNvGraphicFramePr/>
          <p:nvPr>
            <p:custDataLst>
              <p:tags r:id="rId11"/>
            </p:custDataLst>
          </p:nvPr>
        </p:nvGraphicFramePr>
        <p:xfrm>
          <a:off x="685165" y="2295525"/>
          <a:ext cx="5150485" cy="268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3"/>
          </a:graphicData>
        </a:graphic>
      </p:graphicFrame>
      <p:sp>
        <p:nvSpPr>
          <p:cNvPr id="2" name="文本框 1"/>
          <p:cNvSpPr txBox="1"/>
          <p:nvPr>
            <p:custDataLst>
              <p:tags r:id="rId12"/>
            </p:custDataLst>
          </p:nvPr>
        </p:nvSpPr>
        <p:spPr>
          <a:xfrm>
            <a:off x="5179060" y="2385060"/>
            <a:ext cx="800100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r>
              <a:rPr lang="zh-CN" altLang="en-US" sz="9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6096635" y="2294890"/>
            <a:ext cx="5420360" cy="2683510"/>
            <a:chOff x="1066" y="8295"/>
            <a:chExt cx="8536" cy="4226"/>
          </a:xfrm>
        </p:grpSpPr>
        <p:sp>
          <p:nvSpPr>
            <p:cNvPr id="36" name="圆角矩形 35"/>
            <p:cNvSpPr/>
            <p:nvPr>
              <p:custDataLst>
                <p:tags r:id="rId33"/>
              </p:custDataLst>
            </p:nvPr>
          </p:nvSpPr>
          <p:spPr>
            <a:xfrm>
              <a:off x="1066" y="8295"/>
              <a:ext cx="8536" cy="4225"/>
            </a:xfrm>
            <a:prstGeom prst="roundRect">
              <a:avLst>
                <a:gd name="adj" fmla="val 100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3" name="图表 2"/>
            <p:cNvGraphicFramePr/>
            <p:nvPr>
              <p:custDataLst>
                <p:tags r:id="rId34"/>
              </p:custDataLst>
            </p:nvPr>
          </p:nvGraphicFramePr>
          <p:xfrm>
            <a:off x="1066" y="8295"/>
            <a:ext cx="8536" cy="4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4"/>
            </a:graphicData>
          </a:graphic>
        </p:graphicFrame>
        <p:sp>
          <p:nvSpPr>
            <p:cNvPr id="4" name="文本框 3"/>
            <p:cNvSpPr txBox="1"/>
            <p:nvPr>
              <p:custDataLst>
                <p:tags r:id="rId35"/>
              </p:custDataLst>
            </p:nvPr>
          </p:nvSpPr>
          <p:spPr>
            <a:xfrm>
              <a:off x="8342" y="8546"/>
              <a:ext cx="1260" cy="362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r>
                <a:rPr lang="zh-CN" altLang="en-US" sz="9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单位：万件</a:t>
              </a:r>
            </a:p>
          </p:txBody>
        </p:sp>
      </p:grpSp>
      <p:sp>
        <p:nvSpPr>
          <p:cNvPr id="40" name="圆角矩形 39"/>
          <p:cNvSpPr/>
          <p:nvPr>
            <p:custDataLst>
              <p:tags r:id="rId13"/>
            </p:custDataLst>
          </p:nvPr>
        </p:nvSpPr>
        <p:spPr>
          <a:xfrm>
            <a:off x="634365" y="5402580"/>
            <a:ext cx="10892155" cy="2487295"/>
          </a:xfrm>
          <a:prstGeom prst="roundRect">
            <a:avLst>
              <a:gd name="adj" fmla="val 100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Rectangle: Rounded Corners 156"/>
          <p:cNvSpPr/>
          <p:nvPr>
            <p:custDataLst>
              <p:tags r:id="rId14"/>
            </p:custDataLst>
          </p:nvPr>
        </p:nvSpPr>
        <p:spPr>
          <a:xfrm>
            <a:off x="3610610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</a:p>
        </p:txBody>
      </p:sp>
      <p:sp>
        <p:nvSpPr>
          <p:cNvPr id="43" name="Rectangle: Rounded Corners 156"/>
          <p:cNvSpPr/>
          <p:nvPr>
            <p:custDataLst>
              <p:tags r:id="rId15"/>
            </p:custDataLst>
          </p:nvPr>
        </p:nvSpPr>
        <p:spPr>
          <a:xfrm>
            <a:off x="4604385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</a:p>
        </p:txBody>
      </p:sp>
      <p:sp>
        <p:nvSpPr>
          <p:cNvPr id="44" name="Rectangle: Rounded Corners 156"/>
          <p:cNvSpPr/>
          <p:nvPr>
            <p:custDataLst>
              <p:tags r:id="rId16"/>
            </p:custDataLst>
          </p:nvPr>
        </p:nvSpPr>
        <p:spPr>
          <a:xfrm>
            <a:off x="5598160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</a:p>
        </p:txBody>
      </p:sp>
      <p:sp>
        <p:nvSpPr>
          <p:cNvPr id="45" name="Rectangle: Rounded Corners 156"/>
          <p:cNvSpPr/>
          <p:nvPr>
            <p:custDataLst>
              <p:tags r:id="rId17"/>
            </p:custDataLst>
          </p:nvPr>
        </p:nvSpPr>
        <p:spPr>
          <a:xfrm>
            <a:off x="6591935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综合渠道</a:t>
            </a:r>
          </a:p>
        </p:txBody>
      </p:sp>
      <p:sp>
        <p:nvSpPr>
          <p:cNvPr id="46" name="Rectangle: Rounded Corners 156"/>
          <p:cNvSpPr/>
          <p:nvPr>
            <p:custDataLst>
              <p:tags r:id="rId18"/>
            </p:custDataLst>
          </p:nvPr>
        </p:nvSpPr>
        <p:spPr>
          <a:xfrm>
            <a:off x="7585710" y="5097145"/>
            <a:ext cx="993775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拼多多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546340" y="1216025"/>
            <a:ext cx="1627505" cy="965200"/>
            <a:chOff x="6709" y="1916"/>
            <a:chExt cx="2563" cy="1520"/>
          </a:xfrm>
        </p:grpSpPr>
        <p:sp>
          <p:nvSpPr>
            <p:cNvPr id="8" name="文本框 7"/>
            <p:cNvSpPr txBox="1"/>
            <p:nvPr>
              <p:custDataLst>
                <p:tags r:id="rId28"/>
              </p:custDataLst>
            </p:nvPr>
          </p:nvSpPr>
          <p:spPr>
            <a:xfrm>
              <a:off x="7429" y="1964"/>
              <a:ext cx="1315" cy="7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次品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29"/>
              </p:custDataLst>
            </p:nvPr>
          </p:nvSpPr>
          <p:spPr>
            <a:xfrm>
              <a:off x="8538" y="2151"/>
              <a:ext cx="73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</a:p>
          </p:txBody>
        </p:sp>
        <p:sp>
          <p:nvSpPr>
            <p:cNvPr id="16" name="圆角矩形 64"/>
            <p:cNvSpPr/>
            <p:nvPr>
              <p:custDataLst>
                <p:tags r:id="rId30"/>
              </p:custDataLst>
            </p:nvPr>
          </p:nvSpPr>
          <p:spPr>
            <a:xfrm>
              <a:off x="6709" y="1916"/>
              <a:ext cx="2540" cy="1520"/>
            </a:xfrm>
            <a:prstGeom prst="roundRect">
              <a:avLst>
                <a:gd name="adj" fmla="val 0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1"/>
              </p:custDataLst>
            </p:nvPr>
          </p:nvSpPr>
          <p:spPr>
            <a:xfrm>
              <a:off x="7428" y="2475"/>
              <a:ext cx="1045" cy="59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0.80</a:t>
              </a:r>
            </a:p>
          </p:txBody>
        </p:sp>
        <p:sp>
          <p:nvSpPr>
            <p:cNvPr id="19" name="文本框 18"/>
            <p:cNvSpPr txBox="1"/>
            <p:nvPr>
              <p:custDataLst>
                <p:tags r:id="rId32"/>
              </p:custDataLst>
            </p:nvPr>
          </p:nvSpPr>
          <p:spPr>
            <a:xfrm>
              <a:off x="6866" y="3001"/>
              <a:ext cx="238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货值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)          2.00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894570" y="1216025"/>
            <a:ext cx="1627505" cy="965200"/>
            <a:chOff x="6709" y="1916"/>
            <a:chExt cx="2563" cy="1520"/>
          </a:xfrm>
        </p:grpSpPr>
        <p:sp>
          <p:nvSpPr>
            <p:cNvPr id="26" name="文本框 25"/>
            <p:cNvSpPr txBox="1"/>
            <p:nvPr>
              <p:custDataLst>
                <p:tags r:id="rId23"/>
              </p:custDataLst>
            </p:nvPr>
          </p:nvSpPr>
          <p:spPr>
            <a:xfrm>
              <a:off x="7329" y="1964"/>
              <a:ext cx="1415" cy="7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二等品</a:t>
              </a:r>
            </a:p>
          </p:txBody>
        </p:sp>
        <p:sp>
          <p:nvSpPr>
            <p:cNvPr id="30" name="文本框 29"/>
            <p:cNvSpPr txBox="1"/>
            <p:nvPr>
              <p:custDataLst>
                <p:tags r:id="rId24"/>
              </p:custDataLst>
            </p:nvPr>
          </p:nvSpPr>
          <p:spPr>
            <a:xfrm>
              <a:off x="8538" y="2151"/>
              <a:ext cx="734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 i="1" dirty="0"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</a:p>
          </p:txBody>
        </p:sp>
        <p:sp>
          <p:nvSpPr>
            <p:cNvPr id="34" name="圆角矩形 64"/>
            <p:cNvSpPr/>
            <p:nvPr>
              <p:custDataLst>
                <p:tags r:id="rId25"/>
              </p:custDataLst>
            </p:nvPr>
          </p:nvSpPr>
          <p:spPr>
            <a:xfrm>
              <a:off x="6709" y="1916"/>
              <a:ext cx="2540" cy="1520"/>
            </a:xfrm>
            <a:prstGeom prst="roundRect">
              <a:avLst>
                <a:gd name="adj" fmla="val 0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26"/>
              </p:custDataLst>
            </p:nvPr>
          </p:nvSpPr>
          <p:spPr>
            <a:xfrm>
              <a:off x="7433" y="2475"/>
              <a:ext cx="1040" cy="59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063B49"/>
                  </a:solidFill>
                  <a:latin typeface="微软雅黑" panose="020B0503020204020204" charset="-122"/>
                  <a:ea typeface="微软雅黑" panose="020B0503020204020204" charset="-122"/>
                </a:rPr>
                <a:t>0.50</a:t>
              </a:r>
            </a:p>
          </p:txBody>
        </p:sp>
        <p:sp>
          <p:nvSpPr>
            <p:cNvPr id="38" name="文本框 37"/>
            <p:cNvSpPr txBox="1"/>
            <p:nvPr>
              <p:custDataLst>
                <p:tags r:id="rId27"/>
              </p:custDataLst>
            </p:nvPr>
          </p:nvSpPr>
          <p:spPr>
            <a:xfrm>
              <a:off x="6866" y="3001"/>
              <a:ext cx="238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货值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r>
                <a:rPr lang="en-US" altLang="zh-CN" sz="1000">
                  <a:solidFill>
                    <a:sysClr val="window" lastClr="FFFFFF">
                      <a:lumMod val="50000"/>
                    </a:sysClr>
                  </a:solidFill>
                  <a:latin typeface="微软雅黑" panose="020B0503020204020204" charset="-122"/>
                  <a:ea typeface="微软雅黑" panose="020B0503020204020204" charset="-122"/>
                </a:rPr>
                <a:t>)          1.00</a:t>
              </a:r>
            </a:p>
          </p:txBody>
        </p:sp>
      </p:grpSp>
      <p:graphicFrame>
        <p:nvGraphicFramePr>
          <p:cNvPr id="51" name="表格 152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697865" y="8311515"/>
          <a:ext cx="10753090" cy="241871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827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3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退款类别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退款节点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仅退款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发货前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仅退款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仅退款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发货前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退款退货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抖音达播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退款退货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抖音渠道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抖音货架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退款退货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" name="圆角矩形 52"/>
          <p:cNvSpPr/>
          <p:nvPr>
            <p:custDataLst>
              <p:tags r:id="rId20"/>
            </p:custDataLst>
          </p:nvPr>
        </p:nvSpPr>
        <p:spPr>
          <a:xfrm>
            <a:off x="629920" y="10878185"/>
            <a:ext cx="10891520" cy="2841625"/>
          </a:xfrm>
          <a:prstGeom prst="roundRect">
            <a:avLst>
              <a:gd name="adj" fmla="val 100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4" name="表格 152"/>
          <p:cNvGraphicFramePr>
            <a:graphicFrameLocks noGrp="1"/>
          </p:cNvGraphicFramePr>
          <p:nvPr>
            <p:custDataLst>
              <p:tags r:id="rId21"/>
            </p:custDataLst>
          </p:nvPr>
        </p:nvGraphicFramePr>
        <p:xfrm>
          <a:off x="697865" y="11210290"/>
          <a:ext cx="10752455" cy="240919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5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4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62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退款类别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退款节点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雕花口红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仅退款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发货前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唇纱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仅退款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翡翠气垫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仅退款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发货前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持妆粉底液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退款退货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持妆粉底液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退款退货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彩妆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石斛粉底液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退款退货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发货后签收前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0" name="文本框 59"/>
          <p:cNvSpPr txBox="1"/>
          <p:nvPr>
            <p:custDataLst>
              <p:tags r:id="rId22"/>
            </p:custDataLst>
          </p:nvPr>
        </p:nvSpPr>
        <p:spPr>
          <a:xfrm>
            <a:off x="598805" y="10885170"/>
            <a:ext cx="2540000" cy="3251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品类售后明细表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Y2NTI5NTMwM2Q1MDRiNWRjZWQ0ZDFkZDAzNzU0OTMifQ=="/>
  <p:tag name="KSO_WPP_MARK_KEY" val="eb4633ff-7a9c-46a5-a719-408909b830d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2420ce6-0aac-48c7-a938-eedf2c100988}"/>
  <p:tag name="KSO_WM_BEAUTIFY_FLAG" val=""/>
  <p:tag name="TABLE_ENDDRAG_ORIGIN_RECT" val="847*170"/>
  <p:tag name="TABLE_ENDDRAG_RECT" val="63*962*847*17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f2ef06-3529-43a2-9ed1-1335a20541b0}"/>
  <p:tag name="KSO_WM_BEAUTIFY_FLAG" val=""/>
  <p:tag name="TABLE_ENDDRAG_ORIGIN_RECT" val="825*185"/>
  <p:tag name="TABLE_ENDDRAG_RECT" val="68*488*825*18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59a7d55-06a8-455a-9f26-ca7505aa1ada}"/>
  <p:tag name="KSO_WM_BEAUTIFY_FLAG" val=""/>
  <p:tag name="TABLE_ENDDRAG_ORIGIN_RECT" val="825*142"/>
  <p:tag name="TABLE_ENDDRAG_RECT" val="68*730*825*14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f2ef06-3529-43a2-9ed1-1335a20541b0}"/>
  <p:tag name="KSO_WM_BEAUTIFY_FLAG" val=""/>
  <p:tag name="TABLE_ENDDRAG_ORIGIN_RECT" val="845*166"/>
  <p:tag name="TABLE_ENDDRAG_RECT" val="58*740*845*166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ef3b04-4785-42eb-a72e-9bd9859bd295}"/>
  <p:tag name="KSO_WM_BEAUTIFY_FLAG" val=""/>
  <p:tag name="TABLE_ENDDRAG_ORIGIN_RECT" val="844*159"/>
  <p:tag name="TABLE_ENDDRAG_RECT" val="59*943*844*159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f2ef06-3529-43a2-9ed1-1335a20541b0}"/>
  <p:tag name="KSO_WM_BEAUTIFY_FLAG" val=""/>
  <p:tag name="TABLE_ENDDRAG_ORIGIN_RECT" val="846*189"/>
  <p:tag name="TABLE_ENDDRAG_RECT" val="59*680*846*189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2b60d33-e23d-4c40-a8f3-5873a5f00c86}"/>
  <p:tag name="KSO_WM_BEAUTIFY_FLAG" val=""/>
  <p:tag name="TABLE_ENDDRAG_ORIGIN_RECT" val="846*189"/>
  <p:tag name="TABLE_ENDDRAG_RECT" val="59*680*846*189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1355</Words>
  <Application>Microsoft Office PowerPoint</Application>
  <PresentationFormat>自定义</PresentationFormat>
  <Paragraphs>474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仿宋</vt:lpstr>
      <vt:lpstr>华文楷体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陈炜</dc:creator>
  <cp:lastModifiedBy>炜 陈</cp:lastModifiedBy>
  <cp:revision>221</cp:revision>
  <dcterms:created xsi:type="dcterms:W3CDTF">2019-06-19T02:08:00Z</dcterms:created>
  <dcterms:modified xsi:type="dcterms:W3CDTF">2023-07-12T02:05:38Z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D46B90972E8E4E1A89C2EADB2E0292E1_13</vt:lpwstr>
  </property>
</Properties>
</file>