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</p:sldIdLst>
  <p:sldSz cx="12192000" cy="5039995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AD2A0"/>
    <a:srgbClr val="FFFFFF"/>
    <a:srgbClr val="9DC3E6"/>
    <a:srgbClr val="D75824"/>
    <a:srgbClr val="327187"/>
    <a:srgbClr val="48B8B3"/>
    <a:srgbClr val="D9B992"/>
    <a:srgbClr val="063B49"/>
    <a:srgbClr val="F18870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9" autoAdjust="0"/>
    <p:restoredTop sz="58751" autoAdjust="0"/>
  </p:normalViewPr>
  <p:slideViewPr>
    <p:cSldViewPr snapToGrid="0" showGuides="1">
      <p:cViewPr>
        <p:scale>
          <a:sx n="75" d="100"/>
          <a:sy n="75" d="100"/>
        </p:scale>
        <p:origin x="786" y="-423"/>
      </p:cViewPr>
      <p:guideLst>
        <p:guide orient="horz" pos="15928"/>
        <p:guide pos="385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484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package" Target="../embeddings/Workbook11.xlsx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package" Target="../embeddings/Workbook12.xlsx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package" Target="../embeddings/Workbook13.xlsx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package" Target="../embeddings/Workbook14.xlsx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package" Target="../embeddings/Workbook15.xlsx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package" Target="../embeddings/Workbook16.xlsx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ColorStyle" Target="colors17.xml"/><Relationship Id="rId2" Type="http://schemas.microsoft.com/office/2011/relationships/chartStyle" Target="style17.xml"/><Relationship Id="rId1" Type="http://schemas.openxmlformats.org/officeDocument/2006/relationships/package" Target="../embeddings/Workbook17.xlsx"/></Relationships>
</file>

<file path=ppt/charts/_rels/chart18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package" Target="../embeddings/Workbook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94674982010074"/>
          <c:y val="0.183558558558559"/>
          <c:w val="0.841904533461262"/>
          <c:h val="0.5601351351351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月累计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1050</c:v>
                </c:pt>
                <c:pt idx="1">
                  <c:v>2000</c:v>
                </c:pt>
                <c:pt idx="2">
                  <c:v>800</c:v>
                </c:pt>
                <c:pt idx="3">
                  <c:v>1800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目标值</c:v>
                </c:pt>
              </c:strCache>
            </c:strRef>
          </c:tx>
          <c:spPr>
            <a:solidFill>
              <a:srgbClr val="327187"/>
            </a:solidFill>
            <a:ln w="28575" cap="rnd">
              <a:solidFill>
                <a:srgbClr val="327187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Sheet1!$D$2:$D$7</c:f>
              <c:numCache>
                <c:formatCode>0_ </c:formatCode>
                <c:ptCount val="6"/>
                <c:pt idx="0">
                  <c:v>1000</c:v>
                </c:pt>
                <c:pt idx="1">
                  <c:v>2000</c:v>
                </c:pt>
                <c:pt idx="2">
                  <c:v>1000</c:v>
                </c:pt>
                <c:pt idx="3">
                  <c:v>2000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  <c:min val="0.5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31232091690544"/>
          <c:y val="0.0231481481481481"/>
          <c:w val="0.885386819484241"/>
          <c:h val="0.95370370370370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预算完成率</c:v>
                </c:pt>
              </c:strCache>
            </c:strRef>
          </c:tx>
          <c:spPr>
            <a:solidFill>
              <a:srgbClr val="92D050"/>
            </a:solidFill>
          </c:spPr>
          <c:explosion val="0"/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numRef>
              <c:f>Sheet1!$A$2:$A$3</c:f>
              <c:numCache>
                <c:formatCode>yyyy/m/d</c:formatCode>
                <c:ptCount val="2"/>
                <c:pt idx="0" c:formatCode="yyyy/m/d">
                  <c:v>44941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1.6864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MTD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营销费用分类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46527527887729"/>
          <c:y val="0.114772945008622"/>
          <c:w val="0.83188197193235"/>
          <c:h val="0.7575014370569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营销费用</c:v>
                </c:pt>
              </c:strCache>
            </c:strRef>
          </c:tx>
          <c:spPr>
            <a:solidFill>
              <a:srgbClr val="FAD2A0"/>
            </a:solidFill>
            <a:ln w="19050">
              <a:solidFill>
                <a:sysClr val="window" lastClr="FFFFFF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ysClr val="windowText" lastClr="000000">
                          <a:lumMod val="35000"/>
                          <a:lumOff val="65000"/>
                        </a:sys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渠道推广</c:v>
                </c:pt>
                <c:pt idx="1">
                  <c:v>市场推广</c:v>
                </c:pt>
                <c:pt idx="2">
                  <c:v>加热</c:v>
                </c:pt>
                <c:pt idx="3">
                  <c:v>媒介推广</c:v>
                </c:pt>
                <c:pt idx="4">
                  <c:v>品牌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120</c:v>
                </c:pt>
                <c:pt idx="2">
                  <c:v>150</c:v>
                </c:pt>
                <c:pt idx="3">
                  <c:v>180</c:v>
                </c:pt>
                <c:pt idx="4">
                  <c:v>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66047946"/>
        <c:axId val="66321554"/>
      </c:barChart>
      <c:catAx>
        <c:axId val="66604794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321554"/>
        <c:crosses val="autoZero"/>
        <c:auto val="1"/>
        <c:lblAlgn val="ctr"/>
        <c:lblOffset val="100"/>
        <c:noMultiLvlLbl val="0"/>
      </c:catAx>
      <c:valAx>
        <c:axId val="66321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604794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退款前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GMV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与件单价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443651647708284"/>
          <c:y val="0.014717043573976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55657925820931"/>
          <c:y val="0.230963753863445"/>
          <c:w val="0.907488778643988"/>
          <c:h val="0.4373700477662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退款前GMV</c:v>
                </c:pt>
              </c:strCache>
            </c:strRef>
          </c:tx>
          <c:spPr>
            <a:solidFill>
              <a:srgbClr val="D75824"/>
            </a:solidFill>
            <a:ln w="28575" cap="rnd">
              <a:solidFill>
                <a:srgbClr val="D75824"/>
              </a:solidFill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Sheet1!$A$2:$A$32</c:f>
              <c:strCache>
                <c:ptCount val="31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  <c:pt idx="30">
                  <c:v>31日</c:v>
                </c:pt>
              </c:strCache>
            </c:strRef>
          </c:cat>
          <c:val>
            <c:numRef>
              <c:f>Sheet1!$B$2:$B$32</c:f>
              <c:numCache>
                <c:formatCode>#,##0.00_ </c:formatCode>
                <c:ptCount val="31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8</c:v>
                </c:pt>
                <c:pt idx="9">
                  <c:v>9</c:v>
                </c:pt>
                <c:pt idx="10">
                  <c:v>7</c:v>
                </c:pt>
                <c:pt idx="11">
                  <c:v>8</c:v>
                </c:pt>
                <c:pt idx="12">
                  <c:v>8.8</c:v>
                </c:pt>
                <c:pt idx="13">
                  <c:v>9.6</c:v>
                </c:pt>
                <c:pt idx="14">
                  <c:v>8.7</c:v>
                </c:pt>
                <c:pt idx="15">
                  <c:v>8.6</c:v>
                </c:pt>
                <c:pt idx="16">
                  <c:v>8.1</c:v>
                </c:pt>
                <c:pt idx="17">
                  <c:v>7.8</c:v>
                </c:pt>
                <c:pt idx="18">
                  <c:v>7.9</c:v>
                </c:pt>
                <c:pt idx="19">
                  <c:v>7.7</c:v>
                </c:pt>
                <c:pt idx="20">
                  <c:v>6.8</c:v>
                </c:pt>
                <c:pt idx="21">
                  <c:v>6.6</c:v>
                </c:pt>
                <c:pt idx="22">
                  <c:v>6</c:v>
                </c:pt>
                <c:pt idx="23">
                  <c:v>8</c:v>
                </c:pt>
                <c:pt idx="24">
                  <c:v>8.8</c:v>
                </c:pt>
                <c:pt idx="25">
                  <c:v>7</c:v>
                </c:pt>
                <c:pt idx="26">
                  <c:v>6.7</c:v>
                </c:pt>
                <c:pt idx="27">
                  <c:v>5.7</c:v>
                </c:pt>
                <c:pt idx="28">
                  <c:v>5</c:v>
                </c:pt>
                <c:pt idx="29">
                  <c:v>3.52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件单价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elete val="1"/>
          </c:dLbls>
          <c:cat>
            <c:strRef>
              <c:f>Sheet1!$A$2:$A$32</c:f>
              <c:strCache>
                <c:ptCount val="31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  <c:pt idx="30">
                  <c:v>31日</c:v>
                </c:pt>
              </c:strCache>
            </c:strRef>
          </c:cat>
          <c:val>
            <c:numRef>
              <c:f>Sheet1!$C$2:$C$32</c:f>
              <c:numCache>
                <c:formatCode>#,##0.00_ </c:formatCode>
                <c:ptCount val="3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90</c:v>
                </c:pt>
                <c:pt idx="6">
                  <c:v>88</c:v>
                </c:pt>
                <c:pt idx="7">
                  <c:v>85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  <c:pt idx="12">
                  <c:v>96</c:v>
                </c:pt>
                <c:pt idx="13">
                  <c:v>96</c:v>
                </c:pt>
                <c:pt idx="14">
                  <c:v>96</c:v>
                </c:pt>
                <c:pt idx="15">
                  <c:v>96</c:v>
                </c:pt>
                <c:pt idx="16">
                  <c:v>96</c:v>
                </c:pt>
                <c:pt idx="17">
                  <c:v>96</c:v>
                </c:pt>
                <c:pt idx="18">
                  <c:v>96</c:v>
                </c:pt>
                <c:pt idx="19">
                  <c:v>96</c:v>
                </c:pt>
                <c:pt idx="20">
                  <c:v>98</c:v>
                </c:pt>
                <c:pt idx="21">
                  <c:v>98</c:v>
                </c:pt>
                <c:pt idx="22">
                  <c:v>98</c:v>
                </c:pt>
                <c:pt idx="23">
                  <c:v>98</c:v>
                </c:pt>
                <c:pt idx="24">
                  <c:v>98</c:v>
                </c:pt>
                <c:pt idx="25">
                  <c:v>102</c:v>
                </c:pt>
                <c:pt idx="26">
                  <c:v>102</c:v>
                </c:pt>
                <c:pt idx="27">
                  <c:v>102</c:v>
                </c:pt>
                <c:pt idx="28">
                  <c:v>102</c:v>
                </c:pt>
                <c:pt idx="29">
                  <c:v>102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  <c:max val="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  <c:majorUnit val="3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</c:scaling>
        <c:delete val="0"/>
        <c:axPos val="r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市场大盘趋势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483934873078791"/>
          <c:y val="0.0083939563514269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15641600755519"/>
          <c:y val="0.16953125"/>
          <c:w val="0.914544130958526"/>
          <c:h val="0.5330937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行业GMV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delete val="1"/>
          </c:dLbls>
          <c:cat>
            <c:strRef>
              <c:f>Sheet1!$A$2:$A$32</c:f>
              <c:strCache>
                <c:ptCount val="31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  <c:pt idx="30">
                  <c:v>31日</c:v>
                </c:pt>
              </c:strCache>
            </c:strRef>
          </c:cat>
          <c:val>
            <c:numRef>
              <c:f>Sheet1!$B$2:$B$32</c:f>
              <c:numCache>
                <c:formatCode>#,##0.00_ </c:formatCode>
                <c:ptCount val="31"/>
                <c:pt idx="0">
                  <c:v>200</c:v>
                </c:pt>
                <c:pt idx="1">
                  <c:v>220</c:v>
                </c:pt>
                <c:pt idx="2">
                  <c:v>250</c:v>
                </c:pt>
                <c:pt idx="3">
                  <c:v>250</c:v>
                </c:pt>
                <c:pt idx="4">
                  <c:v>255</c:v>
                </c:pt>
                <c:pt idx="5">
                  <c:v>258</c:v>
                </c:pt>
                <c:pt idx="6">
                  <c:v>260</c:v>
                </c:pt>
                <c:pt idx="7">
                  <c:v>268</c:v>
                </c:pt>
                <c:pt idx="8">
                  <c:v>270</c:v>
                </c:pt>
                <c:pt idx="9">
                  <c:v>280</c:v>
                </c:pt>
                <c:pt idx="10">
                  <c:v>290</c:v>
                </c:pt>
                <c:pt idx="11">
                  <c:v>300</c:v>
                </c:pt>
                <c:pt idx="12">
                  <c:v>290</c:v>
                </c:pt>
                <c:pt idx="13">
                  <c:v>285</c:v>
                </c:pt>
                <c:pt idx="14">
                  <c:v>280</c:v>
                </c:pt>
                <c:pt idx="15">
                  <c:v>278</c:v>
                </c:pt>
                <c:pt idx="16">
                  <c:v>270</c:v>
                </c:pt>
                <c:pt idx="17">
                  <c:v>250</c:v>
                </c:pt>
                <c:pt idx="18">
                  <c:v>250</c:v>
                </c:pt>
                <c:pt idx="19">
                  <c:v>245</c:v>
                </c:pt>
                <c:pt idx="20">
                  <c:v>240</c:v>
                </c:pt>
                <c:pt idx="21">
                  <c:v>260</c:v>
                </c:pt>
                <c:pt idx="22">
                  <c:v>270</c:v>
                </c:pt>
                <c:pt idx="23">
                  <c:v>270</c:v>
                </c:pt>
                <c:pt idx="24">
                  <c:v>270</c:v>
                </c:pt>
                <c:pt idx="25">
                  <c:v>280</c:v>
                </c:pt>
                <c:pt idx="26">
                  <c:v>280</c:v>
                </c:pt>
                <c:pt idx="27">
                  <c:v>290</c:v>
                </c:pt>
                <c:pt idx="28">
                  <c:v>288</c:v>
                </c:pt>
                <c:pt idx="29">
                  <c:v>300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花西子GMV</c:v>
                </c:pt>
              </c:strCache>
            </c:strRef>
          </c:tx>
          <c:spPr>
            <a:ln w="28575" cap="rnd">
              <a:solidFill>
                <a:srgbClr val="D758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D75824"/>
              </a:solidFill>
              <a:ln w="9525">
                <a:solidFill>
                  <a:srgbClr val="D75824"/>
                </a:solidFill>
              </a:ln>
              <a:effectLst/>
            </c:spPr>
          </c:marker>
          <c:dLbls>
            <c:delete val="1"/>
          </c:dLbls>
          <c:cat>
            <c:strRef>
              <c:f>Sheet1!$A$2:$A$32</c:f>
              <c:strCache>
                <c:ptCount val="31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  <c:pt idx="30">
                  <c:v>31日</c:v>
                </c:pt>
              </c:strCache>
            </c:strRef>
          </c:cat>
          <c:val>
            <c:numRef>
              <c:f>Sheet1!$C$2:$C$32</c:f>
              <c:numCache>
                <c:formatCode>#,##0.00_ </c:formatCode>
                <c:ptCount val="31"/>
                <c:pt idx="0">
                  <c:v>80</c:v>
                </c:pt>
                <c:pt idx="1">
                  <c:v>85</c:v>
                </c:pt>
                <c:pt idx="2">
                  <c:v>100</c:v>
                </c:pt>
                <c:pt idx="3">
                  <c:v>110</c:v>
                </c:pt>
                <c:pt idx="4">
                  <c:v>105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110</c:v>
                </c:pt>
                <c:pt idx="9">
                  <c:v>110</c:v>
                </c:pt>
                <c:pt idx="10">
                  <c:v>110</c:v>
                </c:pt>
                <c:pt idx="11">
                  <c:v>120</c:v>
                </c:pt>
                <c:pt idx="12">
                  <c:v>120</c:v>
                </c:pt>
                <c:pt idx="13">
                  <c:v>110</c:v>
                </c:pt>
                <c:pt idx="14">
                  <c:v>118</c:v>
                </c:pt>
                <c:pt idx="15">
                  <c:v>110</c:v>
                </c:pt>
                <c:pt idx="16">
                  <c:v>110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98</c:v>
                </c:pt>
                <c:pt idx="21">
                  <c:v>98</c:v>
                </c:pt>
                <c:pt idx="22">
                  <c:v>110</c:v>
                </c:pt>
                <c:pt idx="23">
                  <c:v>110</c:v>
                </c:pt>
                <c:pt idx="24">
                  <c:v>110</c:v>
                </c:pt>
                <c:pt idx="25">
                  <c:v>120</c:v>
                </c:pt>
                <c:pt idx="26">
                  <c:v>120</c:v>
                </c:pt>
                <c:pt idx="27">
                  <c:v>120</c:v>
                </c:pt>
                <c:pt idx="28">
                  <c:v>110</c:v>
                </c:pt>
                <c:pt idx="29">
                  <c:v>150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767653444"/>
        <c:axId val="807236658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7676534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18185296794995"/>
          <c:y val="0.89360225794490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94674982010074"/>
          <c:y val="0.182915057915058"/>
          <c:w val="0.841904533461262"/>
          <c:h val="0.565283140283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月累计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2100</c:v>
                </c:pt>
                <c:pt idx="1">
                  <c:v>2000</c:v>
                </c:pt>
                <c:pt idx="2">
                  <c:v>800</c:v>
                </c:pt>
                <c:pt idx="3">
                  <c:v>900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目标值</c:v>
                </c:pt>
              </c:strCache>
            </c:strRef>
          </c:tx>
          <c:spPr>
            <a:solidFill>
              <a:srgbClr val="327187"/>
            </a:solidFill>
            <a:ln>
              <a:solidFill>
                <a:srgbClr val="327187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Sheet1!$D$2:$D$7</c:f>
              <c:numCache>
                <c:formatCode>0_ </c:formatCode>
                <c:ptCount val="6"/>
                <c:pt idx="0">
                  <c:v>2000</c:v>
                </c:pt>
                <c:pt idx="1">
                  <c:v>2000</c:v>
                </c:pt>
                <c:pt idx="2">
                  <c:v>1000</c:v>
                </c:pt>
                <c:pt idx="3">
                  <c:v>1000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/>
              <a:t>MTD</a:t>
            </a:r>
            <a:r>
              <a:rPr lang="zh-CN" altLang="en-US" b="1"/>
              <a:t>渠道推广二级费用分析</a:t>
            </a:r>
            <a:endParaRPr lang="zh-CN" altLang="en-US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447444329064267"/>
          <c:y val="0.198872373141978"/>
          <c:w val="0.913914849428868"/>
          <c:h val="0.4911327524346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费用金额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30</c:v>
                </c:pt>
                <c:pt idx="2">
                  <c:v>18</c:v>
                </c:pt>
                <c:pt idx="3">
                  <c:v>22</c:v>
                </c:pt>
                <c:pt idx="4">
                  <c:v>10</c:v>
                </c:pt>
                <c:pt idx="5">
                  <c:v>50</c:v>
                </c:pt>
                <c:pt idx="6">
                  <c:v>30</c:v>
                </c:pt>
                <c:pt idx="7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Sheet1!$C$2:$C$9</c:f>
              <c:numCache>
                <c:formatCode>0.00%</c:formatCode>
                <c:ptCount val="8"/>
                <c:pt idx="0">
                  <c:v>0.03</c:v>
                </c:pt>
                <c:pt idx="1">
                  <c:v>0.045</c:v>
                </c:pt>
                <c:pt idx="2">
                  <c:v>0.027</c:v>
                </c:pt>
                <c:pt idx="3">
                  <c:v>0.033</c:v>
                </c:pt>
                <c:pt idx="4">
                  <c:v>0.01</c:v>
                </c:pt>
                <c:pt idx="5">
                  <c:v>0.07</c:v>
                </c:pt>
                <c:pt idx="6">
                  <c:v>0.03</c:v>
                </c:pt>
                <c:pt idx="7">
                  <c:v>0.01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424007357"/>
        <c:axId val="543704270"/>
      </c:line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72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catAx>
        <c:axId val="42400735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3704270"/>
        <c:crosses val="autoZero"/>
        <c:auto val="1"/>
        <c:lblAlgn val="ctr"/>
        <c:lblOffset val="100"/>
        <c:noMultiLvlLbl val="0"/>
      </c:catAx>
      <c:valAx>
        <c:axId val="543704270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400735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38069689627322"/>
          <c:y val="0.8867247565351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MTD品牌</a:t>
            </a:r>
            <a:r>
              <a:rPr lang="en-US" altLang="zh-CN" b="1"/>
              <a:t>&amp;</a:t>
            </a:r>
            <a:r>
              <a:rPr lang="zh-CN" altLang="en-US" b="1"/>
              <a:t>媒介推广&amp;加热&amp;市场推广二级费用预实对比</a:t>
            </a:r>
            <a:endParaRPr lang="zh-CN" altLang="en-US" b="1"/>
          </a:p>
        </c:rich>
      </c:tx>
      <c:layout>
        <c:manualLayout>
          <c:xMode val="edge"/>
          <c:yMode val="edge"/>
          <c:x val="0.109713134024226"/>
          <c:y val="0.025610766205442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62032206849626"/>
          <c:y val="0.201327014218009"/>
          <c:w val="0.940394647312316"/>
          <c:h val="0.6211184834123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实际值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110</c:v>
                </c:pt>
                <c:pt idx="3">
                  <c:v>40</c:v>
                </c:pt>
                <c:pt idx="4">
                  <c:v>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预算值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50</c:v>
                </c:pt>
                <c:pt idx="4">
                  <c:v>150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07485716631372"/>
          <c:y val="0.90553084702569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 dirty="0"/>
              <a:t>品类贡献利润结构</a:t>
            </a:r>
            <a:endParaRPr lang="zh-CN" altLang="en-US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79971146910315"/>
          <c:y val="0.211191821361313"/>
          <c:w val="0.84477037749459"/>
          <c:h val="0.5349475383373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产品成本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定妆</c:v>
                </c:pt>
                <c:pt idx="1">
                  <c:v>底妆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护肤</c:v>
                </c:pt>
              </c:strCache>
            </c:strRef>
          </c:cat>
          <c:val>
            <c:numRef>
              <c:f>Sheet1!$B$2:$B$7</c:f>
              <c:numCache>
                <c:formatCode>#,##0_ </c:formatCode>
                <c:ptCount val="6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72.9</c:v>
                </c:pt>
                <c:pt idx="4">
                  <c:v>65.61</c:v>
                </c:pt>
                <c:pt idx="5">
                  <c:v>59.049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商家折扣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定妆</c:v>
                </c:pt>
                <c:pt idx="1">
                  <c:v>底妆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护肤</c:v>
                </c:pt>
              </c:strCache>
            </c:strRef>
          </c:cat>
          <c:val>
            <c:numRef>
              <c:f>Sheet1!$C$2:$C$7</c:f>
              <c:numCache>
                <c:formatCode>#,##0_ </c:formatCode>
                <c:ptCount val="6"/>
                <c:pt idx="0">
                  <c:v>60</c:v>
                </c:pt>
                <c:pt idx="1">
                  <c:v>50</c:v>
                </c:pt>
                <c:pt idx="2">
                  <c:v>45</c:v>
                </c:pt>
                <c:pt idx="3">
                  <c:v>40</c:v>
                </c:pt>
                <c:pt idx="4">
                  <c:v>35</c:v>
                </c:pt>
                <c:pt idx="5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赠品成本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定妆</c:v>
                </c:pt>
                <c:pt idx="1">
                  <c:v>底妆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护肤</c:v>
                </c:pt>
              </c:strCache>
            </c:strRef>
          </c:cat>
          <c:val>
            <c:numRef>
              <c:f>Sheet1!$D$2:$D$7</c:f>
              <c:numCache>
                <c:formatCode>#,##0_ </c:formatCode>
                <c:ptCount val="6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173</c:v>
                </c:pt>
                <c:pt idx="4">
                  <c:v>65.61</c:v>
                </c:pt>
                <c:pt idx="5">
                  <c:v>59.049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营销费用(不含税)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定妆</c:v>
                </c:pt>
                <c:pt idx="1">
                  <c:v>底妆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护肤</c:v>
                </c:pt>
              </c:strCache>
            </c:strRef>
          </c:cat>
          <c:val>
            <c:numRef>
              <c:f>Sheet1!$E$2:$E$7</c:f>
              <c:numCache>
                <c:formatCode>#,##0_ </c:formatCode>
                <c:ptCount val="6"/>
                <c:pt idx="0">
                  <c:v>120</c:v>
                </c:pt>
                <c:pt idx="1">
                  <c:v>160</c:v>
                </c:pt>
                <c:pt idx="2">
                  <c:v>97.2</c:v>
                </c:pt>
                <c:pt idx="3">
                  <c:v>87.48</c:v>
                </c:pt>
                <c:pt idx="4">
                  <c:v>78.732</c:v>
                </c:pt>
                <c:pt idx="5">
                  <c:v>70.8588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贡献利润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定妆</c:v>
                </c:pt>
                <c:pt idx="1">
                  <c:v>底妆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护肤</c:v>
                </c:pt>
              </c:strCache>
            </c:strRef>
          </c:cat>
          <c:val>
            <c:numRef>
              <c:f>Sheet1!$F$2:$F$7</c:f>
              <c:numCache>
                <c:formatCode>#,##0_ </c:formatCode>
                <c:ptCount val="6"/>
                <c:pt idx="0">
                  <c:v>300</c:v>
                </c:pt>
                <c:pt idx="1">
                  <c:v>140</c:v>
                </c:pt>
                <c:pt idx="2">
                  <c:v>243</c:v>
                </c:pt>
                <c:pt idx="3">
                  <c:v>150</c:v>
                </c:pt>
                <c:pt idx="4">
                  <c:v>196.83</c:v>
                </c:pt>
                <c:pt idx="5">
                  <c:v>177.147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08647903"/>
        <c:axId val="544060451"/>
      </c:bar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9DC3E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DC3E6"/>
              </a:solidFill>
              <a:ln w="9525">
                <a:solidFill>
                  <a:srgbClr val="9DC3E6"/>
                </a:solidFill>
              </a:ln>
              <a:effectLst/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定妆</c:v>
                </c:pt>
                <c:pt idx="1">
                  <c:v>底妆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护肤</c:v>
                </c:pt>
              </c:strCache>
            </c:strRef>
          </c:cat>
          <c:val>
            <c:numRef>
              <c:f>Sheet1!$G$2:$G$7</c:f>
              <c:numCache>
                <c:formatCode>0.00%</c:formatCode>
                <c:ptCount val="6"/>
                <c:pt idx="0">
                  <c:v>0.4</c:v>
                </c:pt>
                <c:pt idx="1">
                  <c:v>0.41</c:v>
                </c:pt>
                <c:pt idx="2">
                  <c:v>0.45</c:v>
                </c:pt>
                <c:pt idx="3">
                  <c:v>0.4</c:v>
                </c:pt>
                <c:pt idx="4">
                  <c:v>0.38</c:v>
                </c:pt>
                <c:pt idx="5">
                  <c:v>0.4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616116253"/>
        <c:axId val="280805226"/>
      </c:lineChart>
      <c:catAx>
        <c:axId val="50864790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4060451"/>
        <c:crosses val="autoZero"/>
        <c:auto val="1"/>
        <c:lblAlgn val="ctr"/>
        <c:lblOffset val="100"/>
        <c:noMultiLvlLbl val="0"/>
      </c:catAx>
      <c:valAx>
        <c:axId val="5440604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8647903"/>
        <c:crosses val="autoZero"/>
        <c:crossBetween val="between"/>
      </c:valAx>
      <c:catAx>
        <c:axId val="61611625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80805226"/>
        <c:crosses val="autoZero"/>
        <c:auto val="1"/>
        <c:lblAlgn val="ctr"/>
        <c:lblOffset val="100"/>
        <c:noMultiLvlLbl val="0"/>
      </c:catAx>
      <c:valAx>
        <c:axId val="280805226"/>
        <c:scaling>
          <c:orientation val="minMax"/>
          <c:max val="1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61162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105794662178408"/>
          <c:y val="0.828625235404896"/>
          <c:w val="0.97775907670113"/>
          <c:h val="0.13909066451439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本年退款后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GMV&amp;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营销费用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不含税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)&amp;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费比趋势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336434083257352"/>
          <c:y val="0.044058744993324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15800686471772"/>
          <c:y val="0.227102803738318"/>
          <c:w val="0.895774647887324"/>
          <c:h val="0.5019759679572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退款后GMV</c:v>
                </c:pt>
              </c:strCache>
            </c:strRef>
          </c:tx>
          <c:spPr>
            <a:solidFill>
              <a:srgbClr val="063B49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#,##0.00_ </c:formatCode>
                <c:ptCount val="12"/>
                <c:pt idx="0">
                  <c:v>2000</c:v>
                </c:pt>
                <c:pt idx="1">
                  <c:v>2200</c:v>
                </c:pt>
                <c:pt idx="2">
                  <c:v>2500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营销费用(不含税)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#,##0.00_ </c:formatCode>
                <c:ptCount val="12"/>
                <c:pt idx="0">
                  <c:v>800</c:v>
                </c:pt>
                <c:pt idx="1">
                  <c:v>850</c:v>
                </c:pt>
                <c:pt idx="2">
                  <c:v>1000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48"/>
        <c:axId val="767653444"/>
        <c:axId val="80723665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0.00%</c:formatCode>
                <c:ptCount val="12"/>
                <c:pt idx="0">
                  <c:v>0.4</c:v>
                </c:pt>
                <c:pt idx="1">
                  <c:v>0.386363636363636</c:v>
                </c:pt>
                <c:pt idx="2">
                  <c:v>0.4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628903008"/>
        <c:axId val="326671954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767653444"/>
        <c:crosses val="autoZero"/>
        <c:crossBetween val="between"/>
      </c:valAx>
      <c:catAx>
        <c:axId val="6289030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26671954"/>
        <c:crosses val="autoZero"/>
        <c:auto val="1"/>
        <c:lblAlgn val="ctr"/>
        <c:lblOffset val="100"/>
        <c:noMultiLvlLbl val="0"/>
      </c:catAx>
      <c:valAx>
        <c:axId val="326671954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2890300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86229139543141"/>
          <c:y val="0.89906542056074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31232091690544"/>
          <c:y val="0.0231481481481481"/>
          <c:w val="0.885386819484241"/>
          <c:h val="0.95370370370370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预算完成率</c:v>
                </c:pt>
              </c:strCache>
            </c:strRef>
          </c:tx>
          <c:spPr>
            <a:solidFill>
              <a:srgbClr val="92D050"/>
            </a:solidFill>
          </c:spPr>
          <c:explosion val="0"/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numRef>
              <c:f>Sheet1!$A$2:$A$3</c:f>
              <c:numCache>
                <c:formatCode>yyyy/m/d</c:formatCode>
                <c:ptCount val="2"/>
                <c:pt idx="0" c:formatCode="yyyy/m/d">
                  <c:v>44941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1.6864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渠道贡献利润结构</a:t>
            </a:r>
            <a:endParaRPr lang="zh-CN" altLang="en-US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79971146910315"/>
          <c:y val="0.211191821361313"/>
          <c:w val="0.84477037749459"/>
          <c:h val="0.54140435835351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产品成本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微信</c:v>
                </c:pt>
              </c:strCache>
            </c:strRef>
          </c:cat>
          <c:val>
            <c:numRef>
              <c:f>Sheet1!$B$2:$B$9</c:f>
              <c:numCache>
                <c:formatCode>#,##0_ </c:formatCode>
                <c:ptCount val="8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72.9</c:v>
                </c:pt>
                <c:pt idx="4">
                  <c:v>65.61</c:v>
                </c:pt>
                <c:pt idx="5">
                  <c:v>59.049</c:v>
                </c:pt>
                <c:pt idx="6">
                  <c:v>53.1441</c:v>
                </c:pt>
                <c:pt idx="7">
                  <c:v>47.82969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商家折扣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微信</c:v>
                </c:pt>
              </c:strCache>
            </c:strRef>
          </c:cat>
          <c:val>
            <c:numRef>
              <c:f>Sheet1!$C$2:$C$9</c:f>
              <c:numCache>
                <c:formatCode>#,##0_ </c:formatCode>
                <c:ptCount val="8"/>
                <c:pt idx="0">
                  <c:v>60</c:v>
                </c:pt>
                <c:pt idx="1">
                  <c:v>50</c:v>
                </c:pt>
                <c:pt idx="2">
                  <c:v>45</c:v>
                </c:pt>
                <c:pt idx="3">
                  <c:v>40</c:v>
                </c:pt>
                <c:pt idx="4">
                  <c:v>35</c:v>
                </c:pt>
                <c:pt idx="5">
                  <c:v>30</c:v>
                </c:pt>
                <c:pt idx="6">
                  <c:v>25</c:v>
                </c:pt>
                <c:pt idx="7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赠品成本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微信</c:v>
                </c:pt>
              </c:strCache>
            </c:strRef>
          </c:cat>
          <c:val>
            <c:numRef>
              <c:f>Sheet1!$D$2:$D$9</c:f>
              <c:numCache>
                <c:formatCode>#,##0_ </c:formatCode>
                <c:ptCount val="8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173</c:v>
                </c:pt>
                <c:pt idx="4">
                  <c:v>65.61</c:v>
                </c:pt>
                <c:pt idx="5">
                  <c:v>59.049</c:v>
                </c:pt>
                <c:pt idx="6">
                  <c:v>53.1441</c:v>
                </c:pt>
                <c:pt idx="7">
                  <c:v>47.82969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营销费用(不含税)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微信</c:v>
                </c:pt>
              </c:strCache>
            </c:strRef>
          </c:cat>
          <c:val>
            <c:numRef>
              <c:f>Sheet1!$E$2:$E$9</c:f>
              <c:numCache>
                <c:formatCode>#,##0_ </c:formatCode>
                <c:ptCount val="8"/>
                <c:pt idx="0">
                  <c:v>120</c:v>
                </c:pt>
                <c:pt idx="1">
                  <c:v>160</c:v>
                </c:pt>
                <c:pt idx="2">
                  <c:v>97.2</c:v>
                </c:pt>
                <c:pt idx="3">
                  <c:v>87.48</c:v>
                </c:pt>
                <c:pt idx="4">
                  <c:v>78.732</c:v>
                </c:pt>
                <c:pt idx="5">
                  <c:v>70.8588</c:v>
                </c:pt>
                <c:pt idx="6">
                  <c:v>63.77292</c:v>
                </c:pt>
                <c:pt idx="7">
                  <c:v>57.395628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贡献利润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微信</c:v>
                </c:pt>
              </c:strCache>
            </c:strRef>
          </c:cat>
          <c:val>
            <c:numRef>
              <c:f>Sheet1!$F$2:$F$9</c:f>
              <c:numCache>
                <c:formatCode>#,##0_ </c:formatCode>
                <c:ptCount val="8"/>
                <c:pt idx="0">
                  <c:v>300</c:v>
                </c:pt>
                <c:pt idx="1">
                  <c:v>140</c:v>
                </c:pt>
                <c:pt idx="2">
                  <c:v>243</c:v>
                </c:pt>
                <c:pt idx="3">
                  <c:v>150</c:v>
                </c:pt>
                <c:pt idx="4">
                  <c:v>196.83</c:v>
                </c:pt>
                <c:pt idx="5">
                  <c:v>177.147</c:v>
                </c:pt>
                <c:pt idx="6">
                  <c:v>159.4323</c:v>
                </c:pt>
                <c:pt idx="7">
                  <c:v>143.48907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08647903"/>
        <c:axId val="544060451"/>
      </c:bar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9DC3E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DC3E6"/>
              </a:solidFill>
              <a:ln w="9525">
                <a:solidFill>
                  <a:srgbClr val="9DC3E6"/>
                </a:solidFill>
              </a:ln>
              <a:effectLst/>
            </c:spPr>
          </c:marker>
          <c:dLbls>
            <c:delete val="1"/>
          </c:dLbls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微信</c:v>
                </c:pt>
              </c:strCache>
            </c:strRef>
          </c:cat>
          <c:val>
            <c:numRef>
              <c:f>Sheet1!$G$2:$G$9</c:f>
              <c:numCache>
                <c:formatCode>0.00%</c:formatCode>
                <c:ptCount val="8"/>
                <c:pt idx="0">
                  <c:v>0.4</c:v>
                </c:pt>
                <c:pt idx="1">
                  <c:v>0.41</c:v>
                </c:pt>
                <c:pt idx="2">
                  <c:v>0.45</c:v>
                </c:pt>
                <c:pt idx="3">
                  <c:v>0.4</c:v>
                </c:pt>
                <c:pt idx="4">
                  <c:v>0.38</c:v>
                </c:pt>
                <c:pt idx="5">
                  <c:v>0.4</c:v>
                </c:pt>
                <c:pt idx="6">
                  <c:v>0.45</c:v>
                </c:pt>
                <c:pt idx="7">
                  <c:v>0.43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616116253"/>
        <c:axId val="280805226"/>
      </c:lineChart>
      <c:catAx>
        <c:axId val="50864790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4060451"/>
        <c:crosses val="autoZero"/>
        <c:auto val="1"/>
        <c:lblAlgn val="ctr"/>
        <c:lblOffset val="100"/>
        <c:noMultiLvlLbl val="0"/>
      </c:catAx>
      <c:valAx>
        <c:axId val="5440604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8647903"/>
        <c:crosses val="autoZero"/>
        <c:crossBetween val="between"/>
      </c:valAx>
      <c:catAx>
        <c:axId val="61611625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80805226"/>
        <c:crosses val="autoZero"/>
        <c:auto val="1"/>
        <c:lblAlgn val="ctr"/>
        <c:lblOffset val="100"/>
        <c:noMultiLvlLbl val="0"/>
      </c:catAx>
      <c:valAx>
        <c:axId val="280805226"/>
        <c:scaling>
          <c:orientation val="minMax"/>
          <c:max val="1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61162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205578264005771"/>
          <c:y val="0.842345977939198"/>
          <c:w val="0.963452753065641"/>
          <c:h val="0.12536992198009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 dirty="0"/>
              <a:t>渠道财务净收入达成情况</a:t>
            </a:r>
            <a:endParaRPr lang="zh-CN" altLang="en-US" sz="1400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4674982010074"/>
          <c:y val="0.182915057915058"/>
          <c:w val="0.841904533461262"/>
          <c:h val="0.565283140283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月累计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2100</c:v>
                </c:pt>
                <c:pt idx="1">
                  <c:v>2000</c:v>
                </c:pt>
                <c:pt idx="2">
                  <c:v>800</c:v>
                </c:pt>
                <c:pt idx="3">
                  <c:v>900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目标值</c:v>
                </c:pt>
              </c:strCache>
            </c:strRef>
          </c:tx>
          <c:spPr>
            <a:solidFill>
              <a:srgbClr val="327187"/>
            </a:solidFill>
            <a:ln>
              <a:solidFill>
                <a:srgbClr val="327187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Sheet1!$D$2:$D$7</c:f>
              <c:numCache>
                <c:formatCode>0_ </c:formatCode>
                <c:ptCount val="6"/>
                <c:pt idx="0">
                  <c:v>2000</c:v>
                </c:pt>
                <c:pt idx="1">
                  <c:v>2000</c:v>
                </c:pt>
                <c:pt idx="2">
                  <c:v>1000</c:v>
                </c:pt>
                <c:pt idx="3">
                  <c:v>1000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0.00412201154163232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/>
              <a:t>品类财务净收入达成情况</a:t>
            </a:r>
            <a:endParaRPr lang="zh-CN" altLang="en-US" sz="1400" b="1" dirty="0"/>
          </a:p>
        </c:rich>
      </c:tx>
      <c:layout>
        <c:manualLayout>
          <c:xMode val="edge"/>
          <c:yMode val="edge"/>
          <c:x val="0.310506116574718"/>
          <c:y val="0.033342595165323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4674982010074"/>
          <c:y val="0.183558558558559"/>
          <c:w val="0.841904533461262"/>
          <c:h val="0.5601351351351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月累计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1050</c:v>
                </c:pt>
                <c:pt idx="1">
                  <c:v>2000</c:v>
                </c:pt>
                <c:pt idx="2">
                  <c:v>800</c:v>
                </c:pt>
                <c:pt idx="3">
                  <c:v>1800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目标值</c:v>
                </c:pt>
              </c:strCache>
            </c:strRef>
          </c:tx>
          <c:spPr>
            <a:solidFill>
              <a:srgbClr val="327187"/>
            </a:solidFill>
            <a:ln w="28575" cap="rnd">
              <a:solidFill>
                <a:srgbClr val="327187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Sheet1!$D$2:$D$7</c:f>
              <c:numCache>
                <c:formatCode>0_ </c:formatCode>
                <c:ptCount val="6"/>
                <c:pt idx="0">
                  <c:v>1000</c:v>
                </c:pt>
                <c:pt idx="1">
                  <c:v>2000</c:v>
                </c:pt>
                <c:pt idx="2">
                  <c:v>1000</c:v>
                </c:pt>
                <c:pt idx="3">
                  <c:v>2000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  <c:min val="0.5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市场大盘趋势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483934873078791"/>
          <c:y val="0.0083939563514269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15641600755519"/>
          <c:y val="0.16953125"/>
          <c:w val="0.914544130958526"/>
          <c:h val="0.5330937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行业GMV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#,##0.00_ </c:formatCode>
                <c:ptCount val="12"/>
                <c:pt idx="0">
                  <c:v>200</c:v>
                </c:pt>
                <c:pt idx="1">
                  <c:v>220</c:v>
                </c:pt>
                <c:pt idx="2">
                  <c:v>250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花西子GMV</c:v>
                </c:pt>
              </c:strCache>
            </c:strRef>
          </c:tx>
          <c:spPr>
            <a:ln w="28575" cap="rnd">
              <a:solidFill>
                <a:srgbClr val="D758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D75824"/>
              </a:solidFill>
              <a:ln w="9525">
                <a:solidFill>
                  <a:srgbClr val="D75824"/>
                </a:solidFill>
              </a:ln>
              <a:effectLst/>
            </c:spPr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#,##0.00_ </c:formatCode>
                <c:ptCount val="12"/>
                <c:pt idx="0">
                  <c:v>80</c:v>
                </c:pt>
                <c:pt idx="1">
                  <c:v>85</c:v>
                </c:pt>
                <c:pt idx="2">
                  <c:v>100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767653444"/>
        <c:axId val="807236658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7676534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57944403384482"/>
          <c:y val="0.88647448603360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营销费用分类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46527527887729"/>
          <c:y val="0.114772945008622"/>
          <c:w val="0.83188197193235"/>
          <c:h val="0.7575014370569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营销费用</c:v>
                </c:pt>
              </c:strCache>
            </c:strRef>
          </c:tx>
          <c:spPr>
            <a:solidFill>
              <a:srgbClr val="FAD2A0"/>
            </a:solidFill>
            <a:ln w="19050">
              <a:solidFill>
                <a:sysClr val="window" lastClr="FFFFFF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ysClr val="windowText" lastClr="000000">
                          <a:lumMod val="35000"/>
                          <a:lumOff val="65000"/>
                        </a:sys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渠道推广</c:v>
                </c:pt>
                <c:pt idx="1">
                  <c:v>市场推广</c:v>
                </c:pt>
                <c:pt idx="2">
                  <c:v>加热</c:v>
                </c:pt>
                <c:pt idx="3">
                  <c:v>媒介推广</c:v>
                </c:pt>
                <c:pt idx="4">
                  <c:v>品牌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120</c:v>
                </c:pt>
                <c:pt idx="2">
                  <c:v>150</c:v>
                </c:pt>
                <c:pt idx="3">
                  <c:v>180</c:v>
                </c:pt>
                <c:pt idx="4">
                  <c:v>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66047946"/>
        <c:axId val="66321554"/>
      </c:barChart>
      <c:catAx>
        <c:axId val="66604794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321554"/>
        <c:crosses val="autoZero"/>
        <c:auto val="1"/>
        <c:lblAlgn val="ctr"/>
        <c:lblOffset val="100"/>
        <c:noMultiLvlLbl val="0"/>
      </c:catAx>
      <c:valAx>
        <c:axId val="66321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604794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渠道推广二级费用分析</a:t>
            </a:r>
            <a:endParaRPr lang="zh-CN" altLang="en-US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447444329064267"/>
          <c:y val="0.198872373141978"/>
          <c:w val="0.913914849428868"/>
          <c:h val="0.4911327524346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费用金额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30</c:v>
                </c:pt>
                <c:pt idx="2">
                  <c:v>18</c:v>
                </c:pt>
                <c:pt idx="3">
                  <c:v>22</c:v>
                </c:pt>
                <c:pt idx="4">
                  <c:v>10</c:v>
                </c:pt>
                <c:pt idx="5">
                  <c:v>50</c:v>
                </c:pt>
                <c:pt idx="6">
                  <c:v>30</c:v>
                </c:pt>
                <c:pt idx="7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Sheet1!$C$2:$C$9</c:f>
              <c:numCache>
                <c:formatCode>0.00%</c:formatCode>
                <c:ptCount val="8"/>
                <c:pt idx="0">
                  <c:v>0.03</c:v>
                </c:pt>
                <c:pt idx="1">
                  <c:v>0.045</c:v>
                </c:pt>
                <c:pt idx="2">
                  <c:v>0.027</c:v>
                </c:pt>
                <c:pt idx="3">
                  <c:v>0.033</c:v>
                </c:pt>
                <c:pt idx="4">
                  <c:v>0.01</c:v>
                </c:pt>
                <c:pt idx="5">
                  <c:v>0.07</c:v>
                </c:pt>
                <c:pt idx="6">
                  <c:v>0.03</c:v>
                </c:pt>
                <c:pt idx="7">
                  <c:v>0.01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424007357"/>
        <c:axId val="543704270"/>
      </c:line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72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catAx>
        <c:axId val="42400735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3704270"/>
        <c:crosses val="autoZero"/>
        <c:auto val="1"/>
        <c:lblAlgn val="ctr"/>
        <c:lblOffset val="100"/>
        <c:noMultiLvlLbl val="0"/>
      </c:catAx>
      <c:valAx>
        <c:axId val="543704270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400735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品牌</a:t>
            </a:r>
            <a:r>
              <a:rPr lang="en-US" altLang="zh-CN" b="1"/>
              <a:t>&amp;</a:t>
            </a:r>
            <a:r>
              <a:rPr lang="zh-CN" altLang="en-US" b="1"/>
              <a:t>媒介推广&amp;加热&amp;市场推广二级费用预实对比</a:t>
            </a:r>
            <a:endParaRPr lang="zh-CN" altLang="en-US" b="1"/>
          </a:p>
        </c:rich>
      </c:tx>
      <c:layout>
        <c:manualLayout>
          <c:xMode val="edge"/>
          <c:yMode val="edge"/>
          <c:x val="0.109713134024226"/>
          <c:y val="0.025610766205442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62032206849626"/>
          <c:y val="0.201327014218009"/>
          <c:w val="0.940394647312316"/>
          <c:h val="0.6211184834123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实际值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110</c:v>
                </c:pt>
                <c:pt idx="3">
                  <c:v>40</c:v>
                </c:pt>
                <c:pt idx="4">
                  <c:v>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预算值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50</c:v>
                </c:pt>
                <c:pt idx="4">
                  <c:v>150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07485716631372"/>
          <c:y val="0.90553084702569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  <cs:spPr>
      <a:ln w="19050">
        <a:solidFill>
          <a:sysClr val="window" lastClr="FFFFFF"/>
        </a:solidFill>
      </a:ln>
    </cs:spPr>
  </cs:dataPoint>
  <cs:dataPoint3D>
    <cs:lnRef idx="0"/>
    <cs:fillRef idx="1">
      <cs:styleClr val="auto"/>
    </cs:fillRef>
    <cs:effectRef idx="0"/>
    <cs:fontRef idx="minor">
      <a:sysClr val="windowText" lastClr="000000"/>
    </cs:fontRef>
    <cs:spPr>
      <a:ln w="25400">
        <a:solidFill>
          <a:sysClr val="window" lastClr="FFFFFF"/>
        </a:solidFill>
      </a:ln>
    </cs:spPr>
  </cs:dataPoint3D>
  <cs:dataPointLine>
    <cs:lnRef idx="0">
      <cs:styleClr val="auto"/>
    </cs:lnRef>
    <cs:fillRef idx="0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75000"/>
          <a:lumOff val="25000"/>
        </a:sysClr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0"/>
            <a:lumOff val="50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  <cs:spPr>
      <a:ln w="19050">
        <a:solidFill>
          <a:sysClr val="window" lastClr="FFFFFF"/>
        </a:solidFill>
      </a:ln>
    </cs:spPr>
  </cs:dataPoint>
  <cs:dataPoint3D>
    <cs:lnRef idx="0"/>
    <cs:fillRef idx="1">
      <cs:styleClr val="auto"/>
    </cs:fillRef>
    <cs:effectRef idx="0"/>
    <cs:fontRef idx="minor">
      <a:sysClr val="windowText" lastClr="000000"/>
    </cs:fontRef>
    <cs:spPr>
      <a:ln w="25400">
        <a:solidFill>
          <a:sysClr val="window" lastClr="FFFFFF"/>
        </a:solidFill>
      </a:ln>
    </cs:spPr>
  </cs:dataPoint3D>
  <cs:dataPointLine>
    <cs:lnRef idx="0">
      <cs:styleClr val="auto"/>
    </cs:lnRef>
    <cs:fillRef idx="0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75000"/>
          <a:lumOff val="25000"/>
        </a:sysClr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0"/>
            <a:lumOff val="50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56F95-06BF-486E-BAB4-3A20F84149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55938" y="1143000"/>
            <a:ext cx="746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1545B-5851-46E4-B469-0F0CACF428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、用户为中心：不同层级的用户，更多的是阵地的负责人，收集用户的真实意见，以及权限问题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、除产品，</a:t>
            </a:r>
            <a:r>
              <a:rPr lang="en-US" altLang="zh-CN" dirty="0"/>
              <a:t>SKU</a:t>
            </a:r>
            <a:r>
              <a:rPr lang="zh-CN" altLang="en-US" dirty="0"/>
              <a:t>等数据外，需要增加人群画像，</a:t>
            </a:r>
            <a:r>
              <a:rPr lang="en-US" altLang="zh-CN" dirty="0"/>
              <a:t>RFM</a:t>
            </a:r>
            <a:r>
              <a:rPr lang="zh-CN" altLang="en-US" dirty="0"/>
              <a:t>等以客户未中心的数据看板。达人的客户转化率，层级等指标。季节性的营销活动同比，环比的数据。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/>
              <a:t>、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1545B-5851-46E4-B469-0F0CACF428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918" y="6720000"/>
            <a:ext cx="9800165" cy="1889007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918" y="26165669"/>
            <a:ext cx="9800165" cy="1082078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200" spc="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8235" indent="0" algn="ctr">
              <a:buNone/>
              <a:defRPr sz="2135"/>
            </a:lvl7pPr>
            <a:lvl8pPr marL="4267835" indent="0" algn="ctr">
              <a:buNone/>
              <a:defRPr sz="2135"/>
            </a:lvl8pPr>
            <a:lvl9pPr marL="4877435" indent="0" algn="ctr">
              <a:buNone/>
              <a:defRPr sz="213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60" y="10953071"/>
            <a:ext cx="10970280" cy="3497574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996" y="28282205"/>
            <a:ext cx="7769565" cy="5635276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586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996" y="33917480"/>
            <a:ext cx="7769565" cy="637606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60" y="11032441"/>
            <a:ext cx="5177310" cy="3489637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231" y="11032441"/>
            <a:ext cx="5177310" cy="3489637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60" y="10503307"/>
            <a:ext cx="5342926" cy="280440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66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60" y="13625197"/>
            <a:ext cx="5342926" cy="3230362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4" y="10448402"/>
            <a:ext cx="5342926" cy="2804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66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4" y="13625197"/>
            <a:ext cx="5342926" cy="3230362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60" y="11429291"/>
            <a:ext cx="5233592" cy="3386456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13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025" y="11429291"/>
            <a:ext cx="5227715" cy="3386456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135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5808" y="6720000"/>
            <a:ext cx="1044103" cy="36960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735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90" y="6720000"/>
            <a:ext cx="9170103" cy="36960000"/>
          </a:xfrm>
        </p:spPr>
        <p:txBody>
          <a:bodyPr vert="eaVert" lIns="46800" tIns="46800" rIns="46800" bIns="46800"/>
          <a:lstStyle>
            <a:lvl1pPr marL="304800" indent="-304800">
              <a:spcAft>
                <a:spcPts val="1000"/>
              </a:spcAft>
              <a:defRPr spc="300"/>
            </a:lvl1pPr>
            <a:lvl2pPr marL="914400" indent="-304800">
              <a:defRPr spc="300"/>
            </a:lvl2pPr>
            <a:lvl3pPr marL="1524000" indent="-304800">
              <a:defRPr spc="300"/>
            </a:lvl3pPr>
            <a:lvl4pPr marL="2133600" indent="-304800">
              <a:defRPr spc="300"/>
            </a:lvl4pPr>
            <a:lvl5pPr marL="2743200" indent="-3048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60" y="5688189"/>
            <a:ext cx="10973880" cy="4029354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918" y="18255118"/>
            <a:ext cx="9800165" cy="748724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8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918" y="26165669"/>
            <a:ext cx="9800165" cy="3465827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2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60" y="4471181"/>
            <a:ext cx="10970280" cy="5185512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60" y="10953071"/>
            <a:ext cx="10970280" cy="3497574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60" y="46405039"/>
            <a:ext cx="2700266" cy="2328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405" y="46405039"/>
            <a:ext cx="3960390" cy="2328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8474" y="46405039"/>
            <a:ext cx="2700266" cy="2328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200" rtl="0" eaLnBrk="1" fontAlgn="auto" latinLnBrk="0" hangingPunct="1">
        <a:lnSpc>
          <a:spcPct val="100000"/>
        </a:lnSpc>
        <a:spcBef>
          <a:spcPct val="0"/>
        </a:spcBef>
        <a:buNone/>
        <a:defRPr sz="48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9144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146300" algn="l"/>
          <a:tab pos="2146300" algn="l"/>
          <a:tab pos="2146300" algn="l"/>
          <a:tab pos="2146300" algn="l"/>
        </a:tabLst>
        <a:defRPr sz="2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5240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1336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8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7432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8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3534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tags" Target="../tags/tag153.xml"/><Relationship Id="rId98" Type="http://schemas.openxmlformats.org/officeDocument/2006/relationships/tags" Target="../tags/tag152.xml"/><Relationship Id="rId97" Type="http://schemas.openxmlformats.org/officeDocument/2006/relationships/tags" Target="../tags/tag151.xml"/><Relationship Id="rId96" Type="http://schemas.openxmlformats.org/officeDocument/2006/relationships/tags" Target="../tags/tag150.xml"/><Relationship Id="rId95" Type="http://schemas.openxmlformats.org/officeDocument/2006/relationships/tags" Target="../tags/tag149.xml"/><Relationship Id="rId94" Type="http://schemas.openxmlformats.org/officeDocument/2006/relationships/tags" Target="../tags/tag148.xml"/><Relationship Id="rId93" Type="http://schemas.openxmlformats.org/officeDocument/2006/relationships/tags" Target="../tags/tag147.xml"/><Relationship Id="rId92" Type="http://schemas.openxmlformats.org/officeDocument/2006/relationships/tags" Target="../tags/tag146.xml"/><Relationship Id="rId91" Type="http://schemas.openxmlformats.org/officeDocument/2006/relationships/tags" Target="../tags/tag145.xml"/><Relationship Id="rId90" Type="http://schemas.openxmlformats.org/officeDocument/2006/relationships/tags" Target="../tags/tag144.xml"/><Relationship Id="rId9" Type="http://schemas.openxmlformats.org/officeDocument/2006/relationships/tags" Target="../tags/tag63.xml"/><Relationship Id="rId89" Type="http://schemas.openxmlformats.org/officeDocument/2006/relationships/tags" Target="../tags/tag143.xml"/><Relationship Id="rId88" Type="http://schemas.openxmlformats.org/officeDocument/2006/relationships/tags" Target="../tags/tag142.xml"/><Relationship Id="rId87" Type="http://schemas.openxmlformats.org/officeDocument/2006/relationships/tags" Target="../tags/tag141.xml"/><Relationship Id="rId86" Type="http://schemas.openxmlformats.org/officeDocument/2006/relationships/tags" Target="../tags/tag140.xml"/><Relationship Id="rId85" Type="http://schemas.openxmlformats.org/officeDocument/2006/relationships/tags" Target="../tags/tag139.xml"/><Relationship Id="rId84" Type="http://schemas.openxmlformats.org/officeDocument/2006/relationships/tags" Target="../tags/tag138.xml"/><Relationship Id="rId83" Type="http://schemas.openxmlformats.org/officeDocument/2006/relationships/tags" Target="../tags/tag137.xml"/><Relationship Id="rId82" Type="http://schemas.openxmlformats.org/officeDocument/2006/relationships/tags" Target="../tags/tag136.xml"/><Relationship Id="rId81" Type="http://schemas.openxmlformats.org/officeDocument/2006/relationships/tags" Target="../tags/tag135.xml"/><Relationship Id="rId80" Type="http://schemas.openxmlformats.org/officeDocument/2006/relationships/tags" Target="../tags/tag134.xml"/><Relationship Id="rId8" Type="http://schemas.openxmlformats.org/officeDocument/2006/relationships/chart" Target="../charts/chart8.xml"/><Relationship Id="rId79" Type="http://schemas.openxmlformats.org/officeDocument/2006/relationships/tags" Target="../tags/tag133.xml"/><Relationship Id="rId78" Type="http://schemas.openxmlformats.org/officeDocument/2006/relationships/tags" Target="../tags/tag132.xml"/><Relationship Id="rId77" Type="http://schemas.openxmlformats.org/officeDocument/2006/relationships/tags" Target="../tags/tag131.xml"/><Relationship Id="rId76" Type="http://schemas.openxmlformats.org/officeDocument/2006/relationships/tags" Target="../tags/tag130.xml"/><Relationship Id="rId75" Type="http://schemas.openxmlformats.org/officeDocument/2006/relationships/tags" Target="../tags/tag129.xml"/><Relationship Id="rId74" Type="http://schemas.openxmlformats.org/officeDocument/2006/relationships/tags" Target="../tags/tag128.xml"/><Relationship Id="rId73" Type="http://schemas.openxmlformats.org/officeDocument/2006/relationships/tags" Target="../tags/tag127.xml"/><Relationship Id="rId72" Type="http://schemas.openxmlformats.org/officeDocument/2006/relationships/tags" Target="../tags/tag126.xml"/><Relationship Id="rId71" Type="http://schemas.openxmlformats.org/officeDocument/2006/relationships/tags" Target="../tags/tag125.xml"/><Relationship Id="rId70" Type="http://schemas.openxmlformats.org/officeDocument/2006/relationships/tags" Target="../tags/tag124.xml"/><Relationship Id="rId7" Type="http://schemas.openxmlformats.org/officeDocument/2006/relationships/chart" Target="../charts/chart7.xml"/><Relationship Id="rId69" Type="http://schemas.openxmlformats.org/officeDocument/2006/relationships/tags" Target="../tags/tag123.xml"/><Relationship Id="rId68" Type="http://schemas.openxmlformats.org/officeDocument/2006/relationships/tags" Target="../tags/tag122.xml"/><Relationship Id="rId67" Type="http://schemas.openxmlformats.org/officeDocument/2006/relationships/tags" Target="../tags/tag121.xml"/><Relationship Id="rId66" Type="http://schemas.openxmlformats.org/officeDocument/2006/relationships/tags" Target="../tags/tag120.xml"/><Relationship Id="rId65" Type="http://schemas.openxmlformats.org/officeDocument/2006/relationships/tags" Target="../tags/tag119.xml"/><Relationship Id="rId64" Type="http://schemas.openxmlformats.org/officeDocument/2006/relationships/tags" Target="../tags/tag118.xml"/><Relationship Id="rId63" Type="http://schemas.openxmlformats.org/officeDocument/2006/relationships/tags" Target="../tags/tag117.xml"/><Relationship Id="rId62" Type="http://schemas.openxmlformats.org/officeDocument/2006/relationships/tags" Target="../tags/tag116.xml"/><Relationship Id="rId61" Type="http://schemas.openxmlformats.org/officeDocument/2006/relationships/tags" Target="../tags/tag115.xml"/><Relationship Id="rId60" Type="http://schemas.openxmlformats.org/officeDocument/2006/relationships/tags" Target="../tags/tag114.xml"/><Relationship Id="rId6" Type="http://schemas.openxmlformats.org/officeDocument/2006/relationships/chart" Target="../charts/chart6.xml"/><Relationship Id="rId59" Type="http://schemas.openxmlformats.org/officeDocument/2006/relationships/tags" Target="../tags/tag113.xml"/><Relationship Id="rId58" Type="http://schemas.openxmlformats.org/officeDocument/2006/relationships/tags" Target="../tags/tag112.xml"/><Relationship Id="rId57" Type="http://schemas.openxmlformats.org/officeDocument/2006/relationships/tags" Target="../tags/tag111.xml"/><Relationship Id="rId56" Type="http://schemas.openxmlformats.org/officeDocument/2006/relationships/tags" Target="../tags/tag110.xml"/><Relationship Id="rId55" Type="http://schemas.openxmlformats.org/officeDocument/2006/relationships/tags" Target="../tags/tag109.xml"/><Relationship Id="rId54" Type="http://schemas.openxmlformats.org/officeDocument/2006/relationships/tags" Target="../tags/tag108.xml"/><Relationship Id="rId53" Type="http://schemas.openxmlformats.org/officeDocument/2006/relationships/tags" Target="../tags/tag107.xml"/><Relationship Id="rId52" Type="http://schemas.openxmlformats.org/officeDocument/2006/relationships/tags" Target="../tags/tag106.xml"/><Relationship Id="rId51" Type="http://schemas.openxmlformats.org/officeDocument/2006/relationships/tags" Target="../tags/tag105.xml"/><Relationship Id="rId50" Type="http://schemas.openxmlformats.org/officeDocument/2006/relationships/tags" Target="../tags/tag104.xml"/><Relationship Id="rId5" Type="http://schemas.openxmlformats.org/officeDocument/2006/relationships/chart" Target="../charts/chart5.xml"/><Relationship Id="rId49" Type="http://schemas.openxmlformats.org/officeDocument/2006/relationships/tags" Target="../tags/tag103.xml"/><Relationship Id="rId48" Type="http://schemas.openxmlformats.org/officeDocument/2006/relationships/tags" Target="../tags/tag102.xml"/><Relationship Id="rId47" Type="http://schemas.openxmlformats.org/officeDocument/2006/relationships/tags" Target="../tags/tag101.xml"/><Relationship Id="rId46" Type="http://schemas.openxmlformats.org/officeDocument/2006/relationships/tags" Target="../tags/tag100.xml"/><Relationship Id="rId45" Type="http://schemas.openxmlformats.org/officeDocument/2006/relationships/tags" Target="../tags/tag99.xml"/><Relationship Id="rId44" Type="http://schemas.openxmlformats.org/officeDocument/2006/relationships/tags" Target="../tags/tag98.xml"/><Relationship Id="rId43" Type="http://schemas.openxmlformats.org/officeDocument/2006/relationships/tags" Target="../tags/tag97.xml"/><Relationship Id="rId42" Type="http://schemas.openxmlformats.org/officeDocument/2006/relationships/tags" Target="../tags/tag96.xml"/><Relationship Id="rId41" Type="http://schemas.openxmlformats.org/officeDocument/2006/relationships/tags" Target="../tags/tag95.xml"/><Relationship Id="rId40" Type="http://schemas.openxmlformats.org/officeDocument/2006/relationships/tags" Target="../tags/tag94.xml"/><Relationship Id="rId4" Type="http://schemas.openxmlformats.org/officeDocument/2006/relationships/chart" Target="../charts/chart4.xml"/><Relationship Id="rId39" Type="http://schemas.openxmlformats.org/officeDocument/2006/relationships/tags" Target="../tags/tag93.xml"/><Relationship Id="rId38" Type="http://schemas.openxmlformats.org/officeDocument/2006/relationships/tags" Target="../tags/tag92.xml"/><Relationship Id="rId37" Type="http://schemas.openxmlformats.org/officeDocument/2006/relationships/tags" Target="../tags/tag91.xml"/><Relationship Id="rId36" Type="http://schemas.openxmlformats.org/officeDocument/2006/relationships/tags" Target="../tags/tag90.xml"/><Relationship Id="rId35" Type="http://schemas.openxmlformats.org/officeDocument/2006/relationships/tags" Target="../tags/tag89.xml"/><Relationship Id="rId34" Type="http://schemas.openxmlformats.org/officeDocument/2006/relationships/tags" Target="../tags/tag88.xml"/><Relationship Id="rId33" Type="http://schemas.openxmlformats.org/officeDocument/2006/relationships/tags" Target="../tags/tag87.xml"/><Relationship Id="rId32" Type="http://schemas.openxmlformats.org/officeDocument/2006/relationships/tags" Target="../tags/tag86.xml"/><Relationship Id="rId31" Type="http://schemas.openxmlformats.org/officeDocument/2006/relationships/tags" Target="../tags/tag85.xml"/><Relationship Id="rId30" Type="http://schemas.openxmlformats.org/officeDocument/2006/relationships/tags" Target="../tags/tag84.xml"/><Relationship Id="rId3" Type="http://schemas.openxmlformats.org/officeDocument/2006/relationships/chart" Target="../charts/chart3.xml"/><Relationship Id="rId29" Type="http://schemas.openxmlformats.org/officeDocument/2006/relationships/tags" Target="../tags/tag83.xml"/><Relationship Id="rId28" Type="http://schemas.openxmlformats.org/officeDocument/2006/relationships/tags" Target="../tags/tag82.xml"/><Relationship Id="rId27" Type="http://schemas.openxmlformats.org/officeDocument/2006/relationships/tags" Target="../tags/tag81.xml"/><Relationship Id="rId26" Type="http://schemas.openxmlformats.org/officeDocument/2006/relationships/tags" Target="../tags/tag80.xml"/><Relationship Id="rId25" Type="http://schemas.openxmlformats.org/officeDocument/2006/relationships/tags" Target="../tags/tag79.xml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" Type="http://schemas.openxmlformats.org/officeDocument/2006/relationships/tags" Target="../tags/tag75.xml"/><Relationship Id="rId20" Type="http://schemas.openxmlformats.org/officeDocument/2006/relationships/tags" Target="../tags/tag74.xml"/><Relationship Id="rId2" Type="http://schemas.openxmlformats.org/officeDocument/2006/relationships/chart" Target="../charts/chart2.xml"/><Relationship Id="rId19" Type="http://schemas.openxmlformats.org/officeDocument/2006/relationships/tags" Target="../tags/tag73.xml"/><Relationship Id="rId188" Type="http://schemas.openxmlformats.org/officeDocument/2006/relationships/slideLayout" Target="../slideLayouts/slideLayout1.xml"/><Relationship Id="rId187" Type="http://schemas.openxmlformats.org/officeDocument/2006/relationships/tags" Target="../tags/tag241.xml"/><Relationship Id="rId186" Type="http://schemas.openxmlformats.org/officeDocument/2006/relationships/tags" Target="../tags/tag240.xml"/><Relationship Id="rId185" Type="http://schemas.openxmlformats.org/officeDocument/2006/relationships/tags" Target="../tags/tag239.xml"/><Relationship Id="rId184" Type="http://schemas.openxmlformats.org/officeDocument/2006/relationships/tags" Target="../tags/tag238.xml"/><Relationship Id="rId183" Type="http://schemas.openxmlformats.org/officeDocument/2006/relationships/tags" Target="../tags/tag237.xml"/><Relationship Id="rId182" Type="http://schemas.openxmlformats.org/officeDocument/2006/relationships/tags" Target="../tags/tag236.xml"/><Relationship Id="rId181" Type="http://schemas.openxmlformats.org/officeDocument/2006/relationships/tags" Target="../tags/tag235.xml"/><Relationship Id="rId180" Type="http://schemas.openxmlformats.org/officeDocument/2006/relationships/tags" Target="../tags/tag234.xml"/><Relationship Id="rId18" Type="http://schemas.openxmlformats.org/officeDocument/2006/relationships/tags" Target="../tags/tag72.xml"/><Relationship Id="rId179" Type="http://schemas.openxmlformats.org/officeDocument/2006/relationships/tags" Target="../tags/tag233.xml"/><Relationship Id="rId178" Type="http://schemas.openxmlformats.org/officeDocument/2006/relationships/tags" Target="../tags/tag232.xml"/><Relationship Id="rId177" Type="http://schemas.openxmlformats.org/officeDocument/2006/relationships/tags" Target="../tags/tag231.xml"/><Relationship Id="rId176" Type="http://schemas.openxmlformats.org/officeDocument/2006/relationships/tags" Target="../tags/tag230.xml"/><Relationship Id="rId175" Type="http://schemas.openxmlformats.org/officeDocument/2006/relationships/tags" Target="../tags/tag229.xml"/><Relationship Id="rId174" Type="http://schemas.openxmlformats.org/officeDocument/2006/relationships/tags" Target="../tags/tag228.xml"/><Relationship Id="rId173" Type="http://schemas.openxmlformats.org/officeDocument/2006/relationships/tags" Target="../tags/tag227.xml"/><Relationship Id="rId172" Type="http://schemas.openxmlformats.org/officeDocument/2006/relationships/tags" Target="../tags/tag226.xml"/><Relationship Id="rId171" Type="http://schemas.openxmlformats.org/officeDocument/2006/relationships/tags" Target="../tags/tag225.xml"/><Relationship Id="rId170" Type="http://schemas.openxmlformats.org/officeDocument/2006/relationships/tags" Target="../tags/tag224.xml"/><Relationship Id="rId17" Type="http://schemas.openxmlformats.org/officeDocument/2006/relationships/tags" Target="../tags/tag71.xml"/><Relationship Id="rId169" Type="http://schemas.openxmlformats.org/officeDocument/2006/relationships/tags" Target="../tags/tag223.xml"/><Relationship Id="rId168" Type="http://schemas.openxmlformats.org/officeDocument/2006/relationships/tags" Target="../tags/tag222.xml"/><Relationship Id="rId167" Type="http://schemas.openxmlformats.org/officeDocument/2006/relationships/tags" Target="../tags/tag221.xml"/><Relationship Id="rId166" Type="http://schemas.openxmlformats.org/officeDocument/2006/relationships/tags" Target="../tags/tag220.xml"/><Relationship Id="rId165" Type="http://schemas.openxmlformats.org/officeDocument/2006/relationships/tags" Target="../tags/tag219.xml"/><Relationship Id="rId164" Type="http://schemas.openxmlformats.org/officeDocument/2006/relationships/tags" Target="../tags/tag218.xml"/><Relationship Id="rId163" Type="http://schemas.openxmlformats.org/officeDocument/2006/relationships/tags" Target="../tags/tag217.xml"/><Relationship Id="rId162" Type="http://schemas.openxmlformats.org/officeDocument/2006/relationships/tags" Target="../tags/tag216.xml"/><Relationship Id="rId161" Type="http://schemas.openxmlformats.org/officeDocument/2006/relationships/tags" Target="../tags/tag215.xml"/><Relationship Id="rId160" Type="http://schemas.openxmlformats.org/officeDocument/2006/relationships/tags" Target="../tags/tag214.xml"/><Relationship Id="rId16" Type="http://schemas.openxmlformats.org/officeDocument/2006/relationships/tags" Target="../tags/tag70.xml"/><Relationship Id="rId159" Type="http://schemas.openxmlformats.org/officeDocument/2006/relationships/tags" Target="../tags/tag213.xml"/><Relationship Id="rId158" Type="http://schemas.openxmlformats.org/officeDocument/2006/relationships/tags" Target="../tags/tag212.xml"/><Relationship Id="rId157" Type="http://schemas.openxmlformats.org/officeDocument/2006/relationships/tags" Target="../tags/tag211.xml"/><Relationship Id="rId156" Type="http://schemas.openxmlformats.org/officeDocument/2006/relationships/tags" Target="../tags/tag210.xml"/><Relationship Id="rId155" Type="http://schemas.openxmlformats.org/officeDocument/2006/relationships/tags" Target="../tags/tag209.xml"/><Relationship Id="rId154" Type="http://schemas.openxmlformats.org/officeDocument/2006/relationships/tags" Target="../tags/tag208.xml"/><Relationship Id="rId153" Type="http://schemas.openxmlformats.org/officeDocument/2006/relationships/tags" Target="../tags/tag207.xml"/><Relationship Id="rId152" Type="http://schemas.openxmlformats.org/officeDocument/2006/relationships/tags" Target="../tags/tag206.xml"/><Relationship Id="rId151" Type="http://schemas.openxmlformats.org/officeDocument/2006/relationships/tags" Target="../tags/tag205.xml"/><Relationship Id="rId150" Type="http://schemas.openxmlformats.org/officeDocument/2006/relationships/tags" Target="../tags/tag204.xml"/><Relationship Id="rId15" Type="http://schemas.openxmlformats.org/officeDocument/2006/relationships/tags" Target="../tags/tag69.xml"/><Relationship Id="rId149" Type="http://schemas.openxmlformats.org/officeDocument/2006/relationships/tags" Target="../tags/tag203.xml"/><Relationship Id="rId148" Type="http://schemas.openxmlformats.org/officeDocument/2006/relationships/tags" Target="../tags/tag202.xml"/><Relationship Id="rId147" Type="http://schemas.openxmlformats.org/officeDocument/2006/relationships/tags" Target="../tags/tag201.xml"/><Relationship Id="rId146" Type="http://schemas.openxmlformats.org/officeDocument/2006/relationships/tags" Target="../tags/tag200.xml"/><Relationship Id="rId145" Type="http://schemas.openxmlformats.org/officeDocument/2006/relationships/tags" Target="../tags/tag199.xml"/><Relationship Id="rId144" Type="http://schemas.openxmlformats.org/officeDocument/2006/relationships/tags" Target="../tags/tag198.xml"/><Relationship Id="rId143" Type="http://schemas.openxmlformats.org/officeDocument/2006/relationships/tags" Target="../tags/tag197.xml"/><Relationship Id="rId142" Type="http://schemas.openxmlformats.org/officeDocument/2006/relationships/tags" Target="../tags/tag196.xml"/><Relationship Id="rId141" Type="http://schemas.openxmlformats.org/officeDocument/2006/relationships/tags" Target="../tags/tag195.xml"/><Relationship Id="rId140" Type="http://schemas.openxmlformats.org/officeDocument/2006/relationships/tags" Target="../tags/tag194.xml"/><Relationship Id="rId14" Type="http://schemas.openxmlformats.org/officeDocument/2006/relationships/tags" Target="../tags/tag68.xml"/><Relationship Id="rId139" Type="http://schemas.openxmlformats.org/officeDocument/2006/relationships/tags" Target="../tags/tag193.xml"/><Relationship Id="rId138" Type="http://schemas.openxmlformats.org/officeDocument/2006/relationships/tags" Target="../tags/tag192.xml"/><Relationship Id="rId137" Type="http://schemas.openxmlformats.org/officeDocument/2006/relationships/tags" Target="../tags/tag191.xml"/><Relationship Id="rId136" Type="http://schemas.openxmlformats.org/officeDocument/2006/relationships/tags" Target="../tags/tag190.xml"/><Relationship Id="rId135" Type="http://schemas.openxmlformats.org/officeDocument/2006/relationships/tags" Target="../tags/tag189.xml"/><Relationship Id="rId134" Type="http://schemas.openxmlformats.org/officeDocument/2006/relationships/tags" Target="../tags/tag188.xml"/><Relationship Id="rId133" Type="http://schemas.openxmlformats.org/officeDocument/2006/relationships/tags" Target="../tags/tag187.xml"/><Relationship Id="rId132" Type="http://schemas.openxmlformats.org/officeDocument/2006/relationships/tags" Target="../tags/tag186.xml"/><Relationship Id="rId131" Type="http://schemas.openxmlformats.org/officeDocument/2006/relationships/tags" Target="../tags/tag185.xml"/><Relationship Id="rId130" Type="http://schemas.openxmlformats.org/officeDocument/2006/relationships/tags" Target="../tags/tag184.xml"/><Relationship Id="rId13" Type="http://schemas.openxmlformats.org/officeDocument/2006/relationships/tags" Target="../tags/tag67.xml"/><Relationship Id="rId129" Type="http://schemas.openxmlformats.org/officeDocument/2006/relationships/tags" Target="../tags/tag183.xml"/><Relationship Id="rId128" Type="http://schemas.openxmlformats.org/officeDocument/2006/relationships/tags" Target="../tags/tag182.xml"/><Relationship Id="rId127" Type="http://schemas.openxmlformats.org/officeDocument/2006/relationships/tags" Target="../tags/tag181.xml"/><Relationship Id="rId126" Type="http://schemas.openxmlformats.org/officeDocument/2006/relationships/tags" Target="../tags/tag180.xml"/><Relationship Id="rId125" Type="http://schemas.openxmlformats.org/officeDocument/2006/relationships/tags" Target="../tags/tag179.xml"/><Relationship Id="rId124" Type="http://schemas.openxmlformats.org/officeDocument/2006/relationships/tags" Target="../tags/tag178.xml"/><Relationship Id="rId123" Type="http://schemas.openxmlformats.org/officeDocument/2006/relationships/tags" Target="../tags/tag177.xml"/><Relationship Id="rId122" Type="http://schemas.openxmlformats.org/officeDocument/2006/relationships/tags" Target="../tags/tag176.xml"/><Relationship Id="rId121" Type="http://schemas.openxmlformats.org/officeDocument/2006/relationships/tags" Target="../tags/tag175.xml"/><Relationship Id="rId120" Type="http://schemas.openxmlformats.org/officeDocument/2006/relationships/tags" Target="../tags/tag174.xml"/><Relationship Id="rId12" Type="http://schemas.openxmlformats.org/officeDocument/2006/relationships/tags" Target="../tags/tag66.xml"/><Relationship Id="rId119" Type="http://schemas.openxmlformats.org/officeDocument/2006/relationships/tags" Target="../tags/tag173.xml"/><Relationship Id="rId118" Type="http://schemas.openxmlformats.org/officeDocument/2006/relationships/tags" Target="../tags/tag172.xml"/><Relationship Id="rId117" Type="http://schemas.openxmlformats.org/officeDocument/2006/relationships/tags" Target="../tags/tag171.xml"/><Relationship Id="rId116" Type="http://schemas.openxmlformats.org/officeDocument/2006/relationships/tags" Target="../tags/tag170.xml"/><Relationship Id="rId115" Type="http://schemas.openxmlformats.org/officeDocument/2006/relationships/tags" Target="../tags/tag169.xml"/><Relationship Id="rId114" Type="http://schemas.openxmlformats.org/officeDocument/2006/relationships/tags" Target="../tags/tag168.xml"/><Relationship Id="rId113" Type="http://schemas.openxmlformats.org/officeDocument/2006/relationships/tags" Target="../tags/tag167.xml"/><Relationship Id="rId112" Type="http://schemas.openxmlformats.org/officeDocument/2006/relationships/tags" Target="../tags/tag166.xml"/><Relationship Id="rId111" Type="http://schemas.openxmlformats.org/officeDocument/2006/relationships/tags" Target="../tags/tag165.xml"/><Relationship Id="rId110" Type="http://schemas.openxmlformats.org/officeDocument/2006/relationships/tags" Target="../tags/tag164.xml"/><Relationship Id="rId11" Type="http://schemas.openxmlformats.org/officeDocument/2006/relationships/tags" Target="../tags/tag65.xml"/><Relationship Id="rId109" Type="http://schemas.openxmlformats.org/officeDocument/2006/relationships/tags" Target="../tags/tag163.xml"/><Relationship Id="rId108" Type="http://schemas.openxmlformats.org/officeDocument/2006/relationships/tags" Target="../tags/tag162.xml"/><Relationship Id="rId107" Type="http://schemas.openxmlformats.org/officeDocument/2006/relationships/tags" Target="../tags/tag161.xml"/><Relationship Id="rId106" Type="http://schemas.openxmlformats.org/officeDocument/2006/relationships/tags" Target="../tags/tag160.xml"/><Relationship Id="rId105" Type="http://schemas.openxmlformats.org/officeDocument/2006/relationships/tags" Target="../tags/tag159.xml"/><Relationship Id="rId104" Type="http://schemas.openxmlformats.org/officeDocument/2006/relationships/tags" Target="../tags/tag158.xml"/><Relationship Id="rId103" Type="http://schemas.openxmlformats.org/officeDocument/2006/relationships/tags" Target="../tags/tag157.xml"/><Relationship Id="rId102" Type="http://schemas.openxmlformats.org/officeDocument/2006/relationships/tags" Target="../tags/tag156.xml"/><Relationship Id="rId101" Type="http://schemas.openxmlformats.org/officeDocument/2006/relationships/tags" Target="../tags/tag155.xml"/><Relationship Id="rId100" Type="http://schemas.openxmlformats.org/officeDocument/2006/relationships/tags" Target="../tags/tag154.xml"/><Relationship Id="rId10" Type="http://schemas.openxmlformats.org/officeDocument/2006/relationships/tags" Target="../tags/tag64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330.xml"/><Relationship Id="rId98" Type="http://schemas.openxmlformats.org/officeDocument/2006/relationships/tags" Target="../tags/tag329.xml"/><Relationship Id="rId97" Type="http://schemas.openxmlformats.org/officeDocument/2006/relationships/tags" Target="../tags/tag328.xml"/><Relationship Id="rId96" Type="http://schemas.openxmlformats.org/officeDocument/2006/relationships/tags" Target="../tags/tag327.xml"/><Relationship Id="rId95" Type="http://schemas.openxmlformats.org/officeDocument/2006/relationships/tags" Target="../tags/tag326.xml"/><Relationship Id="rId94" Type="http://schemas.openxmlformats.org/officeDocument/2006/relationships/tags" Target="../tags/tag325.xml"/><Relationship Id="rId93" Type="http://schemas.openxmlformats.org/officeDocument/2006/relationships/tags" Target="../tags/tag324.xml"/><Relationship Id="rId92" Type="http://schemas.openxmlformats.org/officeDocument/2006/relationships/tags" Target="../tags/tag323.xml"/><Relationship Id="rId91" Type="http://schemas.openxmlformats.org/officeDocument/2006/relationships/tags" Target="../tags/tag322.xml"/><Relationship Id="rId90" Type="http://schemas.openxmlformats.org/officeDocument/2006/relationships/tags" Target="../tags/tag321.xml"/><Relationship Id="rId9" Type="http://schemas.openxmlformats.org/officeDocument/2006/relationships/chart" Target="../charts/chart17.xml"/><Relationship Id="rId89" Type="http://schemas.openxmlformats.org/officeDocument/2006/relationships/tags" Target="../tags/tag320.xml"/><Relationship Id="rId88" Type="http://schemas.openxmlformats.org/officeDocument/2006/relationships/tags" Target="../tags/tag319.xml"/><Relationship Id="rId87" Type="http://schemas.openxmlformats.org/officeDocument/2006/relationships/tags" Target="../tags/tag318.xml"/><Relationship Id="rId86" Type="http://schemas.openxmlformats.org/officeDocument/2006/relationships/tags" Target="../tags/tag317.xml"/><Relationship Id="rId85" Type="http://schemas.openxmlformats.org/officeDocument/2006/relationships/tags" Target="../tags/tag316.xml"/><Relationship Id="rId84" Type="http://schemas.openxmlformats.org/officeDocument/2006/relationships/tags" Target="../tags/tag315.xml"/><Relationship Id="rId83" Type="http://schemas.openxmlformats.org/officeDocument/2006/relationships/tags" Target="../tags/tag314.xml"/><Relationship Id="rId82" Type="http://schemas.openxmlformats.org/officeDocument/2006/relationships/tags" Target="../tags/tag313.xml"/><Relationship Id="rId81" Type="http://schemas.openxmlformats.org/officeDocument/2006/relationships/tags" Target="../tags/tag312.xml"/><Relationship Id="rId80" Type="http://schemas.openxmlformats.org/officeDocument/2006/relationships/tags" Target="../tags/tag311.xml"/><Relationship Id="rId8" Type="http://schemas.openxmlformats.org/officeDocument/2006/relationships/chart" Target="../charts/chart16.xml"/><Relationship Id="rId79" Type="http://schemas.openxmlformats.org/officeDocument/2006/relationships/tags" Target="../tags/tag310.xml"/><Relationship Id="rId78" Type="http://schemas.openxmlformats.org/officeDocument/2006/relationships/tags" Target="../tags/tag309.xml"/><Relationship Id="rId77" Type="http://schemas.openxmlformats.org/officeDocument/2006/relationships/tags" Target="../tags/tag308.xml"/><Relationship Id="rId76" Type="http://schemas.openxmlformats.org/officeDocument/2006/relationships/tags" Target="../tags/tag307.xml"/><Relationship Id="rId75" Type="http://schemas.openxmlformats.org/officeDocument/2006/relationships/tags" Target="../tags/tag306.xml"/><Relationship Id="rId74" Type="http://schemas.openxmlformats.org/officeDocument/2006/relationships/tags" Target="../tags/tag305.xml"/><Relationship Id="rId73" Type="http://schemas.openxmlformats.org/officeDocument/2006/relationships/tags" Target="../tags/tag304.xml"/><Relationship Id="rId72" Type="http://schemas.openxmlformats.org/officeDocument/2006/relationships/tags" Target="../tags/tag303.xml"/><Relationship Id="rId71" Type="http://schemas.openxmlformats.org/officeDocument/2006/relationships/tags" Target="../tags/tag302.xml"/><Relationship Id="rId70" Type="http://schemas.openxmlformats.org/officeDocument/2006/relationships/tags" Target="../tags/tag301.xml"/><Relationship Id="rId7" Type="http://schemas.openxmlformats.org/officeDocument/2006/relationships/chart" Target="../charts/chart15.xml"/><Relationship Id="rId69" Type="http://schemas.openxmlformats.org/officeDocument/2006/relationships/tags" Target="../tags/tag300.xml"/><Relationship Id="rId68" Type="http://schemas.openxmlformats.org/officeDocument/2006/relationships/tags" Target="../tags/tag299.xml"/><Relationship Id="rId67" Type="http://schemas.openxmlformats.org/officeDocument/2006/relationships/tags" Target="../tags/tag298.xml"/><Relationship Id="rId66" Type="http://schemas.openxmlformats.org/officeDocument/2006/relationships/tags" Target="../tags/tag297.xml"/><Relationship Id="rId65" Type="http://schemas.openxmlformats.org/officeDocument/2006/relationships/tags" Target="../tags/tag296.xml"/><Relationship Id="rId64" Type="http://schemas.openxmlformats.org/officeDocument/2006/relationships/tags" Target="../tags/tag295.xml"/><Relationship Id="rId63" Type="http://schemas.openxmlformats.org/officeDocument/2006/relationships/tags" Target="../tags/tag294.xml"/><Relationship Id="rId62" Type="http://schemas.openxmlformats.org/officeDocument/2006/relationships/tags" Target="../tags/tag293.xml"/><Relationship Id="rId61" Type="http://schemas.openxmlformats.org/officeDocument/2006/relationships/tags" Target="../tags/tag292.xml"/><Relationship Id="rId60" Type="http://schemas.openxmlformats.org/officeDocument/2006/relationships/tags" Target="../tags/tag291.xml"/><Relationship Id="rId6" Type="http://schemas.openxmlformats.org/officeDocument/2006/relationships/chart" Target="../charts/chart14.xml"/><Relationship Id="rId59" Type="http://schemas.openxmlformats.org/officeDocument/2006/relationships/tags" Target="../tags/tag290.xml"/><Relationship Id="rId58" Type="http://schemas.openxmlformats.org/officeDocument/2006/relationships/tags" Target="../tags/tag289.xml"/><Relationship Id="rId57" Type="http://schemas.openxmlformats.org/officeDocument/2006/relationships/tags" Target="../tags/tag288.xml"/><Relationship Id="rId56" Type="http://schemas.openxmlformats.org/officeDocument/2006/relationships/tags" Target="../tags/tag287.xml"/><Relationship Id="rId55" Type="http://schemas.openxmlformats.org/officeDocument/2006/relationships/tags" Target="../tags/tag286.xml"/><Relationship Id="rId54" Type="http://schemas.openxmlformats.org/officeDocument/2006/relationships/tags" Target="../tags/tag285.xml"/><Relationship Id="rId53" Type="http://schemas.openxmlformats.org/officeDocument/2006/relationships/tags" Target="../tags/tag284.xml"/><Relationship Id="rId52" Type="http://schemas.openxmlformats.org/officeDocument/2006/relationships/tags" Target="../tags/tag283.xml"/><Relationship Id="rId51" Type="http://schemas.openxmlformats.org/officeDocument/2006/relationships/tags" Target="../tags/tag282.xml"/><Relationship Id="rId50" Type="http://schemas.openxmlformats.org/officeDocument/2006/relationships/tags" Target="../tags/tag281.xml"/><Relationship Id="rId5" Type="http://schemas.openxmlformats.org/officeDocument/2006/relationships/chart" Target="../charts/chart13.xml"/><Relationship Id="rId49" Type="http://schemas.openxmlformats.org/officeDocument/2006/relationships/tags" Target="../tags/tag280.xml"/><Relationship Id="rId48" Type="http://schemas.openxmlformats.org/officeDocument/2006/relationships/tags" Target="../tags/tag279.xml"/><Relationship Id="rId47" Type="http://schemas.openxmlformats.org/officeDocument/2006/relationships/tags" Target="../tags/tag278.xml"/><Relationship Id="rId46" Type="http://schemas.openxmlformats.org/officeDocument/2006/relationships/tags" Target="../tags/tag277.xml"/><Relationship Id="rId45" Type="http://schemas.openxmlformats.org/officeDocument/2006/relationships/tags" Target="../tags/tag276.xml"/><Relationship Id="rId44" Type="http://schemas.openxmlformats.org/officeDocument/2006/relationships/tags" Target="../tags/tag275.xml"/><Relationship Id="rId43" Type="http://schemas.openxmlformats.org/officeDocument/2006/relationships/tags" Target="../tags/tag274.xml"/><Relationship Id="rId42" Type="http://schemas.openxmlformats.org/officeDocument/2006/relationships/tags" Target="../tags/tag273.xml"/><Relationship Id="rId41" Type="http://schemas.openxmlformats.org/officeDocument/2006/relationships/tags" Target="../tags/tag272.xml"/><Relationship Id="rId40" Type="http://schemas.openxmlformats.org/officeDocument/2006/relationships/tags" Target="../tags/tag271.xml"/><Relationship Id="rId4" Type="http://schemas.openxmlformats.org/officeDocument/2006/relationships/chart" Target="../charts/chart12.xml"/><Relationship Id="rId39" Type="http://schemas.openxmlformats.org/officeDocument/2006/relationships/tags" Target="../tags/tag270.xml"/><Relationship Id="rId38" Type="http://schemas.openxmlformats.org/officeDocument/2006/relationships/tags" Target="../tags/tag269.xml"/><Relationship Id="rId37" Type="http://schemas.openxmlformats.org/officeDocument/2006/relationships/tags" Target="../tags/tag268.xml"/><Relationship Id="rId36" Type="http://schemas.openxmlformats.org/officeDocument/2006/relationships/tags" Target="../tags/tag267.xml"/><Relationship Id="rId35" Type="http://schemas.openxmlformats.org/officeDocument/2006/relationships/tags" Target="../tags/tag266.xml"/><Relationship Id="rId34" Type="http://schemas.openxmlformats.org/officeDocument/2006/relationships/tags" Target="../tags/tag265.xml"/><Relationship Id="rId33" Type="http://schemas.openxmlformats.org/officeDocument/2006/relationships/tags" Target="../tags/tag264.xml"/><Relationship Id="rId32" Type="http://schemas.openxmlformats.org/officeDocument/2006/relationships/tags" Target="../tags/tag263.xml"/><Relationship Id="rId31" Type="http://schemas.openxmlformats.org/officeDocument/2006/relationships/tags" Target="../tags/tag262.xml"/><Relationship Id="rId30" Type="http://schemas.openxmlformats.org/officeDocument/2006/relationships/tags" Target="../tags/tag261.xml"/><Relationship Id="rId3" Type="http://schemas.openxmlformats.org/officeDocument/2006/relationships/chart" Target="../charts/chart11.xml"/><Relationship Id="rId29" Type="http://schemas.openxmlformats.org/officeDocument/2006/relationships/tags" Target="../tags/tag260.xml"/><Relationship Id="rId28" Type="http://schemas.openxmlformats.org/officeDocument/2006/relationships/tags" Target="../tags/tag259.xml"/><Relationship Id="rId27" Type="http://schemas.openxmlformats.org/officeDocument/2006/relationships/tags" Target="../tags/tag258.xml"/><Relationship Id="rId26" Type="http://schemas.openxmlformats.org/officeDocument/2006/relationships/tags" Target="../tags/tag257.xml"/><Relationship Id="rId25" Type="http://schemas.openxmlformats.org/officeDocument/2006/relationships/tags" Target="../tags/tag256.xml"/><Relationship Id="rId24" Type="http://schemas.openxmlformats.org/officeDocument/2006/relationships/tags" Target="../tags/tag255.xml"/><Relationship Id="rId23" Type="http://schemas.openxmlformats.org/officeDocument/2006/relationships/tags" Target="../tags/tag254.xml"/><Relationship Id="rId22" Type="http://schemas.openxmlformats.org/officeDocument/2006/relationships/tags" Target="../tags/tag253.xml"/><Relationship Id="rId21" Type="http://schemas.openxmlformats.org/officeDocument/2006/relationships/tags" Target="../tags/tag252.xml"/><Relationship Id="rId208" Type="http://schemas.openxmlformats.org/officeDocument/2006/relationships/notesSlide" Target="../notesSlides/notesSlide1.xml"/><Relationship Id="rId207" Type="http://schemas.openxmlformats.org/officeDocument/2006/relationships/slideLayout" Target="../slideLayouts/slideLayout1.xml"/><Relationship Id="rId206" Type="http://schemas.openxmlformats.org/officeDocument/2006/relationships/tags" Target="../tags/tag437.xml"/><Relationship Id="rId205" Type="http://schemas.openxmlformats.org/officeDocument/2006/relationships/tags" Target="../tags/tag436.xml"/><Relationship Id="rId204" Type="http://schemas.openxmlformats.org/officeDocument/2006/relationships/tags" Target="../tags/tag435.xml"/><Relationship Id="rId203" Type="http://schemas.openxmlformats.org/officeDocument/2006/relationships/tags" Target="../tags/tag434.xml"/><Relationship Id="rId202" Type="http://schemas.openxmlformats.org/officeDocument/2006/relationships/tags" Target="../tags/tag433.xml"/><Relationship Id="rId201" Type="http://schemas.openxmlformats.org/officeDocument/2006/relationships/tags" Target="../tags/tag432.xml"/><Relationship Id="rId200" Type="http://schemas.openxmlformats.org/officeDocument/2006/relationships/tags" Target="../tags/tag431.xml"/><Relationship Id="rId20" Type="http://schemas.openxmlformats.org/officeDocument/2006/relationships/tags" Target="../tags/tag251.xml"/><Relationship Id="rId2" Type="http://schemas.openxmlformats.org/officeDocument/2006/relationships/chart" Target="../charts/chart10.xml"/><Relationship Id="rId199" Type="http://schemas.openxmlformats.org/officeDocument/2006/relationships/tags" Target="../tags/tag430.xml"/><Relationship Id="rId198" Type="http://schemas.openxmlformats.org/officeDocument/2006/relationships/tags" Target="../tags/tag429.xml"/><Relationship Id="rId197" Type="http://schemas.openxmlformats.org/officeDocument/2006/relationships/tags" Target="../tags/tag428.xml"/><Relationship Id="rId196" Type="http://schemas.openxmlformats.org/officeDocument/2006/relationships/tags" Target="../tags/tag427.xml"/><Relationship Id="rId195" Type="http://schemas.openxmlformats.org/officeDocument/2006/relationships/tags" Target="../tags/tag426.xml"/><Relationship Id="rId194" Type="http://schemas.openxmlformats.org/officeDocument/2006/relationships/tags" Target="../tags/tag425.xml"/><Relationship Id="rId193" Type="http://schemas.openxmlformats.org/officeDocument/2006/relationships/tags" Target="../tags/tag424.xml"/><Relationship Id="rId192" Type="http://schemas.openxmlformats.org/officeDocument/2006/relationships/tags" Target="../tags/tag423.xml"/><Relationship Id="rId191" Type="http://schemas.openxmlformats.org/officeDocument/2006/relationships/tags" Target="../tags/tag422.xml"/><Relationship Id="rId190" Type="http://schemas.openxmlformats.org/officeDocument/2006/relationships/tags" Target="../tags/tag421.xml"/><Relationship Id="rId19" Type="http://schemas.openxmlformats.org/officeDocument/2006/relationships/tags" Target="../tags/tag250.xml"/><Relationship Id="rId189" Type="http://schemas.openxmlformats.org/officeDocument/2006/relationships/tags" Target="../tags/tag420.xml"/><Relationship Id="rId188" Type="http://schemas.openxmlformats.org/officeDocument/2006/relationships/tags" Target="../tags/tag419.xml"/><Relationship Id="rId187" Type="http://schemas.openxmlformats.org/officeDocument/2006/relationships/tags" Target="../tags/tag418.xml"/><Relationship Id="rId186" Type="http://schemas.openxmlformats.org/officeDocument/2006/relationships/tags" Target="../tags/tag417.xml"/><Relationship Id="rId185" Type="http://schemas.openxmlformats.org/officeDocument/2006/relationships/tags" Target="../tags/tag416.xml"/><Relationship Id="rId184" Type="http://schemas.openxmlformats.org/officeDocument/2006/relationships/tags" Target="../tags/tag415.xml"/><Relationship Id="rId183" Type="http://schemas.openxmlformats.org/officeDocument/2006/relationships/tags" Target="../tags/tag414.xml"/><Relationship Id="rId182" Type="http://schemas.openxmlformats.org/officeDocument/2006/relationships/tags" Target="../tags/tag413.xml"/><Relationship Id="rId181" Type="http://schemas.openxmlformats.org/officeDocument/2006/relationships/tags" Target="../tags/tag412.xml"/><Relationship Id="rId180" Type="http://schemas.openxmlformats.org/officeDocument/2006/relationships/tags" Target="../tags/tag411.xml"/><Relationship Id="rId18" Type="http://schemas.openxmlformats.org/officeDocument/2006/relationships/tags" Target="../tags/tag249.xml"/><Relationship Id="rId179" Type="http://schemas.openxmlformats.org/officeDocument/2006/relationships/tags" Target="../tags/tag410.xml"/><Relationship Id="rId178" Type="http://schemas.openxmlformats.org/officeDocument/2006/relationships/tags" Target="../tags/tag409.xml"/><Relationship Id="rId177" Type="http://schemas.openxmlformats.org/officeDocument/2006/relationships/tags" Target="../tags/tag408.xml"/><Relationship Id="rId176" Type="http://schemas.openxmlformats.org/officeDocument/2006/relationships/tags" Target="../tags/tag407.xml"/><Relationship Id="rId175" Type="http://schemas.openxmlformats.org/officeDocument/2006/relationships/tags" Target="../tags/tag406.xml"/><Relationship Id="rId174" Type="http://schemas.openxmlformats.org/officeDocument/2006/relationships/tags" Target="../tags/tag405.xml"/><Relationship Id="rId173" Type="http://schemas.openxmlformats.org/officeDocument/2006/relationships/tags" Target="../tags/tag404.xml"/><Relationship Id="rId172" Type="http://schemas.openxmlformats.org/officeDocument/2006/relationships/tags" Target="../tags/tag403.xml"/><Relationship Id="rId171" Type="http://schemas.openxmlformats.org/officeDocument/2006/relationships/tags" Target="../tags/tag402.xml"/><Relationship Id="rId170" Type="http://schemas.openxmlformats.org/officeDocument/2006/relationships/tags" Target="../tags/tag401.xml"/><Relationship Id="rId17" Type="http://schemas.openxmlformats.org/officeDocument/2006/relationships/tags" Target="../tags/tag248.xml"/><Relationship Id="rId169" Type="http://schemas.openxmlformats.org/officeDocument/2006/relationships/tags" Target="../tags/tag400.xml"/><Relationship Id="rId168" Type="http://schemas.openxmlformats.org/officeDocument/2006/relationships/tags" Target="../tags/tag399.xml"/><Relationship Id="rId167" Type="http://schemas.openxmlformats.org/officeDocument/2006/relationships/tags" Target="../tags/tag398.xml"/><Relationship Id="rId166" Type="http://schemas.openxmlformats.org/officeDocument/2006/relationships/tags" Target="../tags/tag397.xml"/><Relationship Id="rId165" Type="http://schemas.openxmlformats.org/officeDocument/2006/relationships/tags" Target="../tags/tag396.xml"/><Relationship Id="rId164" Type="http://schemas.openxmlformats.org/officeDocument/2006/relationships/tags" Target="../tags/tag395.xml"/><Relationship Id="rId163" Type="http://schemas.openxmlformats.org/officeDocument/2006/relationships/tags" Target="../tags/tag394.xml"/><Relationship Id="rId162" Type="http://schemas.openxmlformats.org/officeDocument/2006/relationships/tags" Target="../tags/tag393.xml"/><Relationship Id="rId161" Type="http://schemas.openxmlformats.org/officeDocument/2006/relationships/tags" Target="../tags/tag392.xml"/><Relationship Id="rId160" Type="http://schemas.openxmlformats.org/officeDocument/2006/relationships/tags" Target="../tags/tag391.xml"/><Relationship Id="rId16" Type="http://schemas.openxmlformats.org/officeDocument/2006/relationships/tags" Target="../tags/tag247.xml"/><Relationship Id="rId159" Type="http://schemas.openxmlformats.org/officeDocument/2006/relationships/tags" Target="../tags/tag390.xml"/><Relationship Id="rId158" Type="http://schemas.openxmlformats.org/officeDocument/2006/relationships/tags" Target="../tags/tag389.xml"/><Relationship Id="rId157" Type="http://schemas.openxmlformats.org/officeDocument/2006/relationships/tags" Target="../tags/tag388.xml"/><Relationship Id="rId156" Type="http://schemas.openxmlformats.org/officeDocument/2006/relationships/tags" Target="../tags/tag387.xml"/><Relationship Id="rId155" Type="http://schemas.openxmlformats.org/officeDocument/2006/relationships/tags" Target="../tags/tag386.xml"/><Relationship Id="rId154" Type="http://schemas.openxmlformats.org/officeDocument/2006/relationships/tags" Target="../tags/tag385.xml"/><Relationship Id="rId153" Type="http://schemas.openxmlformats.org/officeDocument/2006/relationships/tags" Target="../tags/tag384.xml"/><Relationship Id="rId152" Type="http://schemas.openxmlformats.org/officeDocument/2006/relationships/tags" Target="../tags/tag383.xml"/><Relationship Id="rId151" Type="http://schemas.openxmlformats.org/officeDocument/2006/relationships/tags" Target="../tags/tag382.xml"/><Relationship Id="rId150" Type="http://schemas.openxmlformats.org/officeDocument/2006/relationships/tags" Target="../tags/tag381.xml"/><Relationship Id="rId15" Type="http://schemas.openxmlformats.org/officeDocument/2006/relationships/tags" Target="../tags/tag246.xml"/><Relationship Id="rId149" Type="http://schemas.openxmlformats.org/officeDocument/2006/relationships/tags" Target="../tags/tag380.xml"/><Relationship Id="rId148" Type="http://schemas.openxmlformats.org/officeDocument/2006/relationships/tags" Target="../tags/tag379.xml"/><Relationship Id="rId147" Type="http://schemas.openxmlformats.org/officeDocument/2006/relationships/tags" Target="../tags/tag378.xml"/><Relationship Id="rId146" Type="http://schemas.openxmlformats.org/officeDocument/2006/relationships/tags" Target="../tags/tag377.xml"/><Relationship Id="rId145" Type="http://schemas.openxmlformats.org/officeDocument/2006/relationships/tags" Target="../tags/tag376.xml"/><Relationship Id="rId144" Type="http://schemas.openxmlformats.org/officeDocument/2006/relationships/tags" Target="../tags/tag375.xml"/><Relationship Id="rId143" Type="http://schemas.openxmlformats.org/officeDocument/2006/relationships/tags" Target="../tags/tag374.xml"/><Relationship Id="rId142" Type="http://schemas.openxmlformats.org/officeDocument/2006/relationships/tags" Target="../tags/tag373.xml"/><Relationship Id="rId141" Type="http://schemas.openxmlformats.org/officeDocument/2006/relationships/tags" Target="../tags/tag372.xml"/><Relationship Id="rId140" Type="http://schemas.openxmlformats.org/officeDocument/2006/relationships/tags" Target="../tags/tag371.xml"/><Relationship Id="rId14" Type="http://schemas.openxmlformats.org/officeDocument/2006/relationships/tags" Target="../tags/tag245.xml"/><Relationship Id="rId139" Type="http://schemas.openxmlformats.org/officeDocument/2006/relationships/tags" Target="../tags/tag370.xml"/><Relationship Id="rId138" Type="http://schemas.openxmlformats.org/officeDocument/2006/relationships/tags" Target="../tags/tag369.xml"/><Relationship Id="rId137" Type="http://schemas.openxmlformats.org/officeDocument/2006/relationships/tags" Target="../tags/tag368.xml"/><Relationship Id="rId136" Type="http://schemas.openxmlformats.org/officeDocument/2006/relationships/tags" Target="../tags/tag367.xml"/><Relationship Id="rId135" Type="http://schemas.openxmlformats.org/officeDocument/2006/relationships/tags" Target="../tags/tag366.xml"/><Relationship Id="rId134" Type="http://schemas.openxmlformats.org/officeDocument/2006/relationships/tags" Target="../tags/tag365.xml"/><Relationship Id="rId133" Type="http://schemas.openxmlformats.org/officeDocument/2006/relationships/tags" Target="../tags/tag364.xml"/><Relationship Id="rId132" Type="http://schemas.openxmlformats.org/officeDocument/2006/relationships/tags" Target="../tags/tag363.xml"/><Relationship Id="rId131" Type="http://schemas.openxmlformats.org/officeDocument/2006/relationships/tags" Target="../tags/tag362.xml"/><Relationship Id="rId130" Type="http://schemas.openxmlformats.org/officeDocument/2006/relationships/tags" Target="../tags/tag361.xml"/><Relationship Id="rId13" Type="http://schemas.openxmlformats.org/officeDocument/2006/relationships/tags" Target="../tags/tag244.xml"/><Relationship Id="rId129" Type="http://schemas.openxmlformats.org/officeDocument/2006/relationships/tags" Target="../tags/tag360.xml"/><Relationship Id="rId128" Type="http://schemas.openxmlformats.org/officeDocument/2006/relationships/tags" Target="../tags/tag359.xml"/><Relationship Id="rId127" Type="http://schemas.openxmlformats.org/officeDocument/2006/relationships/tags" Target="../tags/tag358.xml"/><Relationship Id="rId126" Type="http://schemas.openxmlformats.org/officeDocument/2006/relationships/tags" Target="../tags/tag357.xml"/><Relationship Id="rId125" Type="http://schemas.openxmlformats.org/officeDocument/2006/relationships/tags" Target="../tags/tag356.xml"/><Relationship Id="rId124" Type="http://schemas.openxmlformats.org/officeDocument/2006/relationships/tags" Target="../tags/tag355.xml"/><Relationship Id="rId123" Type="http://schemas.openxmlformats.org/officeDocument/2006/relationships/tags" Target="../tags/tag354.xml"/><Relationship Id="rId122" Type="http://schemas.openxmlformats.org/officeDocument/2006/relationships/tags" Target="../tags/tag353.xml"/><Relationship Id="rId121" Type="http://schemas.openxmlformats.org/officeDocument/2006/relationships/tags" Target="../tags/tag352.xml"/><Relationship Id="rId120" Type="http://schemas.openxmlformats.org/officeDocument/2006/relationships/tags" Target="../tags/tag351.xml"/><Relationship Id="rId12" Type="http://schemas.openxmlformats.org/officeDocument/2006/relationships/tags" Target="../tags/tag243.xml"/><Relationship Id="rId119" Type="http://schemas.openxmlformats.org/officeDocument/2006/relationships/tags" Target="../tags/tag350.xml"/><Relationship Id="rId118" Type="http://schemas.openxmlformats.org/officeDocument/2006/relationships/tags" Target="../tags/tag349.xml"/><Relationship Id="rId117" Type="http://schemas.openxmlformats.org/officeDocument/2006/relationships/tags" Target="../tags/tag348.xml"/><Relationship Id="rId116" Type="http://schemas.openxmlformats.org/officeDocument/2006/relationships/tags" Target="../tags/tag347.xml"/><Relationship Id="rId115" Type="http://schemas.openxmlformats.org/officeDocument/2006/relationships/tags" Target="../tags/tag346.xml"/><Relationship Id="rId114" Type="http://schemas.openxmlformats.org/officeDocument/2006/relationships/tags" Target="../tags/tag345.xml"/><Relationship Id="rId113" Type="http://schemas.openxmlformats.org/officeDocument/2006/relationships/tags" Target="../tags/tag344.xml"/><Relationship Id="rId112" Type="http://schemas.openxmlformats.org/officeDocument/2006/relationships/tags" Target="../tags/tag343.xml"/><Relationship Id="rId111" Type="http://schemas.openxmlformats.org/officeDocument/2006/relationships/tags" Target="../tags/tag342.xml"/><Relationship Id="rId110" Type="http://schemas.openxmlformats.org/officeDocument/2006/relationships/tags" Target="../tags/tag341.xml"/><Relationship Id="rId11" Type="http://schemas.openxmlformats.org/officeDocument/2006/relationships/tags" Target="../tags/tag242.xml"/><Relationship Id="rId109" Type="http://schemas.openxmlformats.org/officeDocument/2006/relationships/tags" Target="../tags/tag340.xml"/><Relationship Id="rId108" Type="http://schemas.openxmlformats.org/officeDocument/2006/relationships/tags" Target="../tags/tag339.xml"/><Relationship Id="rId107" Type="http://schemas.openxmlformats.org/officeDocument/2006/relationships/tags" Target="../tags/tag338.xml"/><Relationship Id="rId106" Type="http://schemas.openxmlformats.org/officeDocument/2006/relationships/tags" Target="../tags/tag337.xml"/><Relationship Id="rId105" Type="http://schemas.openxmlformats.org/officeDocument/2006/relationships/tags" Target="../tags/tag336.xml"/><Relationship Id="rId104" Type="http://schemas.openxmlformats.org/officeDocument/2006/relationships/tags" Target="../tags/tag335.xml"/><Relationship Id="rId103" Type="http://schemas.openxmlformats.org/officeDocument/2006/relationships/tags" Target="../tags/tag334.xml"/><Relationship Id="rId102" Type="http://schemas.openxmlformats.org/officeDocument/2006/relationships/tags" Target="../tags/tag333.xml"/><Relationship Id="rId101" Type="http://schemas.openxmlformats.org/officeDocument/2006/relationships/tags" Target="../tags/tag332.xml"/><Relationship Id="rId100" Type="http://schemas.openxmlformats.org/officeDocument/2006/relationships/tags" Target="../tags/tag331.xml"/><Relationship Id="rId10" Type="http://schemas.openxmlformats.org/officeDocument/2006/relationships/chart" Target="../charts/chart18.xml"/><Relationship Id="rId1" Type="http://schemas.openxmlformats.org/officeDocument/2006/relationships/chart" Target="../charts/chart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46.xml"/><Relationship Id="rId8" Type="http://schemas.openxmlformats.org/officeDocument/2006/relationships/tags" Target="../tags/tag445.xml"/><Relationship Id="rId7" Type="http://schemas.openxmlformats.org/officeDocument/2006/relationships/tags" Target="../tags/tag444.xml"/><Relationship Id="rId6" Type="http://schemas.openxmlformats.org/officeDocument/2006/relationships/tags" Target="../tags/tag443.xml"/><Relationship Id="rId5" Type="http://schemas.openxmlformats.org/officeDocument/2006/relationships/tags" Target="../tags/tag442.xml"/><Relationship Id="rId47" Type="http://schemas.openxmlformats.org/officeDocument/2006/relationships/slideLayout" Target="../slideLayouts/slideLayout2.xml"/><Relationship Id="rId46" Type="http://schemas.openxmlformats.org/officeDocument/2006/relationships/tags" Target="../tags/tag483.xml"/><Relationship Id="rId45" Type="http://schemas.openxmlformats.org/officeDocument/2006/relationships/tags" Target="../tags/tag482.xml"/><Relationship Id="rId44" Type="http://schemas.openxmlformats.org/officeDocument/2006/relationships/tags" Target="../tags/tag481.xml"/><Relationship Id="rId43" Type="http://schemas.openxmlformats.org/officeDocument/2006/relationships/tags" Target="../tags/tag480.xml"/><Relationship Id="rId42" Type="http://schemas.openxmlformats.org/officeDocument/2006/relationships/tags" Target="../tags/tag479.xml"/><Relationship Id="rId41" Type="http://schemas.openxmlformats.org/officeDocument/2006/relationships/tags" Target="../tags/tag478.xml"/><Relationship Id="rId40" Type="http://schemas.openxmlformats.org/officeDocument/2006/relationships/tags" Target="../tags/tag477.xml"/><Relationship Id="rId4" Type="http://schemas.openxmlformats.org/officeDocument/2006/relationships/tags" Target="../tags/tag441.xml"/><Relationship Id="rId39" Type="http://schemas.openxmlformats.org/officeDocument/2006/relationships/tags" Target="../tags/tag476.xml"/><Relationship Id="rId38" Type="http://schemas.openxmlformats.org/officeDocument/2006/relationships/tags" Target="../tags/tag475.xml"/><Relationship Id="rId37" Type="http://schemas.openxmlformats.org/officeDocument/2006/relationships/tags" Target="../tags/tag474.xml"/><Relationship Id="rId36" Type="http://schemas.openxmlformats.org/officeDocument/2006/relationships/tags" Target="../tags/tag473.xml"/><Relationship Id="rId35" Type="http://schemas.openxmlformats.org/officeDocument/2006/relationships/tags" Target="../tags/tag472.xml"/><Relationship Id="rId34" Type="http://schemas.openxmlformats.org/officeDocument/2006/relationships/tags" Target="../tags/tag471.xml"/><Relationship Id="rId33" Type="http://schemas.openxmlformats.org/officeDocument/2006/relationships/tags" Target="../tags/tag470.xml"/><Relationship Id="rId32" Type="http://schemas.openxmlformats.org/officeDocument/2006/relationships/tags" Target="../tags/tag469.xml"/><Relationship Id="rId31" Type="http://schemas.openxmlformats.org/officeDocument/2006/relationships/tags" Target="../tags/tag468.xml"/><Relationship Id="rId30" Type="http://schemas.openxmlformats.org/officeDocument/2006/relationships/tags" Target="../tags/tag467.xml"/><Relationship Id="rId3" Type="http://schemas.openxmlformats.org/officeDocument/2006/relationships/tags" Target="../tags/tag440.xml"/><Relationship Id="rId29" Type="http://schemas.openxmlformats.org/officeDocument/2006/relationships/tags" Target="../tags/tag466.xml"/><Relationship Id="rId28" Type="http://schemas.openxmlformats.org/officeDocument/2006/relationships/tags" Target="../tags/tag465.xml"/><Relationship Id="rId27" Type="http://schemas.openxmlformats.org/officeDocument/2006/relationships/tags" Target="../tags/tag464.xml"/><Relationship Id="rId26" Type="http://schemas.openxmlformats.org/officeDocument/2006/relationships/tags" Target="../tags/tag463.xml"/><Relationship Id="rId25" Type="http://schemas.openxmlformats.org/officeDocument/2006/relationships/tags" Target="../tags/tag462.xml"/><Relationship Id="rId24" Type="http://schemas.openxmlformats.org/officeDocument/2006/relationships/tags" Target="../tags/tag461.xml"/><Relationship Id="rId23" Type="http://schemas.openxmlformats.org/officeDocument/2006/relationships/tags" Target="../tags/tag460.xml"/><Relationship Id="rId22" Type="http://schemas.openxmlformats.org/officeDocument/2006/relationships/tags" Target="../tags/tag459.xml"/><Relationship Id="rId21" Type="http://schemas.openxmlformats.org/officeDocument/2006/relationships/tags" Target="../tags/tag458.xml"/><Relationship Id="rId20" Type="http://schemas.openxmlformats.org/officeDocument/2006/relationships/tags" Target="../tags/tag457.xml"/><Relationship Id="rId2" Type="http://schemas.openxmlformats.org/officeDocument/2006/relationships/tags" Target="../tags/tag439.xml"/><Relationship Id="rId19" Type="http://schemas.openxmlformats.org/officeDocument/2006/relationships/tags" Target="../tags/tag456.xml"/><Relationship Id="rId18" Type="http://schemas.openxmlformats.org/officeDocument/2006/relationships/tags" Target="../tags/tag455.xml"/><Relationship Id="rId17" Type="http://schemas.openxmlformats.org/officeDocument/2006/relationships/tags" Target="../tags/tag454.xml"/><Relationship Id="rId16" Type="http://schemas.openxmlformats.org/officeDocument/2006/relationships/tags" Target="../tags/tag453.xml"/><Relationship Id="rId15" Type="http://schemas.openxmlformats.org/officeDocument/2006/relationships/tags" Target="../tags/tag452.xml"/><Relationship Id="rId14" Type="http://schemas.openxmlformats.org/officeDocument/2006/relationships/tags" Target="../tags/tag451.xml"/><Relationship Id="rId13" Type="http://schemas.openxmlformats.org/officeDocument/2006/relationships/tags" Target="../tags/tag450.xml"/><Relationship Id="rId12" Type="http://schemas.openxmlformats.org/officeDocument/2006/relationships/tags" Target="../tags/tag449.xml"/><Relationship Id="rId11" Type="http://schemas.openxmlformats.org/officeDocument/2006/relationships/tags" Target="../tags/tag448.xml"/><Relationship Id="rId10" Type="http://schemas.openxmlformats.org/officeDocument/2006/relationships/tags" Target="../tags/tag447.xml"/><Relationship Id="rId1" Type="http://schemas.openxmlformats.org/officeDocument/2006/relationships/tags" Target="../tags/tag4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5" name="图表 424"/>
          <p:cNvGraphicFramePr/>
          <p:nvPr>
            <p:custDataLst>
              <p:tags r:id="rId9"/>
            </p:custDataLst>
          </p:nvPr>
        </p:nvGraphicFramePr>
        <p:xfrm>
          <a:off x="6130290" y="3719830"/>
          <a:ext cx="5294630" cy="1973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2" name="文本框 12"/>
          <p:cNvSpPr txBox="1"/>
          <p:nvPr>
            <p:custDataLst>
              <p:tags r:id="rId10"/>
            </p:custDataLst>
          </p:nvPr>
        </p:nvSpPr>
        <p:spPr>
          <a:xfrm>
            <a:off x="3815080" y="266933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公司每日经营看板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圆角矩形 168"/>
          <p:cNvSpPr/>
          <p:nvPr>
            <p:custDataLst>
              <p:tags r:id="rId11"/>
            </p:custDataLst>
          </p:nvPr>
        </p:nvSpPr>
        <p:spPr>
          <a:xfrm>
            <a:off x="637540" y="1623060"/>
            <a:ext cx="10975975" cy="41389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23" name="Group 16"/>
          <p:cNvGrpSpPr/>
          <p:nvPr/>
        </p:nvGrpSpPr>
        <p:grpSpPr>
          <a:xfrm>
            <a:off x="9349105" y="665480"/>
            <a:ext cx="2252980" cy="295275"/>
            <a:chOff x="9428626" y="513634"/>
            <a:chExt cx="2062214" cy="295275"/>
          </a:xfrm>
        </p:grpSpPr>
        <p:sp>
          <p:nvSpPr>
            <p:cNvPr id="233" name="Rectangle: Top Corners Rounded 17"/>
            <p:cNvSpPr/>
            <p:nvPr>
              <p:custDataLst>
                <p:tags r:id="rId12"/>
              </p:custDataLst>
            </p:nvPr>
          </p:nvSpPr>
          <p:spPr>
            <a:xfrm>
              <a:off x="10191896" y="513634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30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4" name="Rectangle: Single Corner Rounded 18"/>
            <p:cNvSpPr/>
            <p:nvPr>
              <p:custDataLst>
                <p:tags r:id="rId13"/>
              </p:custDataLst>
            </p:nvPr>
          </p:nvSpPr>
          <p:spPr>
            <a:xfrm>
              <a:off x="11206440" y="518234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5" name="Isosceles Triangle 19"/>
            <p:cNvSpPr/>
            <p:nvPr>
              <p:custDataLst>
                <p:tags r:id="rId14"/>
              </p:custDataLst>
            </p:nvPr>
          </p:nvSpPr>
          <p:spPr>
            <a:xfrm rot="10800000">
              <a:off x="11316631" y="634844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2" name="TextBox 20"/>
            <p:cNvSpPr txBox="1"/>
            <p:nvPr>
              <p:custDataLst>
                <p:tags r:id="rId15"/>
              </p:custDataLst>
            </p:nvPr>
          </p:nvSpPr>
          <p:spPr>
            <a:xfrm>
              <a:off x="9428626" y="548559"/>
              <a:ext cx="867410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报告日期：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75" name="Rectangle: Rounded Corners 156"/>
          <p:cNvSpPr/>
          <p:nvPr>
            <p:custDataLst>
              <p:tags r:id="rId16"/>
            </p:custDataLst>
          </p:nvPr>
        </p:nvSpPr>
        <p:spPr>
          <a:xfrm>
            <a:off x="636270" y="1327785"/>
            <a:ext cx="972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MTD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/>
          <p:cNvSpPr txBox="1"/>
          <p:nvPr>
            <p:custDataLst>
              <p:tags r:id="rId17"/>
            </p:custDataLst>
          </p:nvPr>
        </p:nvSpPr>
        <p:spPr>
          <a:xfrm>
            <a:off x="3672205" y="1711960"/>
            <a:ext cx="217487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达成率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3919855" y="1961515"/>
            <a:ext cx="1663065" cy="1053465"/>
            <a:chOff x="1292" y="2411"/>
            <a:chExt cx="2619" cy="1659"/>
          </a:xfrm>
        </p:grpSpPr>
        <p:graphicFrame>
          <p:nvGraphicFramePr>
            <p:cNvPr id="121" name="图表 120"/>
            <p:cNvGraphicFramePr/>
            <p:nvPr>
              <p:custDataLst>
                <p:tags r:id="rId18"/>
              </p:custDataLst>
            </p:nvPr>
          </p:nvGraphicFramePr>
          <p:xfrm>
            <a:off x="1292" y="2411"/>
            <a:ext cx="2619" cy="165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31" name="文本框 130"/>
            <p:cNvSpPr txBox="1"/>
            <p:nvPr>
              <p:custDataLst>
                <p:tags r:id="rId19"/>
              </p:custDataLst>
            </p:nvPr>
          </p:nvSpPr>
          <p:spPr>
            <a:xfrm>
              <a:off x="1729" y="3029"/>
              <a:ext cx="1502" cy="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2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     105.00%             </a:t>
              </a:r>
              <a:endParaRPr lang="en-US" altLang="zh-CN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2" name="圆角矩形 21"/>
          <p:cNvSpPr/>
          <p:nvPr>
            <p:custDataLst>
              <p:tags r:id="rId20"/>
            </p:custDataLst>
          </p:nvPr>
        </p:nvSpPr>
        <p:spPr>
          <a:xfrm>
            <a:off x="779145" y="3094990"/>
            <a:ext cx="2595880" cy="122428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1"/>
            </p:custDataLst>
          </p:nvPr>
        </p:nvSpPr>
        <p:spPr>
          <a:xfrm>
            <a:off x="852805" y="4728845"/>
            <a:ext cx="1151255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10.00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万件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2"/>
            </p:custDataLst>
          </p:nvPr>
        </p:nvSpPr>
        <p:spPr>
          <a:xfrm>
            <a:off x="1212850" y="4425950"/>
            <a:ext cx="75755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销量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圆角矩形 35"/>
          <p:cNvSpPr/>
          <p:nvPr>
            <p:custDataLst>
              <p:tags r:id="rId23"/>
            </p:custDataLst>
          </p:nvPr>
        </p:nvSpPr>
        <p:spPr>
          <a:xfrm>
            <a:off x="779145" y="4410710"/>
            <a:ext cx="1285240" cy="128270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24"/>
            </p:custDataLst>
          </p:nvPr>
        </p:nvSpPr>
        <p:spPr>
          <a:xfrm>
            <a:off x="943610" y="5097780"/>
            <a:ext cx="1124585" cy="4356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b="1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昨日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1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9.60</a:t>
            </a:r>
            <a:r>
              <a:rPr lang="zh-CN" altLang="en-US" sz="1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万件</a:t>
            </a:r>
            <a:endParaRPr lang="zh-CN" altLang="en-US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2.00%   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/>
          <p:cNvSpPr txBox="1"/>
          <p:nvPr>
            <p:custDataLst>
              <p:tags r:id="rId25"/>
            </p:custDataLst>
          </p:nvPr>
        </p:nvSpPr>
        <p:spPr>
          <a:xfrm>
            <a:off x="561975" y="953770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经营概览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本框 166"/>
          <p:cNvSpPr txBox="1"/>
          <p:nvPr>
            <p:custDataLst>
              <p:tags r:id="rId26"/>
            </p:custDataLst>
          </p:nvPr>
        </p:nvSpPr>
        <p:spPr>
          <a:xfrm>
            <a:off x="635000" y="871474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渠道目标达成明细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圆角矩形 167"/>
          <p:cNvSpPr/>
          <p:nvPr>
            <p:custDataLst>
              <p:tags r:id="rId27"/>
            </p:custDataLst>
          </p:nvPr>
        </p:nvSpPr>
        <p:spPr>
          <a:xfrm>
            <a:off x="647065" y="8714740"/>
            <a:ext cx="10975975" cy="33502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1" name="Rectangle: Rounded Corners 156"/>
          <p:cNvSpPr/>
          <p:nvPr>
            <p:custDataLst>
              <p:tags r:id="rId28"/>
            </p:custDataLst>
          </p:nvPr>
        </p:nvSpPr>
        <p:spPr>
          <a:xfrm>
            <a:off x="758825" y="901954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2" name="Rectangle: Rounded Corners 156"/>
          <p:cNvSpPr/>
          <p:nvPr>
            <p:custDataLst>
              <p:tags r:id="rId29"/>
            </p:custDataLst>
          </p:nvPr>
        </p:nvSpPr>
        <p:spPr>
          <a:xfrm>
            <a:off x="1568450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Rectangle: Rounded Corners 156"/>
          <p:cNvSpPr/>
          <p:nvPr>
            <p:custDataLst>
              <p:tags r:id="rId30"/>
            </p:custDataLst>
          </p:nvPr>
        </p:nvSpPr>
        <p:spPr>
          <a:xfrm>
            <a:off x="2389505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Rectangle: Rounded Corners 156"/>
          <p:cNvSpPr/>
          <p:nvPr>
            <p:custDataLst>
              <p:tags r:id="rId31"/>
            </p:custDataLst>
          </p:nvPr>
        </p:nvSpPr>
        <p:spPr>
          <a:xfrm>
            <a:off x="3210560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Rectangle: Rounded Corners 156"/>
          <p:cNvSpPr/>
          <p:nvPr>
            <p:custDataLst>
              <p:tags r:id="rId32"/>
            </p:custDataLst>
          </p:nvPr>
        </p:nvSpPr>
        <p:spPr>
          <a:xfrm>
            <a:off x="4031615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Rectangle: Rounded Corners 156"/>
          <p:cNvSpPr/>
          <p:nvPr>
            <p:custDataLst>
              <p:tags r:id="rId33"/>
            </p:custDataLst>
          </p:nvPr>
        </p:nvSpPr>
        <p:spPr>
          <a:xfrm>
            <a:off x="4841875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6" name="表格 152"/>
          <p:cNvGraphicFramePr>
            <a:graphicFrameLocks noGrp="1"/>
          </p:cNvGraphicFramePr>
          <p:nvPr>
            <p:custDataLst>
              <p:tags r:id="rId34"/>
            </p:custDataLst>
          </p:nvPr>
        </p:nvGraphicFramePr>
        <p:xfrm>
          <a:off x="748030" y="9398635"/>
          <a:ext cx="10753090" cy="259842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894080"/>
                <a:gridCol w="735965"/>
                <a:gridCol w="735965"/>
                <a:gridCol w="878840"/>
                <a:gridCol w="880110"/>
                <a:gridCol w="740410"/>
                <a:gridCol w="738505"/>
                <a:gridCol w="951865"/>
                <a:gridCol w="950595"/>
                <a:gridCol w="727710"/>
                <a:gridCol w="728980"/>
                <a:gridCol w="894715"/>
                <a:gridCol w="895350"/>
              </a:tblGrid>
              <a:tr h="41021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业务来源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费比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营销费用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财务净收入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5560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天猫自播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抖音货架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抖音自播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84" name="文本框 183"/>
          <p:cNvSpPr txBox="1"/>
          <p:nvPr>
            <p:custDataLst>
              <p:tags r:id="rId35"/>
            </p:custDataLst>
          </p:nvPr>
        </p:nvSpPr>
        <p:spPr>
          <a:xfrm>
            <a:off x="646430" y="1214437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产品目标达成明细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>
            <p:custDataLst>
              <p:tags r:id="rId36"/>
            </p:custDataLst>
          </p:nvPr>
        </p:nvSpPr>
        <p:spPr>
          <a:xfrm>
            <a:off x="658495" y="12144375"/>
            <a:ext cx="10964545" cy="33502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93" name="表格 152"/>
          <p:cNvGraphicFramePr>
            <a:graphicFrameLocks noGrp="1"/>
          </p:cNvGraphicFramePr>
          <p:nvPr>
            <p:custDataLst>
              <p:tags r:id="rId37"/>
            </p:custDataLst>
          </p:nvPr>
        </p:nvGraphicFramePr>
        <p:xfrm>
          <a:off x="759460" y="12480290"/>
          <a:ext cx="10731500" cy="295338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762635"/>
                <a:gridCol w="598805"/>
                <a:gridCol w="600075"/>
                <a:gridCol w="729615"/>
                <a:gridCol w="708025"/>
                <a:gridCol w="681355"/>
                <a:gridCol w="725170"/>
                <a:gridCol w="751840"/>
                <a:gridCol w="743585"/>
                <a:gridCol w="610235"/>
                <a:gridCol w="717550"/>
                <a:gridCol w="805815"/>
                <a:gridCol w="788670"/>
                <a:gridCol w="747395"/>
                <a:gridCol w="760730"/>
              </a:tblGrid>
              <a:tr h="46545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重点品类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费比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营销费用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财务净收入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  <a:endParaRPr kumimoji="0" lang="zh-CN" altLang="en-US" sz="9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96.77%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u="sng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底妆</a:t>
                      </a:r>
                      <a:endParaRPr kumimoji="0" lang="zh-CN" altLang="en-US" sz="9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64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色彩</a:t>
                      </a:r>
                      <a:endParaRPr kumimoji="0" lang="zh-CN" altLang="en-US" sz="9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护肤</a:t>
                      </a:r>
                      <a:endParaRPr kumimoji="0" lang="zh-CN" altLang="en-US" sz="9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0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95" name="文本框 194"/>
          <p:cNvSpPr txBox="1"/>
          <p:nvPr>
            <p:custDataLst>
              <p:tags r:id="rId38"/>
            </p:custDataLst>
          </p:nvPr>
        </p:nvSpPr>
        <p:spPr>
          <a:xfrm>
            <a:off x="610235" y="2260663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费用预实分析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圆角矩形 193"/>
          <p:cNvSpPr/>
          <p:nvPr>
            <p:custDataLst>
              <p:tags r:id="rId39"/>
            </p:custDataLst>
          </p:nvPr>
        </p:nvSpPr>
        <p:spPr>
          <a:xfrm>
            <a:off x="658495" y="22995255"/>
            <a:ext cx="5314950" cy="292163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6" name="图表 5"/>
          <p:cNvGraphicFramePr/>
          <p:nvPr>
            <p:custDataLst>
              <p:tags r:id="rId40"/>
            </p:custDataLst>
          </p:nvPr>
        </p:nvGraphicFramePr>
        <p:xfrm>
          <a:off x="669290" y="23031450"/>
          <a:ext cx="5293995" cy="2999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文本框 13"/>
          <p:cNvSpPr txBox="1"/>
          <p:nvPr>
            <p:custDataLst>
              <p:tags r:id="rId41"/>
            </p:custDataLst>
          </p:nvPr>
        </p:nvSpPr>
        <p:spPr>
          <a:xfrm>
            <a:off x="602615" y="3140075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报表总览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" name="表格 152"/>
          <p:cNvGraphicFramePr>
            <a:graphicFrameLocks noGrp="1"/>
          </p:cNvGraphicFramePr>
          <p:nvPr>
            <p:custDataLst>
              <p:tags r:id="rId42"/>
            </p:custDataLst>
          </p:nvPr>
        </p:nvGraphicFramePr>
        <p:xfrm>
          <a:off x="767715" y="32031940"/>
          <a:ext cx="10817225" cy="401891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9615"/>
                <a:gridCol w="683895"/>
                <a:gridCol w="683895"/>
                <a:gridCol w="683260"/>
                <a:gridCol w="675005"/>
                <a:gridCol w="746125"/>
                <a:gridCol w="772795"/>
                <a:gridCol w="791845"/>
                <a:gridCol w="693420"/>
                <a:gridCol w="782320"/>
                <a:gridCol w="583565"/>
              </a:tblGrid>
              <a:tr h="27749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京东旗舰店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快手旗舰店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唯品会旗舰店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7749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销量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件单价（元）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IP明星内容合作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    品牌IP及娱乐营销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...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" name="圆角矩形 41"/>
          <p:cNvSpPr/>
          <p:nvPr>
            <p:custDataLst>
              <p:tags r:id="rId43"/>
            </p:custDataLst>
          </p:nvPr>
        </p:nvSpPr>
        <p:spPr>
          <a:xfrm>
            <a:off x="659765" y="28534360"/>
            <a:ext cx="11014710" cy="286702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文本框 42"/>
          <p:cNvSpPr txBox="1"/>
          <p:nvPr>
            <p:custDataLst>
              <p:tags r:id="rId44"/>
            </p:custDataLst>
          </p:nvPr>
        </p:nvSpPr>
        <p:spPr>
          <a:xfrm>
            <a:off x="669290" y="2853436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部门营销费用预实对比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212454" y="1711960"/>
            <a:ext cx="1702246" cy="642116"/>
            <a:chOff x="1015" y="1935"/>
            <a:chExt cx="1952" cy="732"/>
          </a:xfrm>
        </p:grpSpPr>
        <p:sp>
          <p:nvSpPr>
            <p:cNvPr id="9" name="文本框 8"/>
            <p:cNvSpPr txBox="1"/>
            <p:nvPr>
              <p:custDataLst>
                <p:tags r:id="rId45"/>
              </p:custDataLst>
            </p:nvPr>
          </p:nvSpPr>
          <p:spPr>
            <a:xfrm>
              <a:off x="1015" y="1935"/>
              <a:ext cx="1868" cy="51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MTD</a:t>
              </a:r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退款后</a:t>
              </a:r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GMV</a:t>
              </a:r>
              <a:endParaRPr lang="en-US" altLang="zh-CN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46"/>
              </p:custDataLst>
            </p:nvPr>
          </p:nvSpPr>
          <p:spPr>
            <a:xfrm>
              <a:off x="1230" y="2243"/>
              <a:ext cx="1737" cy="42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10,500.00</a:t>
              </a: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3" name="圆角矩形 12"/>
          <p:cNvSpPr/>
          <p:nvPr>
            <p:custDataLst>
              <p:tags r:id="rId47"/>
            </p:custDataLst>
          </p:nvPr>
        </p:nvSpPr>
        <p:spPr>
          <a:xfrm>
            <a:off x="779145" y="1701165"/>
            <a:ext cx="2595880" cy="133096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48"/>
            </p:custDataLst>
          </p:nvPr>
        </p:nvSpPr>
        <p:spPr>
          <a:xfrm>
            <a:off x="1433830" y="2500630"/>
            <a:ext cx="118745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1.00%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9"/>
            </p:custDataLst>
          </p:nvPr>
        </p:nvSpPr>
        <p:spPr>
          <a:xfrm>
            <a:off x="1433830" y="2730500"/>
            <a:ext cx="98107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0" name="表格 152"/>
          <p:cNvGraphicFramePr>
            <a:graphicFrameLocks noGrp="1"/>
          </p:cNvGraphicFramePr>
          <p:nvPr>
            <p:custDataLst>
              <p:tags r:id="rId50"/>
            </p:custDataLst>
          </p:nvPr>
        </p:nvGraphicFramePr>
        <p:xfrm>
          <a:off x="742950" y="28820110"/>
          <a:ext cx="10850880" cy="249682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2072005"/>
                <a:gridCol w="2035810"/>
                <a:gridCol w="1472565"/>
                <a:gridCol w="1591945"/>
                <a:gridCol w="1756410"/>
                <a:gridCol w="1922145"/>
              </a:tblGrid>
              <a:tr h="4057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一级部门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二级部门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渠道运营部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102%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运营策略部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直播运营部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96" name="文本框 95"/>
          <p:cNvSpPr txBox="1"/>
          <p:nvPr>
            <p:custDataLst>
              <p:tags r:id="rId51"/>
            </p:custDataLst>
          </p:nvPr>
        </p:nvSpPr>
        <p:spPr>
          <a:xfrm>
            <a:off x="4968240" y="4425950"/>
            <a:ext cx="85407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营销费用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圆角矩形 96"/>
          <p:cNvSpPr/>
          <p:nvPr>
            <p:custDataLst>
              <p:tags r:id="rId52"/>
            </p:custDataLst>
          </p:nvPr>
        </p:nvSpPr>
        <p:spPr>
          <a:xfrm>
            <a:off x="4719955" y="4410710"/>
            <a:ext cx="1332000" cy="128270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53"/>
            </p:custDataLst>
          </p:nvPr>
        </p:nvSpPr>
        <p:spPr>
          <a:xfrm>
            <a:off x="4789805" y="4726305"/>
            <a:ext cx="1150620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2,000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圆角矩形 128"/>
          <p:cNvSpPr/>
          <p:nvPr>
            <p:custDataLst>
              <p:tags r:id="rId54"/>
            </p:custDataLst>
          </p:nvPr>
        </p:nvSpPr>
        <p:spPr>
          <a:xfrm>
            <a:off x="3459480" y="3095625"/>
            <a:ext cx="2597785" cy="122809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55" name="文本框 254"/>
          <p:cNvSpPr txBox="1"/>
          <p:nvPr>
            <p:custDataLst>
              <p:tags r:id="rId55"/>
            </p:custDataLst>
          </p:nvPr>
        </p:nvSpPr>
        <p:spPr>
          <a:xfrm>
            <a:off x="565150" y="8340725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目标达成分析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/>
          <p:cNvSpPr txBox="1"/>
          <p:nvPr>
            <p:custDataLst>
              <p:tags r:id="rId56"/>
            </p:custDataLst>
          </p:nvPr>
        </p:nvSpPr>
        <p:spPr>
          <a:xfrm>
            <a:off x="10802620" y="2857754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57"/>
            </p:custDataLst>
          </p:nvPr>
        </p:nvSpPr>
        <p:spPr>
          <a:xfrm>
            <a:off x="1433830" y="2277110"/>
            <a:ext cx="1449705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昨日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10,100.00</a:t>
            </a:r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58"/>
            </p:custDataLst>
          </p:nvPr>
        </p:nvSpPr>
        <p:spPr>
          <a:xfrm>
            <a:off x="2324100" y="4425950"/>
            <a:ext cx="97091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财务净收入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圆角矩形 88"/>
          <p:cNvSpPr/>
          <p:nvPr>
            <p:custDataLst>
              <p:tags r:id="rId59"/>
            </p:custDataLst>
          </p:nvPr>
        </p:nvSpPr>
        <p:spPr>
          <a:xfrm>
            <a:off x="2142490" y="4410710"/>
            <a:ext cx="1235075" cy="128270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99" name="文本框 98"/>
          <p:cNvSpPr txBox="1"/>
          <p:nvPr>
            <p:custDataLst>
              <p:tags r:id="rId60"/>
            </p:custDataLst>
          </p:nvPr>
        </p:nvSpPr>
        <p:spPr>
          <a:xfrm>
            <a:off x="2165985" y="4726305"/>
            <a:ext cx="1144270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8,000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61"/>
            </p:custDataLst>
          </p:nvPr>
        </p:nvSpPr>
        <p:spPr>
          <a:xfrm>
            <a:off x="2219325" y="5098415"/>
            <a:ext cx="1290320" cy="4356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b="1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昨日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1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7,500</a:t>
            </a:r>
            <a:r>
              <a:rPr lang="zh-CN" altLang="en-US" sz="1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2.00%   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/>
          <p:cNvSpPr txBox="1"/>
          <p:nvPr>
            <p:custDataLst>
              <p:tags r:id="rId62"/>
            </p:custDataLst>
          </p:nvPr>
        </p:nvSpPr>
        <p:spPr>
          <a:xfrm>
            <a:off x="3774440" y="4425950"/>
            <a:ext cx="75755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费比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圆角矩形 92"/>
          <p:cNvSpPr/>
          <p:nvPr>
            <p:custDataLst>
              <p:tags r:id="rId63"/>
            </p:custDataLst>
          </p:nvPr>
        </p:nvSpPr>
        <p:spPr>
          <a:xfrm>
            <a:off x="3455035" y="4410710"/>
            <a:ext cx="1188000" cy="128270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64"/>
            </p:custDataLst>
          </p:nvPr>
        </p:nvSpPr>
        <p:spPr>
          <a:xfrm>
            <a:off x="3520440" y="4726305"/>
            <a:ext cx="1150620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50.00%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65"/>
            </p:custDataLst>
          </p:nvPr>
        </p:nvSpPr>
        <p:spPr>
          <a:xfrm>
            <a:off x="3546475" y="5100320"/>
            <a:ext cx="1124585" cy="4356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b="1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昨日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1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48.00%</a:t>
            </a:r>
            <a:endParaRPr lang="zh-CN" altLang="en-US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2.00%   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66"/>
            </p:custDataLst>
          </p:nvPr>
        </p:nvSpPr>
        <p:spPr>
          <a:xfrm>
            <a:off x="4838700" y="5106035"/>
            <a:ext cx="1124585" cy="4356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b="1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昨日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1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1,800</a:t>
            </a:r>
            <a:r>
              <a:rPr lang="zh-CN" altLang="en-US" sz="1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2.00%   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圆角矩形 367"/>
          <p:cNvSpPr/>
          <p:nvPr>
            <p:custDataLst>
              <p:tags r:id="rId67"/>
            </p:custDataLst>
          </p:nvPr>
        </p:nvSpPr>
        <p:spPr>
          <a:xfrm>
            <a:off x="640080" y="5826125"/>
            <a:ext cx="10982960" cy="252857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69" name="图表 368"/>
          <p:cNvGraphicFramePr/>
          <p:nvPr>
            <p:custDataLst>
              <p:tags r:id="rId68"/>
            </p:custDataLst>
          </p:nvPr>
        </p:nvGraphicFramePr>
        <p:xfrm>
          <a:off x="796925" y="6000750"/>
          <a:ext cx="10751820" cy="2259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0" name="文本框 369"/>
          <p:cNvSpPr txBox="1"/>
          <p:nvPr>
            <p:custDataLst>
              <p:tags r:id="rId69"/>
            </p:custDataLst>
          </p:nvPr>
        </p:nvSpPr>
        <p:spPr>
          <a:xfrm>
            <a:off x="784225" y="6066790"/>
            <a:ext cx="98996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单位：万件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71"/>
          <p:cNvSpPr txBox="1"/>
          <p:nvPr>
            <p:custDataLst>
              <p:tags r:id="rId70"/>
            </p:custDataLst>
          </p:nvPr>
        </p:nvSpPr>
        <p:spPr>
          <a:xfrm>
            <a:off x="10733405" y="6087745"/>
            <a:ext cx="77152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33"/>
          <p:cNvSpPr/>
          <p:nvPr>
            <p:custDataLst>
              <p:tags r:id="rId71"/>
            </p:custDataLst>
          </p:nvPr>
        </p:nvSpPr>
        <p:spPr>
          <a:xfrm>
            <a:off x="645795" y="15881350"/>
            <a:ext cx="10976610" cy="673354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72"/>
            </p:custDataLst>
          </p:nvPr>
        </p:nvSpPr>
        <p:spPr>
          <a:xfrm>
            <a:off x="608965" y="15497175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市场概览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73"/>
            </p:custDataLst>
          </p:nvPr>
        </p:nvSpPr>
        <p:spPr>
          <a:xfrm>
            <a:off x="3703955" y="15951835"/>
            <a:ext cx="1039495" cy="450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天猫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74"/>
            </p:custDataLst>
          </p:nvPr>
        </p:nvSpPr>
        <p:spPr>
          <a:xfrm>
            <a:off x="4056380" y="16308070"/>
            <a:ext cx="848995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50.00%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圆角矩形 47"/>
          <p:cNvSpPr/>
          <p:nvPr>
            <p:custDataLst>
              <p:tags r:id="rId75"/>
            </p:custDataLst>
          </p:nvPr>
        </p:nvSpPr>
        <p:spPr>
          <a:xfrm>
            <a:off x="717550" y="15960090"/>
            <a:ext cx="2124000" cy="1054735"/>
          </a:xfrm>
          <a:prstGeom prst="roundRect">
            <a:avLst>
              <a:gd name="adj" fmla="val 103"/>
            </a:avLst>
          </a:prstGeom>
          <a:ln w="19050">
            <a:solidFill>
              <a:schemeClr val="accent1"/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76"/>
            </p:custDataLst>
          </p:nvPr>
        </p:nvSpPr>
        <p:spPr>
          <a:xfrm>
            <a:off x="3195955" y="16582390"/>
            <a:ext cx="176657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77"/>
            </p:custDataLst>
          </p:nvPr>
        </p:nvSpPr>
        <p:spPr>
          <a:xfrm>
            <a:off x="3201670" y="16783685"/>
            <a:ext cx="170370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78"/>
            </p:custDataLst>
          </p:nvPr>
        </p:nvSpPr>
        <p:spPr>
          <a:xfrm>
            <a:off x="3210560" y="16327120"/>
            <a:ext cx="865505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79"/>
            </p:custDataLst>
          </p:nvPr>
        </p:nvSpPr>
        <p:spPr>
          <a:xfrm>
            <a:off x="5911850" y="15951835"/>
            <a:ext cx="1039495" cy="450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抖音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80"/>
            </p:custDataLst>
          </p:nvPr>
        </p:nvSpPr>
        <p:spPr>
          <a:xfrm>
            <a:off x="6206490" y="16308070"/>
            <a:ext cx="848995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45.00%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圆角矩形 69"/>
          <p:cNvSpPr/>
          <p:nvPr>
            <p:custDataLst>
              <p:tags r:id="rId81"/>
            </p:custDataLst>
          </p:nvPr>
        </p:nvSpPr>
        <p:spPr>
          <a:xfrm>
            <a:off x="5083100" y="15960090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82"/>
            </p:custDataLst>
          </p:nvPr>
        </p:nvSpPr>
        <p:spPr>
          <a:xfrm>
            <a:off x="5346065" y="16582390"/>
            <a:ext cx="176657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83"/>
            </p:custDataLst>
          </p:nvPr>
        </p:nvSpPr>
        <p:spPr>
          <a:xfrm>
            <a:off x="5351780" y="16783685"/>
            <a:ext cx="170370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84"/>
            </p:custDataLst>
          </p:nvPr>
        </p:nvSpPr>
        <p:spPr>
          <a:xfrm>
            <a:off x="5361305" y="16327120"/>
            <a:ext cx="84582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85"/>
            </p:custDataLst>
          </p:nvPr>
        </p:nvSpPr>
        <p:spPr>
          <a:xfrm>
            <a:off x="8084820" y="15951835"/>
            <a:ext cx="1039495" cy="450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京东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86"/>
            </p:custDataLst>
          </p:nvPr>
        </p:nvSpPr>
        <p:spPr>
          <a:xfrm>
            <a:off x="8346440" y="16308070"/>
            <a:ext cx="848995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40.00%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圆角矩形 76"/>
          <p:cNvSpPr/>
          <p:nvPr>
            <p:custDataLst>
              <p:tags r:id="rId87"/>
            </p:custDataLst>
          </p:nvPr>
        </p:nvSpPr>
        <p:spPr>
          <a:xfrm>
            <a:off x="7265595" y="15960090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88"/>
            </p:custDataLst>
          </p:nvPr>
        </p:nvSpPr>
        <p:spPr>
          <a:xfrm>
            <a:off x="7486015" y="16582390"/>
            <a:ext cx="176657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89"/>
            </p:custDataLst>
          </p:nvPr>
        </p:nvSpPr>
        <p:spPr>
          <a:xfrm>
            <a:off x="7491730" y="16783685"/>
            <a:ext cx="170370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90"/>
            </p:custDataLst>
          </p:nvPr>
        </p:nvSpPr>
        <p:spPr>
          <a:xfrm>
            <a:off x="7474585" y="16327120"/>
            <a:ext cx="897255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91"/>
            </p:custDataLst>
          </p:nvPr>
        </p:nvSpPr>
        <p:spPr>
          <a:xfrm>
            <a:off x="10286365" y="15951835"/>
            <a:ext cx="1039495" cy="450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快手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92"/>
            </p:custDataLst>
          </p:nvPr>
        </p:nvSpPr>
        <p:spPr>
          <a:xfrm>
            <a:off x="10688320" y="16308070"/>
            <a:ext cx="848995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52.00%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圆角矩形 83"/>
          <p:cNvSpPr/>
          <p:nvPr>
            <p:custDataLst>
              <p:tags r:id="rId93"/>
            </p:custDataLst>
          </p:nvPr>
        </p:nvSpPr>
        <p:spPr>
          <a:xfrm>
            <a:off x="9448090" y="15960090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94"/>
            </p:custDataLst>
          </p:nvPr>
        </p:nvSpPr>
        <p:spPr>
          <a:xfrm>
            <a:off x="9827895" y="16582390"/>
            <a:ext cx="176657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95"/>
            </p:custDataLst>
          </p:nvPr>
        </p:nvSpPr>
        <p:spPr>
          <a:xfrm>
            <a:off x="9833610" y="16783685"/>
            <a:ext cx="170370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/>
          <p:cNvSpPr txBox="1"/>
          <p:nvPr>
            <p:custDataLst>
              <p:tags r:id="rId96"/>
            </p:custDataLst>
          </p:nvPr>
        </p:nvSpPr>
        <p:spPr>
          <a:xfrm>
            <a:off x="9791700" y="16327120"/>
            <a:ext cx="897255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6" name="图表 105"/>
          <p:cNvGraphicFramePr/>
          <p:nvPr>
            <p:custDataLst>
              <p:tags r:id="rId97"/>
            </p:custDataLst>
          </p:nvPr>
        </p:nvGraphicFramePr>
        <p:xfrm>
          <a:off x="708660" y="17094835"/>
          <a:ext cx="10860405" cy="2405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9" name="圆角矩形 108"/>
          <p:cNvSpPr/>
          <p:nvPr>
            <p:custDataLst>
              <p:tags r:id="rId98"/>
            </p:custDataLst>
          </p:nvPr>
        </p:nvSpPr>
        <p:spPr>
          <a:xfrm>
            <a:off x="707390" y="17095470"/>
            <a:ext cx="10861040" cy="240538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0" name="文本框 109"/>
          <p:cNvSpPr txBox="1"/>
          <p:nvPr>
            <p:custDataLst>
              <p:tags r:id="rId99"/>
            </p:custDataLst>
          </p:nvPr>
        </p:nvSpPr>
        <p:spPr>
          <a:xfrm>
            <a:off x="10663555" y="1717103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1" name="表格 152"/>
          <p:cNvGraphicFramePr>
            <a:graphicFrameLocks noGrp="1"/>
          </p:cNvGraphicFramePr>
          <p:nvPr>
            <p:custDataLst>
              <p:tags r:id="rId100"/>
            </p:custDataLst>
          </p:nvPr>
        </p:nvGraphicFramePr>
        <p:xfrm>
          <a:off x="708025" y="19782155"/>
          <a:ext cx="5203825" cy="276733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612140"/>
                <a:gridCol w="839470"/>
                <a:gridCol w="755015"/>
                <a:gridCol w="649605"/>
                <a:gridCol w="773430"/>
                <a:gridCol w="787400"/>
                <a:gridCol w="786765"/>
              </a:tblGrid>
              <a:tr h="3187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品牌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近七天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MAC魅可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圣罗兰YSL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彩棠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NARS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肌肤之钥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6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" name="表格 152"/>
          <p:cNvGraphicFramePr>
            <a:graphicFrameLocks noGrp="1"/>
          </p:cNvGraphicFramePr>
          <p:nvPr>
            <p:custDataLst>
              <p:tags r:id="rId101"/>
            </p:custDataLst>
          </p:nvPr>
        </p:nvGraphicFramePr>
        <p:xfrm>
          <a:off x="6049645" y="19794855"/>
          <a:ext cx="5519420" cy="275463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648970"/>
                <a:gridCol w="820420"/>
                <a:gridCol w="870585"/>
                <a:gridCol w="688340"/>
                <a:gridCol w="821690"/>
                <a:gridCol w="835025"/>
                <a:gridCol w="834390"/>
              </a:tblGrid>
              <a:tr h="3136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店铺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近七天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魅可官方旗舰店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YSL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圣罗兰美妆官方旗舰店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彩棠旗舰店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NARS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肌肤之钥官方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文本框 112"/>
          <p:cNvSpPr txBox="1"/>
          <p:nvPr>
            <p:custDataLst>
              <p:tags r:id="rId102"/>
            </p:custDataLst>
          </p:nvPr>
        </p:nvSpPr>
        <p:spPr>
          <a:xfrm>
            <a:off x="633095" y="1948751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品牌排名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/>
          <p:cNvSpPr txBox="1"/>
          <p:nvPr>
            <p:custDataLst>
              <p:tags r:id="rId103"/>
            </p:custDataLst>
          </p:nvPr>
        </p:nvSpPr>
        <p:spPr>
          <a:xfrm>
            <a:off x="5973445" y="1949069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店铺排名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/>
          <p:cNvSpPr txBox="1"/>
          <p:nvPr>
            <p:custDataLst>
              <p:tags r:id="rId104"/>
            </p:custDataLst>
          </p:nvPr>
        </p:nvSpPr>
        <p:spPr>
          <a:xfrm>
            <a:off x="5107305" y="1953514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/>
          <p:cNvSpPr txBox="1"/>
          <p:nvPr>
            <p:custDataLst>
              <p:tags r:id="rId105"/>
            </p:custDataLst>
          </p:nvPr>
        </p:nvSpPr>
        <p:spPr>
          <a:xfrm>
            <a:off x="10654665" y="1953704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/>
          <p:cNvSpPr txBox="1"/>
          <p:nvPr>
            <p:custDataLst>
              <p:tags r:id="rId106"/>
            </p:custDataLst>
          </p:nvPr>
        </p:nvSpPr>
        <p:spPr>
          <a:xfrm>
            <a:off x="6056630" y="5405755"/>
            <a:ext cx="2293620" cy="3848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注：需要确认展示的品类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7" name="圆角矩形 66"/>
          <p:cNvSpPr/>
          <p:nvPr>
            <p:custDataLst>
              <p:tags r:id="rId107"/>
            </p:custDataLst>
          </p:nvPr>
        </p:nvSpPr>
        <p:spPr>
          <a:xfrm>
            <a:off x="3460115" y="1701800"/>
            <a:ext cx="2592070" cy="133096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108"/>
            </p:custDataLst>
          </p:nvPr>
        </p:nvSpPr>
        <p:spPr>
          <a:xfrm>
            <a:off x="1443990" y="3855085"/>
            <a:ext cx="118745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1.00%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109"/>
            </p:custDataLst>
          </p:nvPr>
        </p:nvSpPr>
        <p:spPr>
          <a:xfrm>
            <a:off x="1443990" y="4075430"/>
            <a:ext cx="98107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10"/>
            </p:custDataLst>
          </p:nvPr>
        </p:nvSpPr>
        <p:spPr>
          <a:xfrm>
            <a:off x="1437640" y="3660775"/>
            <a:ext cx="1449705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昨日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11,000.00</a:t>
            </a:r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文本框 176"/>
          <p:cNvSpPr txBox="1"/>
          <p:nvPr>
            <p:custDataLst>
              <p:tags r:id="rId111"/>
            </p:custDataLst>
          </p:nvPr>
        </p:nvSpPr>
        <p:spPr>
          <a:xfrm>
            <a:off x="1342390" y="3094990"/>
            <a:ext cx="1616710" cy="450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退款前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GMV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/>
          <p:cNvSpPr txBox="1"/>
          <p:nvPr>
            <p:custDataLst>
              <p:tags r:id="rId112"/>
            </p:custDataLst>
          </p:nvPr>
        </p:nvSpPr>
        <p:spPr>
          <a:xfrm>
            <a:off x="1400175" y="3364865"/>
            <a:ext cx="1514475" cy="3721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12,000.00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Rectangle: Rounded Corners 156"/>
          <p:cNvSpPr/>
          <p:nvPr>
            <p:custDataLst>
              <p:tags r:id="rId113"/>
            </p:custDataLst>
          </p:nvPr>
        </p:nvSpPr>
        <p:spPr>
          <a:xfrm>
            <a:off x="1609540" y="1327150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QTD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Rectangle: Rounded Corners 156"/>
          <p:cNvSpPr/>
          <p:nvPr>
            <p:custDataLst>
              <p:tags r:id="rId114"/>
            </p:custDataLst>
          </p:nvPr>
        </p:nvSpPr>
        <p:spPr>
          <a:xfrm>
            <a:off x="8703945" y="1376680"/>
            <a:ext cx="972185" cy="23368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挑战目标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Rectangle: Rounded Corners 156"/>
          <p:cNvSpPr/>
          <p:nvPr>
            <p:custDataLst>
              <p:tags r:id="rId115"/>
            </p:custDataLst>
          </p:nvPr>
        </p:nvSpPr>
        <p:spPr>
          <a:xfrm>
            <a:off x="9677400" y="137668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滚动预测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Rectangle: Rounded Corners 156"/>
          <p:cNvSpPr/>
          <p:nvPr>
            <p:custDataLst>
              <p:tags r:id="rId116"/>
            </p:custDataLst>
          </p:nvPr>
        </p:nvSpPr>
        <p:spPr>
          <a:xfrm>
            <a:off x="10642600" y="137668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年初目标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64" name="组合 263"/>
          <p:cNvGrpSpPr/>
          <p:nvPr/>
        </p:nvGrpSpPr>
        <p:grpSpPr>
          <a:xfrm>
            <a:off x="9357995" y="9060815"/>
            <a:ext cx="2042160" cy="254635"/>
            <a:chOff x="1152" y="1541"/>
            <a:chExt cx="3216" cy="401"/>
          </a:xfrm>
        </p:grpSpPr>
        <p:grpSp>
          <p:nvGrpSpPr>
            <p:cNvPr id="265" name="组合 264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267" name="圆角矩形 266"/>
              <p:cNvSpPr/>
              <p:nvPr>
                <p:custDataLst>
                  <p:tags r:id="rId117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68" name="组合 267"/>
              <p:cNvGrpSpPr/>
              <p:nvPr/>
            </p:nvGrpSpPr>
            <p:grpSpPr>
              <a:xfrm>
                <a:off x="3623" y="2989"/>
                <a:ext cx="3148" cy="386"/>
                <a:chOff x="1152" y="956"/>
                <a:chExt cx="3148" cy="386"/>
              </a:xfrm>
            </p:grpSpPr>
            <p:sp>
              <p:nvSpPr>
                <p:cNvPr id="272" name="文本框 271"/>
                <p:cNvSpPr txBox="1"/>
                <p:nvPr>
                  <p:custDataLst>
                    <p:tags r:id="rId118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本月进度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73" name="圆角矩形 272"/>
                <p:cNvSpPr/>
                <p:nvPr>
                  <p:custDataLst>
                    <p:tags r:id="rId119"/>
                  </p:custDataLst>
                </p:nvPr>
              </p:nvSpPr>
              <p:spPr>
                <a:xfrm>
                  <a:off x="3046" y="1104"/>
                  <a:ext cx="1254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75" name="文本框 274"/>
            <p:cNvSpPr txBox="1"/>
            <p:nvPr>
              <p:custDataLst>
                <p:tags r:id="rId120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96.77%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76" name="文本框 275"/>
          <p:cNvSpPr txBox="1"/>
          <p:nvPr>
            <p:custDataLst>
              <p:tags r:id="rId121"/>
            </p:custDataLst>
          </p:nvPr>
        </p:nvSpPr>
        <p:spPr>
          <a:xfrm>
            <a:off x="2261235" y="12156440"/>
            <a:ext cx="1871980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注：需要确认展示的品类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9424670" y="12204700"/>
            <a:ext cx="2042160" cy="254635"/>
            <a:chOff x="1152" y="1541"/>
            <a:chExt cx="3216" cy="401"/>
          </a:xfrm>
        </p:grpSpPr>
        <p:grpSp>
          <p:nvGrpSpPr>
            <p:cNvPr id="278" name="组合 277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279" name="圆角矩形 278"/>
              <p:cNvSpPr/>
              <p:nvPr>
                <p:custDataLst>
                  <p:tags r:id="rId122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80" name="组合 279"/>
              <p:cNvGrpSpPr/>
              <p:nvPr/>
            </p:nvGrpSpPr>
            <p:grpSpPr>
              <a:xfrm>
                <a:off x="3623" y="2989"/>
                <a:ext cx="3148" cy="386"/>
                <a:chOff x="1152" y="956"/>
                <a:chExt cx="3148" cy="386"/>
              </a:xfrm>
            </p:grpSpPr>
            <p:sp>
              <p:nvSpPr>
                <p:cNvPr id="281" name="文本框 280"/>
                <p:cNvSpPr txBox="1"/>
                <p:nvPr>
                  <p:custDataLst>
                    <p:tags r:id="rId123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本月进度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82" name="圆角矩形 281"/>
                <p:cNvSpPr/>
                <p:nvPr>
                  <p:custDataLst>
                    <p:tags r:id="rId124"/>
                  </p:custDataLst>
                </p:nvPr>
              </p:nvSpPr>
              <p:spPr>
                <a:xfrm>
                  <a:off x="3046" y="1104"/>
                  <a:ext cx="1254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83" name="文本框 282"/>
            <p:cNvSpPr txBox="1"/>
            <p:nvPr>
              <p:custDataLst>
                <p:tags r:id="rId125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96.77%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97" name="Group 16"/>
          <p:cNvGrpSpPr/>
          <p:nvPr/>
        </p:nvGrpSpPr>
        <p:grpSpPr>
          <a:xfrm>
            <a:off x="9599295" y="15560675"/>
            <a:ext cx="2016125" cy="253365"/>
            <a:chOff x="9645425" y="548559"/>
            <a:chExt cx="1845415" cy="253365"/>
          </a:xfrm>
        </p:grpSpPr>
        <p:sp>
          <p:nvSpPr>
            <p:cNvPr id="298" name="Rectangle: Top Corners Rounded 17"/>
            <p:cNvSpPr/>
            <p:nvPr>
              <p:custDataLst>
                <p:tags r:id="rId126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9" name="Rectangle: Single Corner Rounded 18"/>
            <p:cNvSpPr/>
            <p:nvPr>
              <p:custDataLst>
                <p:tags r:id="rId127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0" name="Isosceles Triangle 19"/>
            <p:cNvSpPr/>
            <p:nvPr>
              <p:custDataLst>
                <p:tags r:id="rId128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1" name="TextBox 20"/>
            <p:cNvSpPr txBox="1"/>
            <p:nvPr>
              <p:custDataLst>
                <p:tags r:id="rId129"/>
              </p:custDataLst>
            </p:nvPr>
          </p:nvSpPr>
          <p:spPr>
            <a:xfrm>
              <a:off x="9645425" y="548559"/>
              <a:ext cx="1103180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行业三级品类：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02" name="Group 16"/>
          <p:cNvGrpSpPr/>
          <p:nvPr/>
        </p:nvGrpSpPr>
        <p:grpSpPr>
          <a:xfrm>
            <a:off x="5532124" y="15560040"/>
            <a:ext cx="1961511" cy="253365"/>
            <a:chOff x="9695415" y="548559"/>
            <a:chExt cx="1795425" cy="253365"/>
          </a:xfrm>
        </p:grpSpPr>
        <p:sp>
          <p:nvSpPr>
            <p:cNvPr id="303" name="Rectangle: Top Corners Rounded 17"/>
            <p:cNvSpPr/>
            <p:nvPr>
              <p:custDataLst>
                <p:tags r:id="rId130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4" name="Rectangle: Single Corner Rounded 18"/>
            <p:cNvSpPr/>
            <p:nvPr>
              <p:custDataLst>
                <p:tags r:id="rId131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5" name="Isosceles Triangle 19"/>
            <p:cNvSpPr/>
            <p:nvPr>
              <p:custDataLst>
                <p:tags r:id="rId132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6" name="TextBox 20"/>
            <p:cNvSpPr txBox="1"/>
            <p:nvPr>
              <p:custDataLst>
                <p:tags r:id="rId133"/>
              </p:custDataLst>
            </p:nvPr>
          </p:nvSpPr>
          <p:spPr>
            <a:xfrm>
              <a:off x="9695415" y="548559"/>
              <a:ext cx="992165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行业一级品类：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07" name="Group 16"/>
          <p:cNvGrpSpPr/>
          <p:nvPr/>
        </p:nvGrpSpPr>
        <p:grpSpPr>
          <a:xfrm>
            <a:off x="7550784" y="15560675"/>
            <a:ext cx="1985646" cy="253365"/>
            <a:chOff x="9673324" y="548559"/>
            <a:chExt cx="1817516" cy="253365"/>
          </a:xfrm>
        </p:grpSpPr>
        <p:sp>
          <p:nvSpPr>
            <p:cNvPr id="308" name="Rectangle: Top Corners Rounded 17"/>
            <p:cNvSpPr/>
            <p:nvPr>
              <p:custDataLst>
                <p:tags r:id="rId134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9" name="Rectangle: Single Corner Rounded 18"/>
            <p:cNvSpPr/>
            <p:nvPr>
              <p:custDataLst>
                <p:tags r:id="rId135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0" name="Isosceles Triangle 19"/>
            <p:cNvSpPr/>
            <p:nvPr>
              <p:custDataLst>
                <p:tags r:id="rId136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1" name="TextBox 20"/>
            <p:cNvSpPr txBox="1"/>
            <p:nvPr>
              <p:custDataLst>
                <p:tags r:id="rId137"/>
              </p:custDataLst>
            </p:nvPr>
          </p:nvSpPr>
          <p:spPr>
            <a:xfrm>
              <a:off x="9673324" y="548559"/>
              <a:ext cx="1075281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行业二级品类：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24" name="圆角矩形 123"/>
          <p:cNvSpPr/>
          <p:nvPr>
            <p:custDataLst>
              <p:tags r:id="rId138"/>
            </p:custDataLst>
          </p:nvPr>
        </p:nvSpPr>
        <p:spPr>
          <a:xfrm>
            <a:off x="685165" y="31993840"/>
            <a:ext cx="10987405" cy="415226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5" name="Rectangle: Rounded Corners 156"/>
          <p:cNvSpPr/>
          <p:nvPr>
            <p:custDataLst>
              <p:tags r:id="rId139"/>
            </p:custDataLst>
          </p:nvPr>
        </p:nvSpPr>
        <p:spPr>
          <a:xfrm>
            <a:off x="682625" y="31765240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店铺明细表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Rectangle: Rounded Corners 156"/>
          <p:cNvSpPr/>
          <p:nvPr>
            <p:custDataLst>
              <p:tags r:id="rId140"/>
            </p:custDataLst>
          </p:nvPr>
        </p:nvSpPr>
        <p:spPr>
          <a:xfrm>
            <a:off x="1656080" y="3176524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品类明细表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7" name="表格 152"/>
          <p:cNvGraphicFramePr>
            <a:graphicFrameLocks noGrp="1"/>
          </p:cNvGraphicFramePr>
          <p:nvPr>
            <p:custDataLst>
              <p:tags r:id="rId141"/>
            </p:custDataLst>
          </p:nvPr>
        </p:nvGraphicFramePr>
        <p:xfrm>
          <a:off x="763905" y="36499165"/>
          <a:ext cx="10817225" cy="407860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8980"/>
                <a:gridCol w="684530"/>
                <a:gridCol w="683895"/>
                <a:gridCol w="683260"/>
                <a:gridCol w="675005"/>
                <a:gridCol w="746125"/>
                <a:gridCol w="772795"/>
                <a:gridCol w="791845"/>
                <a:gridCol w="692785"/>
                <a:gridCol w="782955"/>
                <a:gridCol w="583565"/>
              </a:tblGrid>
              <a:tr h="28384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色彩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护肤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唇妆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8321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销量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件单价（元）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IP明星内容合作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    品牌IP及娱乐营销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...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9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4" name="圆角矩形 153"/>
          <p:cNvSpPr/>
          <p:nvPr>
            <p:custDataLst>
              <p:tags r:id="rId142"/>
            </p:custDataLst>
          </p:nvPr>
        </p:nvSpPr>
        <p:spPr>
          <a:xfrm>
            <a:off x="681355" y="36461065"/>
            <a:ext cx="10987405" cy="422973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5" name="Rectangle: Rounded Corners 156"/>
          <p:cNvSpPr/>
          <p:nvPr>
            <p:custDataLst>
              <p:tags r:id="rId143"/>
            </p:custDataLst>
          </p:nvPr>
        </p:nvSpPr>
        <p:spPr>
          <a:xfrm>
            <a:off x="688340" y="36232465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店铺明细表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Rectangle: Rounded Corners 156"/>
          <p:cNvSpPr/>
          <p:nvPr>
            <p:custDataLst>
              <p:tags r:id="rId144"/>
            </p:custDataLst>
          </p:nvPr>
        </p:nvSpPr>
        <p:spPr>
          <a:xfrm>
            <a:off x="1661795" y="36232465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品类明细表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156"/>
          <p:cNvSpPr txBox="1"/>
          <p:nvPr>
            <p:custDataLst>
              <p:tags r:id="rId145"/>
            </p:custDataLst>
          </p:nvPr>
        </p:nvSpPr>
        <p:spPr>
          <a:xfrm>
            <a:off x="10802620" y="3172714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/>
          <p:cNvSpPr txBox="1"/>
          <p:nvPr>
            <p:custDataLst>
              <p:tags r:id="rId146"/>
            </p:custDataLst>
          </p:nvPr>
        </p:nvSpPr>
        <p:spPr>
          <a:xfrm>
            <a:off x="10806430" y="3621595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22" name="图表 421"/>
          <p:cNvGraphicFramePr/>
          <p:nvPr>
            <p:custDataLst>
              <p:tags r:id="rId147"/>
            </p:custDataLst>
          </p:nvPr>
        </p:nvGraphicFramePr>
        <p:xfrm>
          <a:off x="6129655" y="1701800"/>
          <a:ext cx="5294630" cy="1973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" name="圆角矩形 89"/>
          <p:cNvSpPr/>
          <p:nvPr>
            <p:custDataLst>
              <p:tags r:id="rId148"/>
            </p:custDataLst>
          </p:nvPr>
        </p:nvSpPr>
        <p:spPr>
          <a:xfrm>
            <a:off x="6120130" y="1704975"/>
            <a:ext cx="5392420" cy="197040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94" name="圆角矩形 93"/>
          <p:cNvSpPr/>
          <p:nvPr>
            <p:custDataLst>
              <p:tags r:id="rId149"/>
            </p:custDataLst>
          </p:nvPr>
        </p:nvSpPr>
        <p:spPr>
          <a:xfrm>
            <a:off x="6120130" y="3723005"/>
            <a:ext cx="5392420" cy="197040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04" name="文本框 203"/>
          <p:cNvSpPr txBox="1"/>
          <p:nvPr>
            <p:custDataLst>
              <p:tags r:id="rId150"/>
            </p:custDataLst>
          </p:nvPr>
        </p:nvSpPr>
        <p:spPr>
          <a:xfrm>
            <a:off x="7588250" y="1704975"/>
            <a:ext cx="2682875" cy="35369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/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渠道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达成情况</a:t>
            </a:r>
            <a:endParaRPr lang="zh-CN" altLang="en-US" sz="14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48" name="文本框 347"/>
          <p:cNvSpPr txBox="1"/>
          <p:nvPr>
            <p:custDataLst>
              <p:tags r:id="rId151"/>
            </p:custDataLst>
          </p:nvPr>
        </p:nvSpPr>
        <p:spPr>
          <a:xfrm>
            <a:off x="7550785" y="3723005"/>
            <a:ext cx="2682875" cy="35369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/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品类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达成情况</a:t>
            </a:r>
            <a:endParaRPr lang="zh-CN" altLang="en-US" sz="14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29" name="文本框 428"/>
          <p:cNvSpPr txBox="1"/>
          <p:nvPr/>
        </p:nvSpPr>
        <p:spPr>
          <a:xfrm>
            <a:off x="6591300" y="1454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430" name="文本框 429"/>
          <p:cNvSpPr txBox="1"/>
          <p:nvPr/>
        </p:nvSpPr>
        <p:spPr>
          <a:xfrm>
            <a:off x="7448550" y="11969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/>
          <p:cNvSpPr txBox="1"/>
          <p:nvPr>
            <p:custDataLst>
              <p:tags r:id="rId152"/>
            </p:custDataLst>
          </p:nvPr>
        </p:nvSpPr>
        <p:spPr>
          <a:xfrm>
            <a:off x="10627360" y="3723005"/>
            <a:ext cx="89090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53"/>
            </p:custDataLst>
          </p:nvPr>
        </p:nvSpPr>
        <p:spPr>
          <a:xfrm>
            <a:off x="10621645" y="1718310"/>
            <a:ext cx="89090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54"/>
            </p:custDataLst>
          </p:nvPr>
        </p:nvSpPr>
        <p:spPr>
          <a:xfrm>
            <a:off x="5097145" y="2324100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59130" y="25989915"/>
            <a:ext cx="11015345" cy="2477770"/>
            <a:chOff x="1036" y="45547"/>
            <a:chExt cx="17347" cy="3902"/>
          </a:xfrm>
        </p:grpSpPr>
        <p:graphicFrame>
          <p:nvGraphicFramePr>
            <p:cNvPr id="66" name="图表 65"/>
            <p:cNvGraphicFramePr/>
            <p:nvPr>
              <p:custDataLst>
                <p:tags r:id="rId155"/>
              </p:custDataLst>
            </p:nvPr>
          </p:nvGraphicFramePr>
          <p:xfrm>
            <a:off x="1036" y="45547"/>
            <a:ext cx="17334" cy="390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74" name="圆角矩形 73"/>
            <p:cNvSpPr/>
            <p:nvPr>
              <p:custDataLst>
                <p:tags r:id="rId156"/>
              </p:custDataLst>
            </p:nvPr>
          </p:nvSpPr>
          <p:spPr>
            <a:xfrm>
              <a:off x="1037" y="45548"/>
              <a:ext cx="17346" cy="3897"/>
            </a:xfrm>
            <a:prstGeom prst="roundRect">
              <a:avLst>
                <a:gd name="adj" fmla="val 103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1" name="文本框 80"/>
            <p:cNvSpPr txBox="1"/>
            <p:nvPr>
              <p:custDataLst>
                <p:tags r:id="rId157"/>
              </p:custDataLst>
            </p:nvPr>
          </p:nvSpPr>
          <p:spPr>
            <a:xfrm>
              <a:off x="16982" y="45721"/>
              <a:ext cx="1362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单位：万元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491980" y="1044575"/>
            <a:ext cx="2042160" cy="254635"/>
            <a:chOff x="1152" y="1541"/>
            <a:chExt cx="3216" cy="401"/>
          </a:xfrm>
        </p:grpSpPr>
        <p:grpSp>
          <p:nvGrpSpPr>
            <p:cNvPr id="11" name="组合 10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49" name="圆角矩形 48"/>
              <p:cNvSpPr/>
              <p:nvPr>
                <p:custDataLst>
                  <p:tags r:id="rId158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50" name="组合 49"/>
              <p:cNvGrpSpPr/>
              <p:nvPr/>
            </p:nvGrpSpPr>
            <p:grpSpPr>
              <a:xfrm>
                <a:off x="3623" y="2989"/>
                <a:ext cx="3148" cy="386"/>
                <a:chOff x="1152" y="956"/>
                <a:chExt cx="3148" cy="386"/>
              </a:xfrm>
            </p:grpSpPr>
            <p:sp>
              <p:nvSpPr>
                <p:cNvPr id="53" name="文本框 52"/>
                <p:cNvSpPr txBox="1"/>
                <p:nvPr>
                  <p:custDataLst>
                    <p:tags r:id="rId159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本月进度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58" name="圆角矩形 57"/>
                <p:cNvSpPr/>
                <p:nvPr>
                  <p:custDataLst>
                    <p:tags r:id="rId160"/>
                  </p:custDataLst>
                </p:nvPr>
              </p:nvSpPr>
              <p:spPr>
                <a:xfrm>
                  <a:off x="3046" y="1104"/>
                  <a:ext cx="1254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64" name="文本框 63"/>
            <p:cNvSpPr txBox="1"/>
            <p:nvPr>
              <p:custDataLst>
                <p:tags r:id="rId161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96.77%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3553460" y="3119120"/>
            <a:ext cx="2386965" cy="988060"/>
            <a:chOff x="5596" y="4912"/>
            <a:chExt cx="3759" cy="1556"/>
          </a:xfrm>
        </p:grpSpPr>
        <p:sp>
          <p:nvSpPr>
            <p:cNvPr id="65" name="文本框 64"/>
            <p:cNvSpPr txBox="1"/>
            <p:nvPr>
              <p:custDataLst>
                <p:tags r:id="rId162"/>
              </p:custDataLst>
            </p:nvPr>
          </p:nvSpPr>
          <p:spPr>
            <a:xfrm>
              <a:off x="5596" y="4912"/>
              <a:ext cx="3759" cy="51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MTD</a:t>
              </a:r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退款后</a:t>
              </a:r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GMV</a:t>
              </a:r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目标差异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8" name="文本框 97"/>
            <p:cNvSpPr txBox="1"/>
            <p:nvPr>
              <p:custDataLst>
                <p:tags r:id="rId163"/>
              </p:custDataLst>
            </p:nvPr>
          </p:nvSpPr>
          <p:spPr>
            <a:xfrm>
              <a:off x="6360" y="5449"/>
              <a:ext cx="2385" cy="58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+500.00</a:t>
              </a: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" name="文本框 101"/>
            <p:cNvSpPr txBox="1"/>
            <p:nvPr>
              <p:custDataLst>
                <p:tags r:id="rId164"/>
              </p:custDataLst>
            </p:nvPr>
          </p:nvSpPr>
          <p:spPr>
            <a:xfrm>
              <a:off x="6308" y="6035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昨日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</a:t>
              </a:r>
              <a:r>
                <a:rPr lang="en-US" altLang="zh-CN" sz="1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+100</a:t>
              </a:r>
              <a:r>
                <a:rPr lang="zh-CN" altLang="en-US" sz="1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162" name="图表 161"/>
          <p:cNvGraphicFramePr/>
          <p:nvPr>
            <p:custDataLst>
              <p:tags r:id="rId165"/>
            </p:custDataLst>
          </p:nvPr>
        </p:nvGraphicFramePr>
        <p:xfrm>
          <a:off x="6057900" y="22995255"/>
          <a:ext cx="5599430" cy="286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63" name="圆角矩形 162"/>
          <p:cNvSpPr/>
          <p:nvPr>
            <p:custDataLst>
              <p:tags r:id="rId166"/>
            </p:custDataLst>
          </p:nvPr>
        </p:nvSpPr>
        <p:spPr>
          <a:xfrm>
            <a:off x="6057900" y="22996525"/>
            <a:ext cx="5598795" cy="29197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文本框 164"/>
          <p:cNvSpPr txBox="1"/>
          <p:nvPr>
            <p:custDataLst>
              <p:tags r:id="rId167"/>
            </p:custDataLst>
          </p:nvPr>
        </p:nvSpPr>
        <p:spPr>
          <a:xfrm>
            <a:off x="10802620" y="23351490"/>
            <a:ext cx="86296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文本框 275"/>
          <p:cNvSpPr txBox="1"/>
          <p:nvPr>
            <p:custDataLst>
              <p:tags r:id="rId168"/>
            </p:custDataLst>
          </p:nvPr>
        </p:nvSpPr>
        <p:spPr>
          <a:xfrm>
            <a:off x="4133215" y="8331200"/>
            <a:ext cx="2073910" cy="68834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点击上方，可跳转至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日报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—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目标达成明细表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查看该渠道底下品类的销售达成情况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80" name="文本框 275"/>
          <p:cNvSpPr txBox="1"/>
          <p:nvPr>
            <p:custDataLst>
              <p:tags r:id="rId169"/>
            </p:custDataLst>
          </p:nvPr>
        </p:nvSpPr>
        <p:spPr>
          <a:xfrm>
            <a:off x="1774190" y="14134465"/>
            <a:ext cx="2073910" cy="68834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点击三级品类，可跳转至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日报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—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目标达成明细表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查看该品类底下渠道的销售达成情况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181" name="直接箭头连接符 180"/>
          <p:cNvCxnSpPr>
            <a:stCxn id="172" idx="3"/>
            <a:endCxn id="179" idx="1"/>
          </p:cNvCxnSpPr>
          <p:nvPr/>
        </p:nvCxnSpPr>
        <p:spPr>
          <a:xfrm flipV="1">
            <a:off x="3624580" y="8675370"/>
            <a:ext cx="508635" cy="3441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/>
          <p:nvPr/>
        </p:nvCxnSpPr>
        <p:spPr>
          <a:xfrm>
            <a:off x="1318260" y="14050010"/>
            <a:ext cx="529590" cy="243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圆角矩形 103"/>
          <p:cNvSpPr/>
          <p:nvPr>
            <p:custDataLst>
              <p:tags r:id="rId170"/>
            </p:custDataLst>
          </p:nvPr>
        </p:nvSpPr>
        <p:spPr>
          <a:xfrm>
            <a:off x="2900605" y="15968345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pSp>
        <p:nvGrpSpPr>
          <p:cNvPr id="191" name="组合 190"/>
          <p:cNvGrpSpPr/>
          <p:nvPr/>
        </p:nvGrpSpPr>
        <p:grpSpPr>
          <a:xfrm>
            <a:off x="932815" y="16026765"/>
            <a:ext cx="1766570" cy="989965"/>
            <a:chOff x="5233" y="25449"/>
            <a:chExt cx="2782" cy="1559"/>
          </a:xfrm>
        </p:grpSpPr>
        <p:sp>
          <p:nvSpPr>
            <p:cNvPr id="118" name="文本框 117"/>
            <p:cNvSpPr txBox="1"/>
            <p:nvPr>
              <p:custDataLst>
                <p:tags r:id="rId171"/>
              </p:custDataLst>
            </p:nvPr>
          </p:nvSpPr>
          <p:spPr>
            <a:xfrm>
              <a:off x="5840" y="25882"/>
              <a:ext cx="1337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50.00%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文本框 118"/>
            <p:cNvSpPr txBox="1"/>
            <p:nvPr>
              <p:custDataLst>
                <p:tags r:id="rId172"/>
              </p:custDataLst>
            </p:nvPr>
          </p:nvSpPr>
          <p:spPr>
            <a:xfrm>
              <a:off x="5233" y="26314"/>
              <a:ext cx="2782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同比增长率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0" name="文本框 169"/>
            <p:cNvSpPr txBox="1"/>
            <p:nvPr>
              <p:custDataLst>
                <p:tags r:id="rId173"/>
              </p:custDataLst>
            </p:nvPr>
          </p:nvSpPr>
          <p:spPr>
            <a:xfrm>
              <a:off x="5242" y="26631"/>
              <a:ext cx="2683" cy="3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环比增长率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3" name="文本框 182"/>
            <p:cNvSpPr txBox="1"/>
            <p:nvPr>
              <p:custDataLst>
                <p:tags r:id="rId174"/>
              </p:custDataLst>
            </p:nvPr>
          </p:nvSpPr>
          <p:spPr>
            <a:xfrm>
              <a:off x="5674" y="25449"/>
              <a:ext cx="2126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4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大盘占比</a:t>
              </a:r>
              <a:endPara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2" name="文本框 191"/>
          <p:cNvSpPr txBox="1"/>
          <p:nvPr>
            <p:custDataLst>
              <p:tags r:id="rId175"/>
            </p:custDataLst>
          </p:nvPr>
        </p:nvSpPr>
        <p:spPr>
          <a:xfrm>
            <a:off x="1318260" y="17016730"/>
            <a:ext cx="320675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、第一个指标卡代表的是天猫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+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抖音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+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京东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+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快手四个平台的市场占有率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2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、上方四张指标卡联动底下的趋势图和排名表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96" name="直接箭头连接符 195"/>
          <p:cNvCxnSpPr/>
          <p:nvPr/>
        </p:nvCxnSpPr>
        <p:spPr>
          <a:xfrm flipH="1">
            <a:off x="1167765" y="17066895"/>
            <a:ext cx="8255" cy="2203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>
            <p:custDataLst>
              <p:tags r:id="rId176"/>
            </p:custDataLst>
          </p:nvPr>
        </p:nvSpPr>
        <p:spPr>
          <a:xfrm>
            <a:off x="10753725" y="17442815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30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快手：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1" name="文本框 200"/>
          <p:cNvSpPr txBox="1"/>
          <p:nvPr>
            <p:custDataLst>
              <p:tags r:id="rId177"/>
            </p:custDataLst>
          </p:nvPr>
        </p:nvSpPr>
        <p:spPr>
          <a:xfrm>
            <a:off x="10745470" y="18152110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快手：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</a:t>
            </a:r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Rectangle: Rounded Corners 156"/>
          <p:cNvSpPr/>
          <p:nvPr>
            <p:custDataLst>
              <p:tags r:id="rId178"/>
            </p:custDataLst>
          </p:nvPr>
        </p:nvSpPr>
        <p:spPr>
          <a:xfrm>
            <a:off x="2581090" y="1327785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YTD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784225" y="34940240"/>
            <a:ext cx="93980" cy="102235"/>
            <a:chOff x="4130" y="8918"/>
            <a:chExt cx="228" cy="226"/>
          </a:xfrm>
        </p:grpSpPr>
        <p:sp>
          <p:nvSpPr>
            <p:cNvPr id="62" name="椭圆 61"/>
            <p:cNvSpPr/>
            <p:nvPr>
              <p:custDataLst>
                <p:tags r:id="rId179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63" name="减号 62"/>
            <p:cNvSpPr/>
            <p:nvPr>
              <p:custDataLst>
                <p:tags r:id="rId180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927100" y="35198050"/>
            <a:ext cx="93980" cy="102235"/>
            <a:chOff x="4130" y="8918"/>
            <a:chExt cx="228" cy="226"/>
          </a:xfrm>
        </p:grpSpPr>
        <p:sp>
          <p:nvSpPr>
            <p:cNvPr id="91" name="椭圆 90"/>
            <p:cNvSpPr/>
            <p:nvPr>
              <p:custDataLst>
                <p:tags r:id="rId181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5" name="减号 94"/>
            <p:cNvSpPr/>
            <p:nvPr>
              <p:custDataLst>
                <p:tags r:id="rId182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781050" y="39470330"/>
            <a:ext cx="93980" cy="102235"/>
            <a:chOff x="4130" y="8918"/>
            <a:chExt cx="228" cy="226"/>
          </a:xfrm>
        </p:grpSpPr>
        <p:sp>
          <p:nvSpPr>
            <p:cNvPr id="160" name="椭圆 159"/>
            <p:cNvSpPr/>
            <p:nvPr>
              <p:custDataLst>
                <p:tags r:id="rId183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61" name="减号 160"/>
            <p:cNvSpPr/>
            <p:nvPr>
              <p:custDataLst>
                <p:tags r:id="rId184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187" name="组合 186"/>
          <p:cNvGrpSpPr/>
          <p:nvPr/>
        </p:nvGrpSpPr>
        <p:grpSpPr>
          <a:xfrm>
            <a:off x="908050" y="39714805"/>
            <a:ext cx="93980" cy="102235"/>
            <a:chOff x="4130" y="8918"/>
            <a:chExt cx="228" cy="226"/>
          </a:xfrm>
        </p:grpSpPr>
        <p:sp>
          <p:nvSpPr>
            <p:cNvPr id="188" name="椭圆 187"/>
            <p:cNvSpPr/>
            <p:nvPr>
              <p:custDataLst>
                <p:tags r:id="rId185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9" name="减号 188"/>
            <p:cNvSpPr/>
            <p:nvPr>
              <p:custDataLst>
                <p:tags r:id="rId186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  <p:custDataLst>
      <p:tags r:id="rId18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图表 13"/>
          <p:cNvGraphicFramePr/>
          <p:nvPr>
            <p:custDataLst>
              <p:tags r:id="rId11"/>
            </p:custDataLst>
          </p:nvPr>
        </p:nvGraphicFramePr>
        <p:xfrm>
          <a:off x="6184822" y="6508115"/>
          <a:ext cx="5281930" cy="2360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" name="图表 1"/>
          <p:cNvGraphicFramePr/>
          <p:nvPr>
            <p:custDataLst>
              <p:tags r:id="rId12"/>
            </p:custDataLst>
          </p:nvPr>
        </p:nvGraphicFramePr>
        <p:xfrm>
          <a:off x="734695" y="9070340"/>
          <a:ext cx="10730230" cy="2378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文本框 12"/>
          <p:cNvSpPr txBox="1"/>
          <p:nvPr>
            <p:custDataLst>
              <p:tags r:id="rId13"/>
            </p:custDataLst>
          </p:nvPr>
        </p:nvSpPr>
        <p:spPr>
          <a:xfrm>
            <a:off x="3815080" y="266933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公司月度经营看板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/>
          <p:nvPr>
            <p:custDataLst>
              <p:tags r:id="rId14"/>
            </p:custDataLst>
          </p:nvPr>
        </p:nvSpPr>
        <p:spPr>
          <a:xfrm>
            <a:off x="637540" y="1647879"/>
            <a:ext cx="10975975" cy="737425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7" name="Group 16"/>
          <p:cNvGrpSpPr/>
          <p:nvPr/>
        </p:nvGrpSpPr>
        <p:grpSpPr>
          <a:xfrm>
            <a:off x="9349105" y="665480"/>
            <a:ext cx="2252980" cy="295275"/>
            <a:chOff x="9428626" y="513634"/>
            <a:chExt cx="2062214" cy="295275"/>
          </a:xfrm>
        </p:grpSpPr>
        <p:sp>
          <p:nvSpPr>
            <p:cNvPr id="12" name="Rectangle: Top Corners Rounded 17"/>
            <p:cNvSpPr/>
            <p:nvPr>
              <p:custDataLst>
                <p:tags r:id="rId15"/>
              </p:custDataLst>
            </p:nvPr>
          </p:nvSpPr>
          <p:spPr>
            <a:xfrm>
              <a:off x="10191896" y="513634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Rectangle: Single Corner Rounded 18"/>
            <p:cNvSpPr/>
            <p:nvPr>
              <p:custDataLst>
                <p:tags r:id="rId16"/>
              </p:custDataLst>
            </p:nvPr>
          </p:nvSpPr>
          <p:spPr>
            <a:xfrm>
              <a:off x="11206440" y="518234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Isosceles Triangle 19"/>
            <p:cNvSpPr/>
            <p:nvPr>
              <p:custDataLst>
                <p:tags r:id="rId17"/>
              </p:custDataLst>
            </p:nvPr>
          </p:nvSpPr>
          <p:spPr>
            <a:xfrm rot="10800000">
              <a:off x="11316631" y="634844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TextBox 20"/>
            <p:cNvSpPr txBox="1"/>
            <p:nvPr>
              <p:custDataLst>
                <p:tags r:id="rId18"/>
              </p:custDataLst>
            </p:nvPr>
          </p:nvSpPr>
          <p:spPr>
            <a:xfrm>
              <a:off x="9428626" y="548559"/>
              <a:ext cx="867410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报告月份：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3" name="Rectangle: Rounded Corners 156"/>
          <p:cNvSpPr/>
          <p:nvPr>
            <p:custDataLst>
              <p:tags r:id="rId19"/>
            </p:custDataLst>
          </p:nvPr>
        </p:nvSpPr>
        <p:spPr>
          <a:xfrm>
            <a:off x="636270" y="1327785"/>
            <a:ext cx="972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MTD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Rectangle: Rounded Corners 156"/>
          <p:cNvSpPr/>
          <p:nvPr>
            <p:custDataLst>
              <p:tags r:id="rId20"/>
            </p:custDataLst>
          </p:nvPr>
        </p:nvSpPr>
        <p:spPr>
          <a:xfrm>
            <a:off x="1609540" y="1327785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QTD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圆角矩形 199"/>
          <p:cNvSpPr/>
          <p:nvPr>
            <p:custDataLst>
              <p:tags r:id="rId21"/>
            </p:custDataLst>
          </p:nvPr>
        </p:nvSpPr>
        <p:spPr>
          <a:xfrm>
            <a:off x="633095" y="9070340"/>
            <a:ext cx="10991850" cy="244919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1" name="文本框 380"/>
          <p:cNvSpPr txBox="1"/>
          <p:nvPr>
            <p:custDataLst>
              <p:tags r:id="rId22"/>
            </p:custDataLst>
          </p:nvPr>
        </p:nvSpPr>
        <p:spPr>
          <a:xfrm>
            <a:off x="10611485" y="914527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文本框 201"/>
          <p:cNvSpPr txBox="1"/>
          <p:nvPr>
            <p:custDataLst>
              <p:tags r:id="rId23"/>
            </p:custDataLst>
          </p:nvPr>
        </p:nvSpPr>
        <p:spPr>
          <a:xfrm>
            <a:off x="561975" y="953770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经营概览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/>
          <p:cNvSpPr txBox="1"/>
          <p:nvPr>
            <p:custDataLst>
              <p:tags r:id="rId24"/>
            </p:custDataLst>
          </p:nvPr>
        </p:nvSpPr>
        <p:spPr>
          <a:xfrm>
            <a:off x="645160" y="1190879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渠道目标达成明细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圆角矩形 204"/>
          <p:cNvSpPr/>
          <p:nvPr>
            <p:custDataLst>
              <p:tags r:id="rId25"/>
            </p:custDataLst>
          </p:nvPr>
        </p:nvSpPr>
        <p:spPr>
          <a:xfrm>
            <a:off x="657225" y="11908790"/>
            <a:ext cx="10975975" cy="33502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0" name="Rectangle: Rounded Corners 156"/>
          <p:cNvSpPr/>
          <p:nvPr>
            <p:custDataLst>
              <p:tags r:id="rId26"/>
            </p:custDataLst>
          </p:nvPr>
        </p:nvSpPr>
        <p:spPr>
          <a:xfrm>
            <a:off x="768985" y="1221359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Rectangle: Rounded Corners 156"/>
          <p:cNvSpPr/>
          <p:nvPr>
            <p:custDataLst>
              <p:tags r:id="rId27"/>
            </p:custDataLst>
          </p:nvPr>
        </p:nvSpPr>
        <p:spPr>
          <a:xfrm>
            <a:off x="1578610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Rectangle: Rounded Corners 156"/>
          <p:cNvSpPr/>
          <p:nvPr>
            <p:custDataLst>
              <p:tags r:id="rId28"/>
            </p:custDataLst>
          </p:nvPr>
        </p:nvSpPr>
        <p:spPr>
          <a:xfrm>
            <a:off x="2399665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Rectangle: Rounded Corners 156"/>
          <p:cNvSpPr/>
          <p:nvPr>
            <p:custDataLst>
              <p:tags r:id="rId29"/>
            </p:custDataLst>
          </p:nvPr>
        </p:nvSpPr>
        <p:spPr>
          <a:xfrm>
            <a:off x="3220720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Rectangle: Rounded Corners 156"/>
          <p:cNvSpPr/>
          <p:nvPr>
            <p:custDataLst>
              <p:tags r:id="rId30"/>
            </p:custDataLst>
          </p:nvPr>
        </p:nvSpPr>
        <p:spPr>
          <a:xfrm>
            <a:off x="4041775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Rectangle: Rounded Corners 156"/>
          <p:cNvSpPr/>
          <p:nvPr>
            <p:custDataLst>
              <p:tags r:id="rId31"/>
            </p:custDataLst>
          </p:nvPr>
        </p:nvSpPr>
        <p:spPr>
          <a:xfrm>
            <a:off x="4852035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89" name="表格 152"/>
          <p:cNvGraphicFramePr>
            <a:graphicFrameLocks noGrp="1"/>
          </p:cNvGraphicFramePr>
          <p:nvPr>
            <p:custDataLst>
              <p:tags r:id="rId32"/>
            </p:custDataLst>
          </p:nvPr>
        </p:nvGraphicFramePr>
        <p:xfrm>
          <a:off x="758190" y="12592685"/>
          <a:ext cx="10725781" cy="271145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583305"/>
                <a:gridCol w="441443"/>
                <a:gridCol w="534018"/>
                <a:gridCol w="444015"/>
                <a:gridCol w="444014"/>
                <a:gridCol w="517732"/>
                <a:gridCol w="435442"/>
                <a:gridCol w="436727"/>
                <a:gridCol w="559733"/>
                <a:gridCol w="470588"/>
                <a:gridCol w="509160"/>
                <a:gridCol w="468872"/>
                <a:gridCol w="696880"/>
                <a:gridCol w="697309"/>
                <a:gridCol w="697309"/>
                <a:gridCol w="697309"/>
                <a:gridCol w="501254"/>
                <a:gridCol w="893363"/>
                <a:gridCol w="697308"/>
              </a:tblGrid>
              <a:tr h="33337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业务来源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费比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 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营销费用（不含税）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财务净收入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销售毛利率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6449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20,000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18,000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45%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天猫自播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抖音货架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抖音自播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290" name="文本框 289"/>
          <p:cNvSpPr txBox="1"/>
          <p:nvPr>
            <p:custDataLst>
              <p:tags r:id="rId33"/>
            </p:custDataLst>
          </p:nvPr>
        </p:nvSpPr>
        <p:spPr>
          <a:xfrm>
            <a:off x="652145" y="1531937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产品目标达成明细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圆角矩形 290"/>
          <p:cNvSpPr/>
          <p:nvPr>
            <p:custDataLst>
              <p:tags r:id="rId34"/>
            </p:custDataLst>
          </p:nvPr>
        </p:nvSpPr>
        <p:spPr>
          <a:xfrm>
            <a:off x="664210" y="15319375"/>
            <a:ext cx="10964545" cy="359029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296" name="表格 152"/>
          <p:cNvGraphicFramePr>
            <a:graphicFrameLocks noGrp="1"/>
          </p:cNvGraphicFramePr>
          <p:nvPr>
            <p:custDataLst>
              <p:tags r:id="rId35"/>
            </p:custDataLst>
          </p:nvPr>
        </p:nvGraphicFramePr>
        <p:xfrm>
          <a:off x="765175" y="15645765"/>
          <a:ext cx="10718803" cy="306768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329737"/>
                <a:gridCol w="391596"/>
                <a:gridCol w="414137"/>
                <a:gridCol w="497488"/>
                <a:gridCol w="409943"/>
                <a:gridCol w="434057"/>
                <a:gridCol w="427766"/>
                <a:gridCol w="416234"/>
                <a:gridCol w="409943"/>
                <a:gridCol w="457648"/>
                <a:gridCol w="405749"/>
                <a:gridCol w="402079"/>
                <a:gridCol w="459744"/>
                <a:gridCol w="462365"/>
                <a:gridCol w="439299"/>
                <a:gridCol w="622254"/>
                <a:gridCol w="623302"/>
                <a:gridCol w="623302"/>
                <a:gridCol w="623302"/>
                <a:gridCol w="623302"/>
                <a:gridCol w="622254"/>
                <a:gridCol w="623302"/>
              </a:tblGrid>
              <a:tr h="48577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三级品类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费比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营销费用（不含税）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财务净收入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销售毛利率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52895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406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  <a:endParaRPr kumimoji="0" lang="zh-CN" altLang="en-US" sz="9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20,000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18,000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45%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406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u="sng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底妆</a:t>
                      </a:r>
                      <a:endParaRPr kumimoji="0" lang="zh-CN" altLang="en-US" sz="9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色彩</a:t>
                      </a:r>
                      <a:endParaRPr kumimoji="0" lang="zh-CN" altLang="en-US" sz="9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护肤</a:t>
                      </a:r>
                      <a:endParaRPr kumimoji="0" lang="zh-CN" altLang="en-US" sz="9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312" name="文本框 311"/>
          <p:cNvSpPr txBox="1"/>
          <p:nvPr>
            <p:custDataLst>
              <p:tags r:id="rId36"/>
            </p:custDataLst>
          </p:nvPr>
        </p:nvSpPr>
        <p:spPr>
          <a:xfrm>
            <a:off x="641350" y="2685859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费用预实分析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文本框 324"/>
          <p:cNvSpPr txBox="1"/>
          <p:nvPr>
            <p:custDataLst>
              <p:tags r:id="rId37"/>
            </p:custDataLst>
          </p:nvPr>
        </p:nvSpPr>
        <p:spPr>
          <a:xfrm>
            <a:off x="678180" y="3572065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报表总览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26" name="表格 152"/>
          <p:cNvGraphicFramePr>
            <a:graphicFrameLocks noGrp="1"/>
          </p:cNvGraphicFramePr>
          <p:nvPr>
            <p:custDataLst>
              <p:tags r:id="rId38"/>
            </p:custDataLst>
          </p:nvPr>
        </p:nvGraphicFramePr>
        <p:xfrm>
          <a:off x="752475" y="36389945"/>
          <a:ext cx="10874375" cy="505142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9615"/>
                <a:gridCol w="683895"/>
                <a:gridCol w="683895"/>
                <a:gridCol w="683260"/>
                <a:gridCol w="675005"/>
                <a:gridCol w="746125"/>
                <a:gridCol w="772795"/>
                <a:gridCol w="791845"/>
                <a:gridCol w="693420"/>
                <a:gridCol w="782320"/>
                <a:gridCol w="640715"/>
              </a:tblGrid>
              <a:tr h="2667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京东旗舰店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快手旗舰店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唯品会旗舰店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6606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77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销量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7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件单价（元）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产品成本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(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不含税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)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IP明星内容合作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    品牌IP及娱乐营销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...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贡献利润率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1" name="圆角矩形 350"/>
          <p:cNvSpPr/>
          <p:nvPr>
            <p:custDataLst>
              <p:tags r:id="rId39"/>
            </p:custDataLst>
          </p:nvPr>
        </p:nvSpPr>
        <p:spPr>
          <a:xfrm>
            <a:off x="633095" y="32715835"/>
            <a:ext cx="11023600" cy="294068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2" name="文本框 351"/>
          <p:cNvSpPr txBox="1"/>
          <p:nvPr>
            <p:custDataLst>
              <p:tags r:id="rId40"/>
            </p:custDataLst>
          </p:nvPr>
        </p:nvSpPr>
        <p:spPr>
          <a:xfrm>
            <a:off x="636905" y="3272091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部门营销费用预实对比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08" name="表格 152"/>
          <p:cNvGraphicFramePr>
            <a:graphicFrameLocks noGrp="1"/>
          </p:cNvGraphicFramePr>
          <p:nvPr>
            <p:custDataLst>
              <p:tags r:id="rId41"/>
            </p:custDataLst>
          </p:nvPr>
        </p:nvGraphicFramePr>
        <p:xfrm>
          <a:off x="717550" y="33047305"/>
          <a:ext cx="10861675" cy="252158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07490"/>
                <a:gridCol w="1481455"/>
                <a:gridCol w="1027430"/>
                <a:gridCol w="1269365"/>
                <a:gridCol w="1269365"/>
                <a:gridCol w="1376045"/>
                <a:gridCol w="1231265"/>
                <a:gridCol w="1699260"/>
              </a:tblGrid>
              <a:tr h="3473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一级部门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二级部门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年预算达成率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渠道运营部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2,000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2,000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102%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运营策略部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直播运营部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品牌产品中心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CMF设计部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440" name="文本框 439"/>
          <p:cNvSpPr txBox="1"/>
          <p:nvPr>
            <p:custDataLst>
              <p:tags r:id="rId42"/>
            </p:custDataLst>
          </p:nvPr>
        </p:nvSpPr>
        <p:spPr>
          <a:xfrm>
            <a:off x="575310" y="11534775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目标达成分析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1" name="Rectangle: Rounded Corners 156"/>
          <p:cNvSpPr/>
          <p:nvPr>
            <p:custDataLst>
              <p:tags r:id="rId43"/>
            </p:custDataLst>
          </p:nvPr>
        </p:nvSpPr>
        <p:spPr>
          <a:xfrm>
            <a:off x="2581090" y="1327785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YTD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2" name="文本框 441"/>
          <p:cNvSpPr txBox="1"/>
          <p:nvPr>
            <p:custDataLst>
              <p:tags r:id="rId44"/>
            </p:custDataLst>
          </p:nvPr>
        </p:nvSpPr>
        <p:spPr>
          <a:xfrm>
            <a:off x="10563860" y="3278060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2" name="圆角矩形 451"/>
          <p:cNvSpPr/>
          <p:nvPr>
            <p:custDataLst>
              <p:tags r:id="rId45"/>
            </p:custDataLst>
          </p:nvPr>
        </p:nvSpPr>
        <p:spPr>
          <a:xfrm>
            <a:off x="651510" y="19330670"/>
            <a:ext cx="10976610" cy="752792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3" name="文本框 452"/>
          <p:cNvSpPr txBox="1"/>
          <p:nvPr>
            <p:custDataLst>
              <p:tags r:id="rId46"/>
            </p:custDataLst>
          </p:nvPr>
        </p:nvSpPr>
        <p:spPr>
          <a:xfrm>
            <a:off x="614680" y="18909030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市场概览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85" name="表格 152"/>
          <p:cNvGraphicFramePr>
            <a:graphicFrameLocks noGrp="1"/>
          </p:cNvGraphicFramePr>
          <p:nvPr>
            <p:custDataLst>
              <p:tags r:id="rId47"/>
            </p:custDataLst>
          </p:nvPr>
        </p:nvGraphicFramePr>
        <p:xfrm>
          <a:off x="741045" y="23232110"/>
          <a:ext cx="5115560" cy="274764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824230"/>
                <a:gridCol w="1129665"/>
                <a:gridCol w="1043305"/>
                <a:gridCol w="1059180"/>
                <a:gridCol w="1059180"/>
              </a:tblGrid>
              <a:tr h="31623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品牌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MAC魅可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圣罗兰YSL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彩棠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NARS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肌肤之钥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6" name="表格 152"/>
          <p:cNvGraphicFramePr>
            <a:graphicFrameLocks noGrp="1"/>
          </p:cNvGraphicFramePr>
          <p:nvPr>
            <p:custDataLst>
              <p:tags r:id="rId48"/>
            </p:custDataLst>
          </p:nvPr>
        </p:nvGraphicFramePr>
        <p:xfrm>
          <a:off x="6013450" y="23244810"/>
          <a:ext cx="5565775" cy="273494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911860"/>
                <a:gridCol w="1153795"/>
                <a:gridCol w="1153795"/>
                <a:gridCol w="1173480"/>
                <a:gridCol w="1172845"/>
              </a:tblGrid>
              <a:tr h="3111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店铺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魅可官方旗舰店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YSL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圣罗兰美妆官方旗舰店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彩棠旗舰店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NARS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肌肤之钥官方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487" name="文本框 486"/>
          <p:cNvSpPr txBox="1"/>
          <p:nvPr>
            <p:custDataLst>
              <p:tags r:id="rId49"/>
            </p:custDataLst>
          </p:nvPr>
        </p:nvSpPr>
        <p:spPr>
          <a:xfrm>
            <a:off x="666115" y="2293747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品牌排名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文本框 487"/>
          <p:cNvSpPr txBox="1"/>
          <p:nvPr>
            <p:custDataLst>
              <p:tags r:id="rId50"/>
            </p:custDataLst>
          </p:nvPr>
        </p:nvSpPr>
        <p:spPr>
          <a:xfrm>
            <a:off x="6006465" y="2294064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店铺排名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9" name="文本框 488"/>
          <p:cNvSpPr txBox="1"/>
          <p:nvPr>
            <p:custDataLst>
              <p:tags r:id="rId51"/>
            </p:custDataLst>
          </p:nvPr>
        </p:nvSpPr>
        <p:spPr>
          <a:xfrm>
            <a:off x="5140325" y="2298509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文本框 489"/>
          <p:cNvSpPr txBox="1"/>
          <p:nvPr>
            <p:custDataLst>
              <p:tags r:id="rId52"/>
            </p:custDataLst>
          </p:nvPr>
        </p:nvSpPr>
        <p:spPr>
          <a:xfrm>
            <a:off x="10687685" y="2298700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642360" y="1729105"/>
            <a:ext cx="2000885" cy="1350645"/>
            <a:chOff x="1496" y="4641"/>
            <a:chExt cx="3151" cy="2127"/>
          </a:xfrm>
        </p:grpSpPr>
        <p:sp>
          <p:nvSpPr>
            <p:cNvPr id="497" name="文本框 115"/>
            <p:cNvSpPr txBox="1"/>
            <p:nvPr>
              <p:custDataLst>
                <p:tags r:id="rId53"/>
              </p:custDataLst>
            </p:nvPr>
          </p:nvSpPr>
          <p:spPr>
            <a:xfrm>
              <a:off x="1496" y="4641"/>
              <a:ext cx="3151" cy="51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财务净收入达成率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498" name="组合 497"/>
            <p:cNvGrpSpPr/>
            <p:nvPr/>
          </p:nvGrpSpPr>
          <p:grpSpPr>
            <a:xfrm>
              <a:off x="1837" y="5109"/>
              <a:ext cx="2619" cy="1659"/>
              <a:chOff x="1292" y="2411"/>
              <a:chExt cx="2619" cy="1659"/>
            </a:xfrm>
          </p:grpSpPr>
          <p:graphicFrame>
            <p:nvGraphicFramePr>
              <p:cNvPr id="499" name="图表 498"/>
              <p:cNvGraphicFramePr/>
              <p:nvPr>
                <p:custDataLst>
                  <p:tags r:id="rId54"/>
                </p:custDataLst>
              </p:nvPr>
            </p:nvGraphicFramePr>
            <p:xfrm>
              <a:off x="1292" y="2411"/>
              <a:ext cx="2619" cy="165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500" name="文本框 130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1679" y="3042"/>
                <a:ext cx="1502" cy="7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altLang="zh-CN" sz="1200" b="1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 105.00%             </a:t>
                </a:r>
                <a:endParaRPr lang="en-US" altLang="zh-CN" sz="12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502" name="文本框 36"/>
          <p:cNvSpPr txBox="1"/>
          <p:nvPr>
            <p:custDataLst>
              <p:tags r:id="rId56"/>
            </p:custDataLst>
          </p:nvPr>
        </p:nvSpPr>
        <p:spPr>
          <a:xfrm>
            <a:off x="1024890" y="4701540"/>
            <a:ext cx="1151255" cy="3714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10.00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万件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3" name="文本框 31"/>
          <p:cNvSpPr txBox="1"/>
          <p:nvPr>
            <p:custDataLst>
              <p:tags r:id="rId57"/>
            </p:custDataLst>
          </p:nvPr>
        </p:nvSpPr>
        <p:spPr>
          <a:xfrm>
            <a:off x="1352550" y="4431030"/>
            <a:ext cx="757555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销量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4" name="圆角矩形 35"/>
          <p:cNvSpPr/>
          <p:nvPr>
            <p:custDataLst>
              <p:tags r:id="rId58"/>
            </p:custDataLst>
          </p:nvPr>
        </p:nvSpPr>
        <p:spPr>
          <a:xfrm>
            <a:off x="778510" y="4415790"/>
            <a:ext cx="1692275" cy="98552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65175" y="3171826"/>
            <a:ext cx="2595880" cy="1127760"/>
            <a:chOff x="778510" y="1706245"/>
            <a:chExt cx="2595880" cy="1387475"/>
          </a:xfrm>
        </p:grpSpPr>
        <p:sp>
          <p:nvSpPr>
            <p:cNvPr id="507" name="文本框 8"/>
            <p:cNvSpPr txBox="1"/>
            <p:nvPr>
              <p:custDataLst>
                <p:tags r:id="rId59"/>
              </p:custDataLst>
            </p:nvPr>
          </p:nvSpPr>
          <p:spPr>
            <a:xfrm>
              <a:off x="1341755" y="1726565"/>
              <a:ext cx="1423035" cy="45085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    </a:t>
              </a:r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退款后</a:t>
              </a:r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GMV</a:t>
              </a:r>
              <a:endParaRPr lang="en-US" altLang="zh-CN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8" name="文本框 9"/>
            <p:cNvSpPr txBox="1"/>
            <p:nvPr>
              <p:custDataLst>
                <p:tags r:id="rId60"/>
              </p:custDataLst>
            </p:nvPr>
          </p:nvSpPr>
          <p:spPr>
            <a:xfrm>
              <a:off x="1399540" y="2063115"/>
              <a:ext cx="1514475" cy="37211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10,500.00</a:t>
              </a: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9" name="圆角矩形 12"/>
            <p:cNvSpPr/>
            <p:nvPr>
              <p:custDataLst>
                <p:tags r:id="rId61"/>
              </p:custDataLst>
            </p:nvPr>
          </p:nvSpPr>
          <p:spPr>
            <a:xfrm>
              <a:off x="778510" y="1706245"/>
              <a:ext cx="2595880" cy="1387475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510" name="文本框 17"/>
            <p:cNvSpPr txBox="1"/>
            <p:nvPr>
              <p:custDataLst>
                <p:tags r:id="rId62"/>
              </p:custDataLst>
            </p:nvPr>
          </p:nvSpPr>
          <p:spPr>
            <a:xfrm>
              <a:off x="1433195" y="2400935"/>
              <a:ext cx="1187450" cy="274955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1.00%</a:t>
              </a:r>
              <a:endPara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1" name="文本框 51"/>
            <p:cNvSpPr txBox="1"/>
            <p:nvPr>
              <p:custDataLst>
                <p:tags r:id="rId63"/>
              </p:custDataLst>
            </p:nvPr>
          </p:nvSpPr>
          <p:spPr>
            <a:xfrm>
              <a:off x="1433195" y="2668905"/>
              <a:ext cx="981075" cy="239395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19" name="圆角矩形 128"/>
          <p:cNvSpPr/>
          <p:nvPr>
            <p:custDataLst>
              <p:tags r:id="rId64"/>
            </p:custDataLst>
          </p:nvPr>
        </p:nvSpPr>
        <p:spPr>
          <a:xfrm>
            <a:off x="3458845" y="3155315"/>
            <a:ext cx="2603500" cy="117348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521" name="文本框 87"/>
          <p:cNvSpPr txBox="1"/>
          <p:nvPr>
            <p:custDataLst>
              <p:tags r:id="rId65"/>
            </p:custDataLst>
          </p:nvPr>
        </p:nvSpPr>
        <p:spPr>
          <a:xfrm>
            <a:off x="2882265" y="4431030"/>
            <a:ext cx="1144270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退款前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GMV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圆角矩形 88"/>
          <p:cNvSpPr/>
          <p:nvPr>
            <p:custDataLst>
              <p:tags r:id="rId66"/>
            </p:custDataLst>
          </p:nvPr>
        </p:nvSpPr>
        <p:spPr>
          <a:xfrm>
            <a:off x="2527300" y="4415790"/>
            <a:ext cx="1692275" cy="98552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523" name="文本框 98"/>
          <p:cNvSpPr txBox="1"/>
          <p:nvPr>
            <p:custDataLst>
              <p:tags r:id="rId67"/>
            </p:custDataLst>
          </p:nvPr>
        </p:nvSpPr>
        <p:spPr>
          <a:xfrm>
            <a:off x="2834640" y="4677410"/>
            <a:ext cx="1144270" cy="3714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12,000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5" name="文本框 91"/>
          <p:cNvSpPr txBox="1"/>
          <p:nvPr>
            <p:custDataLst>
              <p:tags r:id="rId68"/>
            </p:custDataLst>
          </p:nvPr>
        </p:nvSpPr>
        <p:spPr>
          <a:xfrm>
            <a:off x="4918075" y="4431030"/>
            <a:ext cx="757555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费比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6" name="圆角矩形 92"/>
          <p:cNvSpPr/>
          <p:nvPr>
            <p:custDataLst>
              <p:tags r:id="rId69"/>
            </p:custDataLst>
          </p:nvPr>
        </p:nvSpPr>
        <p:spPr>
          <a:xfrm>
            <a:off x="4282440" y="4415790"/>
            <a:ext cx="1779270" cy="98615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527" name="文本框 99"/>
          <p:cNvSpPr txBox="1"/>
          <p:nvPr>
            <p:custDataLst>
              <p:tags r:id="rId70"/>
            </p:custDataLst>
          </p:nvPr>
        </p:nvSpPr>
        <p:spPr>
          <a:xfrm>
            <a:off x="4664075" y="4666615"/>
            <a:ext cx="1150620" cy="3714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50.00%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4" name="圆角矩形 66"/>
          <p:cNvSpPr/>
          <p:nvPr>
            <p:custDataLst>
              <p:tags r:id="rId71"/>
            </p:custDataLst>
          </p:nvPr>
        </p:nvSpPr>
        <p:spPr>
          <a:xfrm>
            <a:off x="3459480" y="1706880"/>
            <a:ext cx="2602230" cy="138684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571" name="Rectangle: Rounded Corners 156"/>
          <p:cNvSpPr/>
          <p:nvPr>
            <p:custDataLst>
              <p:tags r:id="rId72"/>
            </p:custDataLst>
          </p:nvPr>
        </p:nvSpPr>
        <p:spPr>
          <a:xfrm>
            <a:off x="8703310" y="1381760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挑战目标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2" name="Rectangle: Rounded Corners 156"/>
          <p:cNvSpPr/>
          <p:nvPr>
            <p:custDataLst>
              <p:tags r:id="rId73"/>
            </p:custDataLst>
          </p:nvPr>
        </p:nvSpPr>
        <p:spPr>
          <a:xfrm>
            <a:off x="9676765" y="138176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滚动预测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Rectangle: Rounded Corners 156"/>
          <p:cNvSpPr/>
          <p:nvPr>
            <p:custDataLst>
              <p:tags r:id="rId74"/>
            </p:custDataLst>
          </p:nvPr>
        </p:nvSpPr>
        <p:spPr>
          <a:xfrm>
            <a:off x="10641965" y="138176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年初目标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87" name="组合 586"/>
          <p:cNvGrpSpPr/>
          <p:nvPr/>
        </p:nvGrpSpPr>
        <p:grpSpPr>
          <a:xfrm>
            <a:off x="1134745" y="4943475"/>
            <a:ext cx="1449070" cy="476885"/>
            <a:chOff x="4667" y="9344"/>
            <a:chExt cx="2282" cy="751"/>
          </a:xfrm>
        </p:grpSpPr>
        <p:sp>
          <p:nvSpPr>
            <p:cNvPr id="585" name="文本框 19"/>
            <p:cNvSpPr txBox="1"/>
            <p:nvPr>
              <p:custDataLst>
                <p:tags r:id="rId75"/>
              </p:custDataLst>
            </p:nvPr>
          </p:nvSpPr>
          <p:spPr>
            <a:xfrm>
              <a:off x="4667" y="9344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6" name="文本框 19"/>
            <p:cNvSpPr txBox="1"/>
            <p:nvPr>
              <p:custDataLst>
                <p:tags r:id="rId76"/>
              </p:custDataLst>
            </p:nvPr>
          </p:nvSpPr>
          <p:spPr>
            <a:xfrm>
              <a:off x="4667" y="9663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97" name="组合 596"/>
          <p:cNvGrpSpPr/>
          <p:nvPr/>
        </p:nvGrpSpPr>
        <p:grpSpPr>
          <a:xfrm>
            <a:off x="778510" y="5473065"/>
            <a:ext cx="1817370" cy="946785"/>
            <a:chOff x="1226" y="8619"/>
            <a:chExt cx="2862" cy="1491"/>
          </a:xfrm>
        </p:grpSpPr>
        <p:sp>
          <p:nvSpPr>
            <p:cNvPr id="512" name="文本框 95"/>
            <p:cNvSpPr txBox="1"/>
            <p:nvPr>
              <p:custDataLst>
                <p:tags r:id="rId77"/>
              </p:custDataLst>
            </p:nvPr>
          </p:nvSpPr>
          <p:spPr>
            <a:xfrm>
              <a:off x="1624" y="8626"/>
              <a:ext cx="2125" cy="51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营销费用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</a:rPr>
                <a:t>(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不含税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</a:rPr>
                <a:t>)</a:t>
              </a:r>
              <a:endParaRPr lang="en-US" altLang="zh-CN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3" name="圆角矩形 96"/>
            <p:cNvSpPr/>
            <p:nvPr>
              <p:custDataLst>
                <p:tags r:id="rId78"/>
              </p:custDataLst>
            </p:nvPr>
          </p:nvSpPr>
          <p:spPr>
            <a:xfrm>
              <a:off x="1226" y="8619"/>
              <a:ext cx="2664" cy="149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514" name="文本框 100"/>
            <p:cNvSpPr txBox="1"/>
            <p:nvPr>
              <p:custDataLst>
                <p:tags r:id="rId79"/>
              </p:custDataLst>
            </p:nvPr>
          </p:nvSpPr>
          <p:spPr>
            <a:xfrm>
              <a:off x="1625" y="8997"/>
              <a:ext cx="1812" cy="585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 2,000</a:t>
              </a:r>
              <a:r>
                <a:rPr lang="zh-CN" altLang="en-US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594" name="组合 593"/>
            <p:cNvGrpSpPr/>
            <p:nvPr/>
          </p:nvGrpSpPr>
          <p:grpSpPr>
            <a:xfrm>
              <a:off x="1806" y="9358"/>
              <a:ext cx="2282" cy="751"/>
              <a:chOff x="4667" y="9344"/>
              <a:chExt cx="2282" cy="751"/>
            </a:xfrm>
          </p:grpSpPr>
          <p:sp>
            <p:nvSpPr>
              <p:cNvPr id="595" name="文本框 19"/>
              <p:cNvSpPr txBox="1"/>
              <p:nvPr>
                <p:custDataLst>
                  <p:tags r:id="rId80"/>
                </p:custDataLst>
              </p:nvPr>
            </p:nvSpPr>
            <p:spPr>
              <a:xfrm>
                <a:off x="4667" y="9344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96" name="文本框 19"/>
              <p:cNvSpPr txBox="1"/>
              <p:nvPr>
                <p:custDataLst>
                  <p:tags r:id="rId81"/>
                </p:custDataLst>
              </p:nvPr>
            </p:nvSpPr>
            <p:spPr>
              <a:xfrm>
                <a:off x="4667" y="9663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598" name="组合 597"/>
          <p:cNvGrpSpPr/>
          <p:nvPr/>
        </p:nvGrpSpPr>
        <p:grpSpPr>
          <a:xfrm>
            <a:off x="2527300" y="5471160"/>
            <a:ext cx="1817370" cy="946785"/>
            <a:chOff x="1226" y="8619"/>
            <a:chExt cx="2862" cy="1491"/>
          </a:xfrm>
        </p:grpSpPr>
        <p:sp>
          <p:nvSpPr>
            <p:cNvPr id="599" name="文本框 95"/>
            <p:cNvSpPr txBox="1"/>
            <p:nvPr>
              <p:custDataLst>
                <p:tags r:id="rId82"/>
              </p:custDataLst>
            </p:nvPr>
          </p:nvSpPr>
          <p:spPr>
            <a:xfrm>
              <a:off x="1774" y="8626"/>
              <a:ext cx="1661" cy="51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销售毛利率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00" name="圆角矩形 96"/>
            <p:cNvSpPr/>
            <p:nvPr>
              <p:custDataLst>
                <p:tags r:id="rId83"/>
              </p:custDataLst>
            </p:nvPr>
          </p:nvSpPr>
          <p:spPr>
            <a:xfrm>
              <a:off x="1226" y="8619"/>
              <a:ext cx="2664" cy="149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601" name="文本框 100"/>
            <p:cNvSpPr txBox="1"/>
            <p:nvPr>
              <p:custDataLst>
                <p:tags r:id="rId84"/>
              </p:custDataLst>
            </p:nvPr>
          </p:nvSpPr>
          <p:spPr>
            <a:xfrm>
              <a:off x="1759" y="8997"/>
              <a:ext cx="1678" cy="585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 50.00%</a:t>
              </a:r>
              <a:endPara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602" name="组合 601"/>
            <p:cNvGrpSpPr/>
            <p:nvPr/>
          </p:nvGrpSpPr>
          <p:grpSpPr>
            <a:xfrm>
              <a:off x="1806" y="9358"/>
              <a:ext cx="2282" cy="751"/>
              <a:chOff x="4667" y="9344"/>
              <a:chExt cx="2282" cy="751"/>
            </a:xfrm>
          </p:grpSpPr>
          <p:sp>
            <p:nvSpPr>
              <p:cNvPr id="603" name="文本框 19"/>
              <p:cNvSpPr txBox="1"/>
              <p:nvPr>
                <p:custDataLst>
                  <p:tags r:id="rId85"/>
                </p:custDataLst>
              </p:nvPr>
            </p:nvSpPr>
            <p:spPr>
              <a:xfrm>
                <a:off x="4667" y="9344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04" name="文本框 19"/>
              <p:cNvSpPr txBox="1"/>
              <p:nvPr>
                <p:custDataLst>
                  <p:tags r:id="rId86"/>
                </p:custDataLst>
              </p:nvPr>
            </p:nvSpPr>
            <p:spPr>
              <a:xfrm>
                <a:off x="4667" y="9663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606" name="文本框 95"/>
          <p:cNvSpPr txBox="1"/>
          <p:nvPr>
            <p:custDataLst>
              <p:tags r:id="rId87"/>
            </p:custDataLst>
          </p:nvPr>
        </p:nvSpPr>
        <p:spPr>
          <a:xfrm>
            <a:off x="4758690" y="5480050"/>
            <a:ext cx="1056005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新品贡献率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7" name="圆角矩形 96"/>
          <p:cNvSpPr/>
          <p:nvPr>
            <p:custDataLst>
              <p:tags r:id="rId88"/>
            </p:custDataLst>
          </p:nvPr>
        </p:nvSpPr>
        <p:spPr>
          <a:xfrm>
            <a:off x="4293235" y="5475605"/>
            <a:ext cx="1759585" cy="94678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608" name="文本框 100"/>
          <p:cNvSpPr txBox="1"/>
          <p:nvPr>
            <p:custDataLst>
              <p:tags r:id="rId89"/>
            </p:custDataLst>
          </p:nvPr>
        </p:nvSpPr>
        <p:spPr>
          <a:xfrm>
            <a:off x="4703445" y="5715635"/>
            <a:ext cx="1090930" cy="3714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20.00%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1" name="文本框 19"/>
          <p:cNvSpPr txBox="1"/>
          <p:nvPr>
            <p:custDataLst>
              <p:tags r:id="rId90"/>
            </p:custDataLst>
          </p:nvPr>
        </p:nvSpPr>
        <p:spPr>
          <a:xfrm>
            <a:off x="4758690" y="6014085"/>
            <a:ext cx="1449705" cy="27495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2" name="文本框 164"/>
          <p:cNvSpPr txBox="1"/>
          <p:nvPr>
            <p:custDataLst>
              <p:tags r:id="rId91"/>
            </p:custDataLst>
          </p:nvPr>
        </p:nvSpPr>
        <p:spPr>
          <a:xfrm>
            <a:off x="10606962" y="657669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3" name="圆角矩形 20"/>
          <p:cNvSpPr/>
          <p:nvPr>
            <p:custDataLst>
              <p:tags r:id="rId92"/>
            </p:custDataLst>
          </p:nvPr>
        </p:nvSpPr>
        <p:spPr>
          <a:xfrm>
            <a:off x="6109257" y="6507480"/>
            <a:ext cx="5364000" cy="236093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614" name="圆角矩形 61"/>
          <p:cNvSpPr/>
          <p:nvPr>
            <p:custDataLst>
              <p:tags r:id="rId93"/>
            </p:custDataLst>
          </p:nvPr>
        </p:nvSpPr>
        <p:spPr>
          <a:xfrm>
            <a:off x="776527" y="6501130"/>
            <a:ext cx="5276215" cy="236093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615" name="文本框 62"/>
          <p:cNvSpPr txBox="1"/>
          <p:nvPr>
            <p:custDataLst>
              <p:tags r:id="rId94"/>
            </p:custDataLst>
          </p:nvPr>
        </p:nvSpPr>
        <p:spPr>
          <a:xfrm>
            <a:off x="5114212" y="657669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16" name="图表 615"/>
          <p:cNvGraphicFramePr/>
          <p:nvPr>
            <p:custDataLst>
              <p:tags r:id="rId95"/>
            </p:custDataLst>
          </p:nvPr>
        </p:nvGraphicFramePr>
        <p:xfrm>
          <a:off x="763827" y="6501130"/>
          <a:ext cx="5281930" cy="2360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17" name="文本框 191"/>
          <p:cNvSpPr txBox="1"/>
          <p:nvPr>
            <p:custDataLst>
              <p:tags r:id="rId96"/>
            </p:custDataLst>
          </p:nvPr>
        </p:nvSpPr>
        <p:spPr>
          <a:xfrm>
            <a:off x="6082587" y="6576695"/>
            <a:ext cx="1871980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注：需要确认展示的品类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619" name="组合 618"/>
          <p:cNvGrpSpPr/>
          <p:nvPr/>
        </p:nvGrpSpPr>
        <p:grpSpPr>
          <a:xfrm>
            <a:off x="9387205" y="12213590"/>
            <a:ext cx="2042795" cy="254635"/>
            <a:chOff x="1152" y="1541"/>
            <a:chExt cx="3217" cy="401"/>
          </a:xfrm>
        </p:grpSpPr>
        <p:grpSp>
          <p:nvGrpSpPr>
            <p:cNvPr id="620" name="组合 619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621" name="圆角矩形 620"/>
              <p:cNvSpPr/>
              <p:nvPr>
                <p:custDataLst>
                  <p:tags r:id="rId97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622" name="组合 621"/>
              <p:cNvGrpSpPr/>
              <p:nvPr/>
            </p:nvGrpSpPr>
            <p:grpSpPr>
              <a:xfrm>
                <a:off x="3623" y="2989"/>
                <a:ext cx="2576" cy="386"/>
                <a:chOff x="1152" y="956"/>
                <a:chExt cx="2576" cy="386"/>
              </a:xfrm>
            </p:grpSpPr>
            <p:sp>
              <p:nvSpPr>
                <p:cNvPr id="623" name="文本框 622"/>
                <p:cNvSpPr txBox="1"/>
                <p:nvPr>
                  <p:custDataLst>
                    <p:tags r:id="rId98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本年进度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24" name="圆角矩形 623"/>
                <p:cNvSpPr/>
                <p:nvPr>
                  <p:custDataLst>
                    <p:tags r:id="rId99"/>
                  </p:custDataLst>
                </p:nvPr>
              </p:nvSpPr>
              <p:spPr>
                <a:xfrm>
                  <a:off x="3046" y="1104"/>
                  <a:ext cx="367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625" name="文本框 624"/>
            <p:cNvSpPr txBox="1"/>
            <p:nvPr>
              <p:custDataLst>
                <p:tags r:id="rId100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25.00%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27" name="组合 626"/>
          <p:cNvGrpSpPr/>
          <p:nvPr/>
        </p:nvGrpSpPr>
        <p:grpSpPr>
          <a:xfrm>
            <a:off x="9375775" y="15307310"/>
            <a:ext cx="2042795" cy="254635"/>
            <a:chOff x="1152" y="1541"/>
            <a:chExt cx="3217" cy="401"/>
          </a:xfrm>
        </p:grpSpPr>
        <p:grpSp>
          <p:nvGrpSpPr>
            <p:cNvPr id="628" name="组合 627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629" name="圆角矩形 628"/>
              <p:cNvSpPr/>
              <p:nvPr>
                <p:custDataLst>
                  <p:tags r:id="rId101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630" name="组合 629"/>
              <p:cNvGrpSpPr/>
              <p:nvPr/>
            </p:nvGrpSpPr>
            <p:grpSpPr>
              <a:xfrm>
                <a:off x="3623" y="2989"/>
                <a:ext cx="2576" cy="386"/>
                <a:chOff x="1152" y="956"/>
                <a:chExt cx="2576" cy="386"/>
              </a:xfrm>
            </p:grpSpPr>
            <p:sp>
              <p:nvSpPr>
                <p:cNvPr id="631" name="文本框 630"/>
                <p:cNvSpPr txBox="1"/>
                <p:nvPr>
                  <p:custDataLst>
                    <p:tags r:id="rId102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本年进度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32" name="圆角矩形 631"/>
                <p:cNvSpPr/>
                <p:nvPr>
                  <p:custDataLst>
                    <p:tags r:id="rId103"/>
                  </p:custDataLst>
                </p:nvPr>
              </p:nvSpPr>
              <p:spPr>
                <a:xfrm>
                  <a:off x="3046" y="1104"/>
                  <a:ext cx="367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633" name="文本框 632"/>
            <p:cNvSpPr txBox="1"/>
            <p:nvPr>
              <p:custDataLst>
                <p:tags r:id="rId104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25.00%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34" name="文本框 275"/>
          <p:cNvSpPr txBox="1"/>
          <p:nvPr>
            <p:custDataLst>
              <p:tags r:id="rId105"/>
            </p:custDataLst>
          </p:nvPr>
        </p:nvSpPr>
        <p:spPr>
          <a:xfrm>
            <a:off x="2210117" y="15401290"/>
            <a:ext cx="1871980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注：需要确认展示的品类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637" name="Group 16"/>
          <p:cNvGrpSpPr/>
          <p:nvPr/>
        </p:nvGrpSpPr>
        <p:grpSpPr>
          <a:xfrm>
            <a:off x="9668510" y="18982055"/>
            <a:ext cx="1964690" cy="253365"/>
            <a:chOff x="9692505" y="548559"/>
            <a:chExt cx="1798335" cy="253365"/>
          </a:xfrm>
        </p:grpSpPr>
        <p:sp>
          <p:nvSpPr>
            <p:cNvPr id="638" name="Rectangle: Top Corners Rounded 17"/>
            <p:cNvSpPr/>
            <p:nvPr>
              <p:custDataLst>
                <p:tags r:id="rId106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9" name="Rectangle: Single Corner Rounded 18"/>
            <p:cNvSpPr/>
            <p:nvPr>
              <p:custDataLst>
                <p:tags r:id="rId107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0" name="Isosceles Triangle 19"/>
            <p:cNvSpPr/>
            <p:nvPr>
              <p:custDataLst>
                <p:tags r:id="rId108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1" name="TextBox 20"/>
            <p:cNvSpPr txBox="1"/>
            <p:nvPr>
              <p:custDataLst>
                <p:tags r:id="rId109"/>
              </p:custDataLst>
            </p:nvPr>
          </p:nvSpPr>
          <p:spPr>
            <a:xfrm>
              <a:off x="9692505" y="548559"/>
              <a:ext cx="1056100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行业三级品类：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42" name="Group 16"/>
          <p:cNvGrpSpPr/>
          <p:nvPr/>
        </p:nvGrpSpPr>
        <p:grpSpPr>
          <a:xfrm>
            <a:off x="5693410" y="18981420"/>
            <a:ext cx="1979930" cy="253365"/>
            <a:chOff x="9678556" y="548559"/>
            <a:chExt cx="1812284" cy="253365"/>
          </a:xfrm>
        </p:grpSpPr>
        <p:sp>
          <p:nvSpPr>
            <p:cNvPr id="643" name="Rectangle: Top Corners Rounded 17"/>
            <p:cNvSpPr/>
            <p:nvPr>
              <p:custDataLst>
                <p:tags r:id="rId110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4" name="Rectangle: Single Corner Rounded 18"/>
            <p:cNvSpPr/>
            <p:nvPr>
              <p:custDataLst>
                <p:tags r:id="rId111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5" name="Isosceles Triangle 19"/>
            <p:cNvSpPr/>
            <p:nvPr>
              <p:custDataLst>
                <p:tags r:id="rId112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6" name="TextBox 20"/>
            <p:cNvSpPr txBox="1"/>
            <p:nvPr>
              <p:custDataLst>
                <p:tags r:id="rId113"/>
              </p:custDataLst>
            </p:nvPr>
          </p:nvSpPr>
          <p:spPr>
            <a:xfrm>
              <a:off x="9678556" y="548559"/>
              <a:ext cx="1070050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行业一级品类：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47" name="Group 16"/>
          <p:cNvGrpSpPr/>
          <p:nvPr/>
        </p:nvGrpSpPr>
        <p:grpSpPr>
          <a:xfrm>
            <a:off x="7673340" y="18982055"/>
            <a:ext cx="1995170" cy="253365"/>
            <a:chOff x="9664606" y="548559"/>
            <a:chExt cx="1826234" cy="253365"/>
          </a:xfrm>
        </p:grpSpPr>
        <p:sp>
          <p:nvSpPr>
            <p:cNvPr id="648" name="Rectangle: Top Corners Rounded 17"/>
            <p:cNvSpPr/>
            <p:nvPr>
              <p:custDataLst>
                <p:tags r:id="rId114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9" name="Rectangle: Single Corner Rounded 18"/>
            <p:cNvSpPr/>
            <p:nvPr>
              <p:custDataLst>
                <p:tags r:id="rId115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0" name="Isosceles Triangle 19"/>
            <p:cNvSpPr/>
            <p:nvPr>
              <p:custDataLst>
                <p:tags r:id="rId116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1" name="TextBox 20"/>
            <p:cNvSpPr txBox="1"/>
            <p:nvPr>
              <p:custDataLst>
                <p:tags r:id="rId117"/>
              </p:custDataLst>
            </p:nvPr>
          </p:nvSpPr>
          <p:spPr>
            <a:xfrm>
              <a:off x="9664606" y="548559"/>
              <a:ext cx="1083999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行业二级品类：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52" name="文本框 285"/>
          <p:cNvSpPr txBox="1"/>
          <p:nvPr>
            <p:custDataLst>
              <p:tags r:id="rId118"/>
            </p:custDataLst>
          </p:nvPr>
        </p:nvSpPr>
        <p:spPr>
          <a:xfrm>
            <a:off x="723265" y="2594991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BHT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分析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3" name="文本框 286"/>
          <p:cNvSpPr txBox="1"/>
          <p:nvPr>
            <p:custDataLst>
              <p:tags r:id="rId119"/>
            </p:custDataLst>
          </p:nvPr>
        </p:nvSpPr>
        <p:spPr>
          <a:xfrm>
            <a:off x="731520" y="26276300"/>
            <a:ext cx="4853940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注：目前该区域数据暂无，后续从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CMK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取数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66" name="圆角矩形 665"/>
          <p:cNvSpPr/>
          <p:nvPr>
            <p:custDataLst>
              <p:tags r:id="rId120"/>
            </p:custDataLst>
          </p:nvPr>
        </p:nvSpPr>
        <p:spPr>
          <a:xfrm>
            <a:off x="697865" y="36323270"/>
            <a:ext cx="10988040" cy="51663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69" name="组合 668"/>
          <p:cNvGrpSpPr/>
          <p:nvPr/>
        </p:nvGrpSpPr>
        <p:grpSpPr>
          <a:xfrm>
            <a:off x="695960" y="36088955"/>
            <a:ext cx="1945005" cy="233680"/>
            <a:chOff x="8069" y="39501"/>
            <a:chExt cx="3063" cy="368"/>
          </a:xfrm>
        </p:grpSpPr>
        <p:sp>
          <p:nvSpPr>
            <p:cNvPr id="667" name="Rectangle: Rounded Corners 156"/>
            <p:cNvSpPr/>
            <p:nvPr>
              <p:custDataLst>
                <p:tags r:id="rId121"/>
              </p:custDataLst>
            </p:nvPr>
          </p:nvSpPr>
          <p:spPr>
            <a:xfrm>
              <a:off x="8069" y="39501"/>
              <a:ext cx="1531" cy="36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9DC3E6"/>
            </a:solidFill>
            <a:ln w="3175">
              <a:solidFill>
                <a:srgbClr val="C2CED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店铺明细表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8" name="Rectangle: Rounded Corners 156"/>
            <p:cNvSpPr/>
            <p:nvPr>
              <p:custDataLst>
                <p:tags r:id="rId122"/>
              </p:custDataLst>
            </p:nvPr>
          </p:nvSpPr>
          <p:spPr>
            <a:xfrm>
              <a:off x="9602" y="39501"/>
              <a:ext cx="1530" cy="369"/>
            </a:xfrm>
            <a:prstGeom prst="round2SameRect">
              <a:avLst>
                <a:gd name="adj1" fmla="val 0"/>
                <a:gd name="adj2" fmla="val 0"/>
              </a:avLst>
            </a:prstGeom>
            <a:noFill/>
            <a:ln w="3175">
              <a:solidFill>
                <a:srgbClr val="C2CEDC"/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DC3E6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9FABB9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品类明细表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670" name="表格 152"/>
          <p:cNvGraphicFramePr>
            <a:graphicFrameLocks noGrp="1"/>
          </p:cNvGraphicFramePr>
          <p:nvPr>
            <p:custDataLst>
              <p:tags r:id="rId123"/>
            </p:custDataLst>
          </p:nvPr>
        </p:nvGraphicFramePr>
        <p:xfrm>
          <a:off x="741045" y="42268775"/>
          <a:ext cx="10874375" cy="486918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9615"/>
                <a:gridCol w="683895"/>
                <a:gridCol w="683895"/>
                <a:gridCol w="683260"/>
                <a:gridCol w="675005"/>
                <a:gridCol w="746125"/>
                <a:gridCol w="772795"/>
                <a:gridCol w="791845"/>
                <a:gridCol w="693420"/>
                <a:gridCol w="782320"/>
                <a:gridCol w="640715"/>
              </a:tblGrid>
              <a:tr h="25971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色彩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护肤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唇妆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5971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711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销量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5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1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</a:t>
                      </a:r>
                      <a:r>
                        <a:rPr lang="zh-CN" altLang="en-US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（元）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产品成本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(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不含税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)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IP明星内容合作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    品牌IP及娱乐营销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...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贡献利润率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674" name="组合 673"/>
          <p:cNvGrpSpPr/>
          <p:nvPr/>
        </p:nvGrpSpPr>
        <p:grpSpPr>
          <a:xfrm>
            <a:off x="757555" y="40102790"/>
            <a:ext cx="108000" cy="108000"/>
            <a:chOff x="4130" y="8918"/>
            <a:chExt cx="228" cy="226"/>
          </a:xfrm>
        </p:grpSpPr>
        <p:sp>
          <p:nvSpPr>
            <p:cNvPr id="675" name="椭圆 674"/>
            <p:cNvSpPr/>
            <p:nvPr>
              <p:custDataLst>
                <p:tags r:id="rId124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676" name="减号 675"/>
            <p:cNvSpPr/>
            <p:nvPr>
              <p:custDataLst>
                <p:tags r:id="rId125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704" name="圆角矩形 703"/>
          <p:cNvSpPr/>
          <p:nvPr>
            <p:custDataLst>
              <p:tags r:id="rId126"/>
            </p:custDataLst>
          </p:nvPr>
        </p:nvSpPr>
        <p:spPr>
          <a:xfrm>
            <a:off x="686435" y="42202100"/>
            <a:ext cx="10988040" cy="500380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06" name="Rectangle: Rounded Corners 156"/>
          <p:cNvSpPr/>
          <p:nvPr>
            <p:custDataLst>
              <p:tags r:id="rId127"/>
            </p:custDataLst>
          </p:nvPr>
        </p:nvSpPr>
        <p:spPr>
          <a:xfrm>
            <a:off x="684530" y="41967785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店铺明细表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7" name="Rectangle: Rounded Corners 156"/>
          <p:cNvSpPr/>
          <p:nvPr>
            <p:custDataLst>
              <p:tags r:id="rId128"/>
            </p:custDataLst>
          </p:nvPr>
        </p:nvSpPr>
        <p:spPr>
          <a:xfrm>
            <a:off x="1657985" y="41967785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品类明细表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129"/>
            </p:custDataLst>
          </p:nvPr>
        </p:nvSpPr>
        <p:spPr>
          <a:xfrm>
            <a:off x="713105" y="26229310"/>
            <a:ext cx="10861675" cy="57340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901950" y="4924425"/>
            <a:ext cx="1449070" cy="476885"/>
            <a:chOff x="4667" y="9344"/>
            <a:chExt cx="2282" cy="751"/>
          </a:xfrm>
        </p:grpSpPr>
        <p:sp>
          <p:nvSpPr>
            <p:cNvPr id="8" name="文本框 19"/>
            <p:cNvSpPr txBox="1"/>
            <p:nvPr>
              <p:custDataLst>
                <p:tags r:id="rId130"/>
              </p:custDataLst>
            </p:nvPr>
          </p:nvSpPr>
          <p:spPr>
            <a:xfrm>
              <a:off x="4667" y="9344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19"/>
            <p:cNvSpPr txBox="1"/>
            <p:nvPr>
              <p:custDataLst>
                <p:tags r:id="rId131"/>
              </p:custDataLst>
            </p:nvPr>
          </p:nvSpPr>
          <p:spPr>
            <a:xfrm>
              <a:off x="4667" y="9663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709160" y="4925060"/>
            <a:ext cx="1449070" cy="476885"/>
            <a:chOff x="4667" y="9344"/>
            <a:chExt cx="2282" cy="751"/>
          </a:xfrm>
        </p:grpSpPr>
        <p:sp>
          <p:nvSpPr>
            <p:cNvPr id="11" name="文本框 19"/>
            <p:cNvSpPr txBox="1"/>
            <p:nvPr>
              <p:custDataLst>
                <p:tags r:id="rId132"/>
              </p:custDataLst>
            </p:nvPr>
          </p:nvSpPr>
          <p:spPr>
            <a:xfrm>
              <a:off x="4667" y="9344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文本框 19"/>
            <p:cNvSpPr txBox="1"/>
            <p:nvPr>
              <p:custDataLst>
                <p:tags r:id="rId133"/>
              </p:custDataLst>
            </p:nvPr>
          </p:nvSpPr>
          <p:spPr>
            <a:xfrm>
              <a:off x="4667" y="9663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90" name="圆角矩形 89"/>
          <p:cNvSpPr/>
          <p:nvPr>
            <p:custDataLst>
              <p:tags r:id="rId134"/>
            </p:custDataLst>
          </p:nvPr>
        </p:nvSpPr>
        <p:spPr>
          <a:xfrm>
            <a:off x="6120130" y="1704975"/>
            <a:ext cx="5363845" cy="233235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94" name="圆角矩形 93"/>
          <p:cNvSpPr/>
          <p:nvPr>
            <p:custDataLst>
              <p:tags r:id="rId135"/>
            </p:custDataLst>
          </p:nvPr>
        </p:nvSpPr>
        <p:spPr>
          <a:xfrm>
            <a:off x="6120130" y="4094480"/>
            <a:ext cx="5363845" cy="231330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64" name="文本框 163"/>
          <p:cNvSpPr txBox="1"/>
          <p:nvPr>
            <p:custDataLst>
              <p:tags r:id="rId136"/>
            </p:custDataLst>
          </p:nvPr>
        </p:nvSpPr>
        <p:spPr>
          <a:xfrm>
            <a:off x="6066155" y="6022975"/>
            <a:ext cx="2293620" cy="3848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注：需要确认展示的品类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aphicFrame>
        <p:nvGraphicFramePr>
          <p:cNvPr id="64" name="图表 63"/>
          <p:cNvGraphicFramePr/>
          <p:nvPr>
            <p:custDataLst>
              <p:tags r:id="rId137"/>
            </p:custDataLst>
          </p:nvPr>
        </p:nvGraphicFramePr>
        <p:xfrm>
          <a:off x="6129655" y="1697990"/>
          <a:ext cx="5294630" cy="2310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7" name="图表 66"/>
          <p:cNvGraphicFramePr/>
          <p:nvPr>
            <p:custDataLst>
              <p:tags r:id="rId138"/>
            </p:custDataLst>
          </p:nvPr>
        </p:nvGraphicFramePr>
        <p:xfrm>
          <a:off x="6130290" y="4093845"/>
          <a:ext cx="5294630" cy="2285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2" name="文本框 164"/>
          <p:cNvSpPr txBox="1"/>
          <p:nvPr>
            <p:custDataLst>
              <p:tags r:id="rId139"/>
            </p:custDataLst>
          </p:nvPr>
        </p:nvSpPr>
        <p:spPr>
          <a:xfrm>
            <a:off x="10611407" y="410400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164"/>
          <p:cNvSpPr txBox="1"/>
          <p:nvPr>
            <p:custDataLst>
              <p:tags r:id="rId140"/>
            </p:custDataLst>
          </p:nvPr>
        </p:nvSpPr>
        <p:spPr>
          <a:xfrm>
            <a:off x="10598707" y="171386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9570720" y="1073150"/>
            <a:ext cx="2042795" cy="254635"/>
            <a:chOff x="1152" y="1541"/>
            <a:chExt cx="3217" cy="401"/>
          </a:xfrm>
        </p:grpSpPr>
        <p:grpSp>
          <p:nvGrpSpPr>
            <p:cNvPr id="19" name="组合 18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20" name="圆角矩形 19"/>
              <p:cNvSpPr/>
              <p:nvPr>
                <p:custDataLst>
                  <p:tags r:id="rId141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3623" y="2989"/>
                <a:ext cx="2576" cy="386"/>
                <a:chOff x="1152" y="956"/>
                <a:chExt cx="2576" cy="386"/>
              </a:xfrm>
            </p:grpSpPr>
            <p:sp>
              <p:nvSpPr>
                <p:cNvPr id="23" name="文本框 22"/>
                <p:cNvSpPr txBox="1"/>
                <p:nvPr>
                  <p:custDataLst>
                    <p:tags r:id="rId142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本年进度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4" name="圆角矩形 23"/>
                <p:cNvSpPr/>
                <p:nvPr>
                  <p:custDataLst>
                    <p:tags r:id="rId143"/>
                  </p:custDataLst>
                </p:nvPr>
              </p:nvSpPr>
              <p:spPr>
                <a:xfrm>
                  <a:off x="3046" y="1104"/>
                  <a:ext cx="367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5" name="文本框 24"/>
            <p:cNvSpPr txBox="1"/>
            <p:nvPr>
              <p:custDataLst>
                <p:tags r:id="rId144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25.00%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727152" y="1740218"/>
            <a:ext cx="2672637" cy="1359852"/>
            <a:chOff x="727153" y="1740218"/>
            <a:chExt cx="2595880" cy="1169670"/>
          </a:xfrm>
        </p:grpSpPr>
        <p:sp>
          <p:nvSpPr>
            <p:cNvPr id="501" name="圆角矩形 21"/>
            <p:cNvSpPr/>
            <p:nvPr>
              <p:custDataLst>
                <p:tags r:id="rId145"/>
              </p:custDataLst>
            </p:nvPr>
          </p:nvSpPr>
          <p:spPr>
            <a:xfrm>
              <a:off x="727153" y="1740218"/>
              <a:ext cx="2595880" cy="1169035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1251663" y="1813878"/>
              <a:ext cx="1572260" cy="1096010"/>
              <a:chOff x="2141" y="5075"/>
              <a:chExt cx="2476" cy="1726"/>
            </a:xfrm>
          </p:grpSpPr>
          <p:sp>
            <p:nvSpPr>
              <p:cNvPr id="29" name="文本框 67"/>
              <p:cNvSpPr txBox="1"/>
              <p:nvPr>
                <p:custDataLst>
                  <p:tags r:id="rId146"/>
                </p:custDataLst>
              </p:nvPr>
            </p:nvSpPr>
            <p:spPr>
              <a:xfrm>
                <a:off x="2571" y="6047"/>
                <a:ext cx="1870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1.00%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0" name="文本框 68"/>
              <p:cNvSpPr txBox="1"/>
              <p:nvPr>
                <p:custDataLst>
                  <p:tags r:id="rId147"/>
                </p:custDataLst>
              </p:nvPr>
            </p:nvSpPr>
            <p:spPr>
              <a:xfrm>
                <a:off x="2571" y="6424"/>
                <a:ext cx="1545" cy="377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2141" y="5075"/>
                <a:ext cx="2476" cy="1105"/>
                <a:chOff x="1164" y="1935"/>
                <a:chExt cx="1803" cy="800"/>
              </a:xfrm>
            </p:grpSpPr>
            <p:sp>
              <p:nvSpPr>
                <p:cNvPr id="32" name="文本框 176"/>
                <p:cNvSpPr txBox="1"/>
                <p:nvPr>
                  <p:custDataLst>
                    <p:tags r:id="rId148"/>
                  </p:custDataLst>
                </p:nvPr>
              </p:nvSpPr>
              <p:spPr>
                <a:xfrm>
                  <a:off x="1164" y="1935"/>
                  <a:ext cx="1632" cy="514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altLang="zh-CN" sz="1400" b="1">
                      <a:latin typeface="微软雅黑" panose="020B0503020204020204" charset="-122"/>
                      <a:ea typeface="微软雅黑" panose="020B0503020204020204" charset="-122"/>
                    </a:rPr>
                    <a:t>     </a:t>
                  </a:r>
                  <a:r>
                    <a:rPr lang="zh-CN" altLang="en-US" sz="1400" b="1">
                      <a:latin typeface="微软雅黑" panose="020B0503020204020204" charset="-122"/>
                      <a:ea typeface="微软雅黑" panose="020B0503020204020204" charset="-122"/>
                    </a:rPr>
                    <a:t>财务净收入</a:t>
                  </a:r>
                  <a:endParaRPr lang="zh-CN" altLang="en-US" sz="14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3" name="文本框 177"/>
                <p:cNvSpPr txBox="1"/>
                <p:nvPr>
                  <p:custDataLst>
                    <p:tags r:id="rId149"/>
                  </p:custDataLst>
                </p:nvPr>
              </p:nvSpPr>
              <p:spPr>
                <a:xfrm>
                  <a:off x="1400" y="2311"/>
                  <a:ext cx="1567" cy="424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altLang="zh-CN" sz="1400" b="1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8,000.00</a:t>
                  </a:r>
                  <a:r>
                    <a:rPr lang="zh-CN" altLang="en-US" sz="1400" b="1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万元</a:t>
                  </a:r>
                  <a:endParaRPr lang="zh-CN" altLang="en-US" sz="1400" b="1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</p:grpSp>
      <p:grpSp>
        <p:nvGrpSpPr>
          <p:cNvPr id="34" name="组合 33"/>
          <p:cNvGrpSpPr/>
          <p:nvPr/>
        </p:nvGrpSpPr>
        <p:grpSpPr>
          <a:xfrm>
            <a:off x="3632200" y="3261995"/>
            <a:ext cx="2148205" cy="941705"/>
            <a:chOff x="5720" y="4912"/>
            <a:chExt cx="3383" cy="1123"/>
          </a:xfrm>
        </p:grpSpPr>
        <p:sp>
          <p:nvSpPr>
            <p:cNvPr id="35" name="文本框 34"/>
            <p:cNvSpPr txBox="1"/>
            <p:nvPr>
              <p:custDataLst>
                <p:tags r:id="rId150"/>
              </p:custDataLst>
            </p:nvPr>
          </p:nvSpPr>
          <p:spPr>
            <a:xfrm>
              <a:off x="5720" y="4912"/>
              <a:ext cx="3383" cy="51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    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财务净收入目标差异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8" name="文本框 97"/>
            <p:cNvSpPr txBox="1"/>
            <p:nvPr>
              <p:custDataLst>
                <p:tags r:id="rId151"/>
              </p:custDataLst>
            </p:nvPr>
          </p:nvSpPr>
          <p:spPr>
            <a:xfrm>
              <a:off x="6360" y="5449"/>
              <a:ext cx="2385" cy="58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+500.00</a:t>
              </a: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2" name="文本框 275"/>
          <p:cNvSpPr txBox="1"/>
          <p:nvPr>
            <p:custDataLst>
              <p:tags r:id="rId152"/>
            </p:custDataLst>
          </p:nvPr>
        </p:nvSpPr>
        <p:spPr>
          <a:xfrm>
            <a:off x="6362065" y="11861165"/>
            <a:ext cx="2073910" cy="68834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点击上方渠道，可跳转至月报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—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目标达成明细表查看该渠道底下品类的销售达成情况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3" name="文本框 275"/>
          <p:cNvSpPr txBox="1"/>
          <p:nvPr>
            <p:custDataLst>
              <p:tags r:id="rId153"/>
            </p:custDataLst>
          </p:nvPr>
        </p:nvSpPr>
        <p:spPr>
          <a:xfrm>
            <a:off x="1595755" y="17571085"/>
            <a:ext cx="2073910" cy="68834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点击三级品类，可跳转至月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报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—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目标达成明细表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查看该单品名称底下渠道的销售达成情况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54" name="直接箭头连接符 53"/>
          <p:cNvCxnSpPr/>
          <p:nvPr/>
        </p:nvCxnSpPr>
        <p:spPr>
          <a:xfrm flipV="1">
            <a:off x="5676265" y="12205335"/>
            <a:ext cx="714375" cy="139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1134110" y="17317720"/>
            <a:ext cx="478790" cy="4235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>
            <p:custDataLst>
              <p:tags r:id="rId154"/>
            </p:custDataLst>
          </p:nvPr>
        </p:nvSpPr>
        <p:spPr>
          <a:xfrm>
            <a:off x="3729355" y="19389090"/>
            <a:ext cx="1039495" cy="450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天猫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55"/>
            </p:custDataLst>
          </p:nvPr>
        </p:nvSpPr>
        <p:spPr>
          <a:xfrm>
            <a:off x="4081780" y="19745325"/>
            <a:ext cx="848995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50.00%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圆角矩形 47"/>
          <p:cNvSpPr/>
          <p:nvPr>
            <p:custDataLst>
              <p:tags r:id="rId156"/>
            </p:custDataLst>
          </p:nvPr>
        </p:nvSpPr>
        <p:spPr>
          <a:xfrm>
            <a:off x="742950" y="19397345"/>
            <a:ext cx="2124000" cy="1054735"/>
          </a:xfrm>
          <a:prstGeom prst="roundRect">
            <a:avLst>
              <a:gd name="adj" fmla="val 103"/>
            </a:avLst>
          </a:prstGeom>
          <a:ln w="19050">
            <a:solidFill>
              <a:schemeClr val="accent1"/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57"/>
            </p:custDataLst>
          </p:nvPr>
        </p:nvSpPr>
        <p:spPr>
          <a:xfrm>
            <a:off x="3221355" y="20019645"/>
            <a:ext cx="176657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158"/>
            </p:custDataLst>
          </p:nvPr>
        </p:nvSpPr>
        <p:spPr>
          <a:xfrm>
            <a:off x="3227070" y="20220940"/>
            <a:ext cx="170370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59"/>
            </p:custDataLst>
          </p:nvPr>
        </p:nvSpPr>
        <p:spPr>
          <a:xfrm>
            <a:off x="3204210" y="19764375"/>
            <a:ext cx="897255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160"/>
            </p:custDataLst>
          </p:nvPr>
        </p:nvSpPr>
        <p:spPr>
          <a:xfrm>
            <a:off x="5937250" y="19389090"/>
            <a:ext cx="1039495" cy="450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抖音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161"/>
            </p:custDataLst>
          </p:nvPr>
        </p:nvSpPr>
        <p:spPr>
          <a:xfrm>
            <a:off x="6231890" y="19745325"/>
            <a:ext cx="848995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45.00%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圆角矩形 69"/>
          <p:cNvSpPr/>
          <p:nvPr>
            <p:custDataLst>
              <p:tags r:id="rId162"/>
            </p:custDataLst>
          </p:nvPr>
        </p:nvSpPr>
        <p:spPr>
          <a:xfrm>
            <a:off x="5108500" y="19397345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163"/>
            </p:custDataLst>
          </p:nvPr>
        </p:nvSpPr>
        <p:spPr>
          <a:xfrm>
            <a:off x="5371465" y="20019645"/>
            <a:ext cx="176657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64"/>
            </p:custDataLst>
          </p:nvPr>
        </p:nvSpPr>
        <p:spPr>
          <a:xfrm>
            <a:off x="5377180" y="20220940"/>
            <a:ext cx="170370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165"/>
            </p:custDataLst>
          </p:nvPr>
        </p:nvSpPr>
        <p:spPr>
          <a:xfrm>
            <a:off x="5335270" y="19764375"/>
            <a:ext cx="897255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166"/>
            </p:custDataLst>
          </p:nvPr>
        </p:nvSpPr>
        <p:spPr>
          <a:xfrm>
            <a:off x="8110220" y="19389090"/>
            <a:ext cx="1039495" cy="450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京东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167"/>
            </p:custDataLst>
          </p:nvPr>
        </p:nvSpPr>
        <p:spPr>
          <a:xfrm>
            <a:off x="8371840" y="19745325"/>
            <a:ext cx="848995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40.00%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圆角矩形 76"/>
          <p:cNvSpPr/>
          <p:nvPr>
            <p:custDataLst>
              <p:tags r:id="rId168"/>
            </p:custDataLst>
          </p:nvPr>
        </p:nvSpPr>
        <p:spPr>
          <a:xfrm>
            <a:off x="7290995" y="19397345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169"/>
            </p:custDataLst>
          </p:nvPr>
        </p:nvSpPr>
        <p:spPr>
          <a:xfrm>
            <a:off x="7511415" y="20019645"/>
            <a:ext cx="176657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170"/>
            </p:custDataLst>
          </p:nvPr>
        </p:nvSpPr>
        <p:spPr>
          <a:xfrm>
            <a:off x="7517130" y="20220940"/>
            <a:ext cx="170370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171"/>
            </p:custDataLst>
          </p:nvPr>
        </p:nvSpPr>
        <p:spPr>
          <a:xfrm>
            <a:off x="7499985" y="19764375"/>
            <a:ext cx="897255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172"/>
            </p:custDataLst>
          </p:nvPr>
        </p:nvSpPr>
        <p:spPr>
          <a:xfrm>
            <a:off x="10311765" y="19389090"/>
            <a:ext cx="1039495" cy="450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快手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173"/>
            </p:custDataLst>
          </p:nvPr>
        </p:nvSpPr>
        <p:spPr>
          <a:xfrm>
            <a:off x="10713720" y="19745325"/>
            <a:ext cx="848995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52.00%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圆角矩形 83"/>
          <p:cNvSpPr/>
          <p:nvPr>
            <p:custDataLst>
              <p:tags r:id="rId174"/>
            </p:custDataLst>
          </p:nvPr>
        </p:nvSpPr>
        <p:spPr>
          <a:xfrm>
            <a:off x="9473490" y="19397345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175"/>
            </p:custDataLst>
          </p:nvPr>
        </p:nvSpPr>
        <p:spPr>
          <a:xfrm>
            <a:off x="9853295" y="20019645"/>
            <a:ext cx="176657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176"/>
            </p:custDataLst>
          </p:nvPr>
        </p:nvSpPr>
        <p:spPr>
          <a:xfrm>
            <a:off x="9859010" y="20220940"/>
            <a:ext cx="170370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/>
          <p:cNvSpPr txBox="1"/>
          <p:nvPr>
            <p:custDataLst>
              <p:tags r:id="rId177"/>
            </p:custDataLst>
          </p:nvPr>
        </p:nvSpPr>
        <p:spPr>
          <a:xfrm>
            <a:off x="9817100" y="19764375"/>
            <a:ext cx="897255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6" name="图表 105"/>
          <p:cNvGraphicFramePr/>
          <p:nvPr>
            <p:custDataLst>
              <p:tags r:id="rId178"/>
            </p:custDataLst>
          </p:nvPr>
        </p:nvGraphicFramePr>
        <p:xfrm>
          <a:off x="734060" y="20532090"/>
          <a:ext cx="10860405" cy="2405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09" name="圆角矩形 108"/>
          <p:cNvSpPr/>
          <p:nvPr>
            <p:custDataLst>
              <p:tags r:id="rId179"/>
            </p:custDataLst>
          </p:nvPr>
        </p:nvSpPr>
        <p:spPr>
          <a:xfrm>
            <a:off x="732790" y="20532725"/>
            <a:ext cx="10861040" cy="240538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0" name="文本框 109"/>
          <p:cNvSpPr txBox="1"/>
          <p:nvPr>
            <p:custDataLst>
              <p:tags r:id="rId180"/>
            </p:custDataLst>
          </p:nvPr>
        </p:nvSpPr>
        <p:spPr>
          <a:xfrm>
            <a:off x="10713720" y="2060829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圆角矩形 103"/>
          <p:cNvSpPr/>
          <p:nvPr>
            <p:custDataLst>
              <p:tags r:id="rId181"/>
            </p:custDataLst>
          </p:nvPr>
        </p:nvSpPr>
        <p:spPr>
          <a:xfrm>
            <a:off x="2926005" y="19405600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pSp>
        <p:nvGrpSpPr>
          <p:cNvPr id="191" name="组合 190"/>
          <p:cNvGrpSpPr/>
          <p:nvPr/>
        </p:nvGrpSpPr>
        <p:grpSpPr>
          <a:xfrm>
            <a:off x="958215" y="19464020"/>
            <a:ext cx="1766570" cy="989965"/>
            <a:chOff x="5233" y="25449"/>
            <a:chExt cx="2782" cy="1559"/>
          </a:xfrm>
        </p:grpSpPr>
        <p:sp>
          <p:nvSpPr>
            <p:cNvPr id="118" name="文本框 117"/>
            <p:cNvSpPr txBox="1"/>
            <p:nvPr>
              <p:custDataLst>
                <p:tags r:id="rId182"/>
              </p:custDataLst>
            </p:nvPr>
          </p:nvSpPr>
          <p:spPr>
            <a:xfrm>
              <a:off x="5840" y="25882"/>
              <a:ext cx="1337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50.00%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文本框 118"/>
            <p:cNvSpPr txBox="1"/>
            <p:nvPr>
              <p:custDataLst>
                <p:tags r:id="rId183"/>
              </p:custDataLst>
            </p:nvPr>
          </p:nvSpPr>
          <p:spPr>
            <a:xfrm>
              <a:off x="5233" y="26314"/>
              <a:ext cx="2782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同比增长率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0" name="文本框 169"/>
            <p:cNvSpPr txBox="1"/>
            <p:nvPr>
              <p:custDataLst>
                <p:tags r:id="rId184"/>
              </p:custDataLst>
            </p:nvPr>
          </p:nvSpPr>
          <p:spPr>
            <a:xfrm>
              <a:off x="5242" y="26631"/>
              <a:ext cx="2683" cy="3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环比增长率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3" name="文本框 182"/>
            <p:cNvSpPr txBox="1"/>
            <p:nvPr>
              <p:custDataLst>
                <p:tags r:id="rId185"/>
              </p:custDataLst>
            </p:nvPr>
          </p:nvSpPr>
          <p:spPr>
            <a:xfrm>
              <a:off x="5776" y="25449"/>
              <a:ext cx="2079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4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大盘占比</a:t>
              </a:r>
              <a:endPara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2" name="文本框 191"/>
          <p:cNvSpPr txBox="1"/>
          <p:nvPr>
            <p:custDataLst>
              <p:tags r:id="rId186"/>
            </p:custDataLst>
          </p:nvPr>
        </p:nvSpPr>
        <p:spPr>
          <a:xfrm>
            <a:off x="1343660" y="20453985"/>
            <a:ext cx="320675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、第一个指标卡代表的是天猫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+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抖音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+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京东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+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快手四个平台的市场占有率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2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、上方四张指标卡联动底下的趋势图和排名表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>
            <a:off x="1261745" y="20473670"/>
            <a:ext cx="0" cy="304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>
            <p:custDataLst>
              <p:tags r:id="rId187"/>
            </p:custDataLst>
          </p:nvPr>
        </p:nvSpPr>
        <p:spPr>
          <a:xfrm>
            <a:off x="3416300" y="20947380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30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快手：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1" name="文本框 200"/>
          <p:cNvSpPr txBox="1"/>
          <p:nvPr>
            <p:custDataLst>
              <p:tags r:id="rId188"/>
            </p:custDataLst>
          </p:nvPr>
        </p:nvSpPr>
        <p:spPr>
          <a:xfrm>
            <a:off x="3409950" y="21645245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快手：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</a:t>
            </a:r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4" name="圆角矩形 193"/>
          <p:cNvSpPr/>
          <p:nvPr>
            <p:custDataLst>
              <p:tags r:id="rId189"/>
            </p:custDataLst>
          </p:nvPr>
        </p:nvSpPr>
        <p:spPr>
          <a:xfrm>
            <a:off x="640715" y="27195780"/>
            <a:ext cx="5314950" cy="292163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5" name="图表 14"/>
          <p:cNvGraphicFramePr/>
          <p:nvPr>
            <p:custDataLst>
              <p:tags r:id="rId190"/>
            </p:custDataLst>
          </p:nvPr>
        </p:nvGraphicFramePr>
        <p:xfrm>
          <a:off x="651510" y="27231975"/>
          <a:ext cx="5293995" cy="2999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1" name="文本框 20"/>
          <p:cNvSpPr txBox="1"/>
          <p:nvPr>
            <p:custDataLst>
              <p:tags r:id="rId191"/>
            </p:custDataLst>
          </p:nvPr>
        </p:nvSpPr>
        <p:spPr>
          <a:xfrm>
            <a:off x="5079365" y="2736532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41350" y="30190440"/>
            <a:ext cx="11015345" cy="2477770"/>
            <a:chOff x="1036" y="45547"/>
            <a:chExt cx="17347" cy="3902"/>
          </a:xfrm>
        </p:grpSpPr>
        <p:graphicFrame>
          <p:nvGraphicFramePr>
            <p:cNvPr id="39" name="图表 38"/>
            <p:cNvGraphicFramePr/>
            <p:nvPr>
              <p:custDataLst>
                <p:tags r:id="rId192"/>
              </p:custDataLst>
            </p:nvPr>
          </p:nvGraphicFramePr>
          <p:xfrm>
            <a:off x="1036" y="45547"/>
            <a:ext cx="17334" cy="390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43" name="圆角矩形 42"/>
            <p:cNvSpPr/>
            <p:nvPr>
              <p:custDataLst>
                <p:tags r:id="rId193"/>
              </p:custDataLst>
            </p:nvPr>
          </p:nvSpPr>
          <p:spPr>
            <a:xfrm>
              <a:off x="1037" y="45548"/>
              <a:ext cx="17346" cy="3897"/>
            </a:xfrm>
            <a:prstGeom prst="roundRect">
              <a:avLst>
                <a:gd name="adj" fmla="val 103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194"/>
              </p:custDataLst>
            </p:nvPr>
          </p:nvSpPr>
          <p:spPr>
            <a:xfrm>
              <a:off x="16982" y="45721"/>
              <a:ext cx="1362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单位：万元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162" name="图表 161"/>
          <p:cNvGraphicFramePr/>
          <p:nvPr>
            <p:custDataLst>
              <p:tags r:id="rId195"/>
            </p:custDataLst>
          </p:nvPr>
        </p:nvGraphicFramePr>
        <p:xfrm>
          <a:off x="6040120" y="27195780"/>
          <a:ext cx="5599430" cy="286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63" name="圆角矩形 162"/>
          <p:cNvSpPr/>
          <p:nvPr>
            <p:custDataLst>
              <p:tags r:id="rId196"/>
            </p:custDataLst>
          </p:nvPr>
        </p:nvSpPr>
        <p:spPr>
          <a:xfrm>
            <a:off x="6040120" y="27197050"/>
            <a:ext cx="5598795" cy="29197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文本框 164"/>
          <p:cNvSpPr txBox="1"/>
          <p:nvPr>
            <p:custDataLst>
              <p:tags r:id="rId197"/>
            </p:custDataLst>
          </p:nvPr>
        </p:nvSpPr>
        <p:spPr>
          <a:xfrm>
            <a:off x="10784840" y="27552015"/>
            <a:ext cx="86296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880110" y="40332660"/>
            <a:ext cx="108000" cy="108000"/>
            <a:chOff x="4130" y="8918"/>
            <a:chExt cx="228" cy="226"/>
          </a:xfrm>
        </p:grpSpPr>
        <p:sp>
          <p:nvSpPr>
            <p:cNvPr id="36" name="椭圆 35"/>
            <p:cNvSpPr/>
            <p:nvPr>
              <p:custDataLst>
                <p:tags r:id="rId198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7" name="减号 36"/>
            <p:cNvSpPr/>
            <p:nvPr>
              <p:custDataLst>
                <p:tags r:id="rId199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44220" y="45888910"/>
            <a:ext cx="108000" cy="108000"/>
            <a:chOff x="4130" y="8918"/>
            <a:chExt cx="228" cy="226"/>
          </a:xfrm>
        </p:grpSpPr>
        <p:sp>
          <p:nvSpPr>
            <p:cNvPr id="41" name="椭圆 40"/>
            <p:cNvSpPr/>
            <p:nvPr>
              <p:custDataLst>
                <p:tags r:id="rId200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42" name="减号 41"/>
            <p:cNvSpPr/>
            <p:nvPr>
              <p:custDataLst>
                <p:tags r:id="rId201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885190" y="46109890"/>
            <a:ext cx="108000" cy="108000"/>
            <a:chOff x="4130" y="8918"/>
            <a:chExt cx="228" cy="226"/>
          </a:xfrm>
        </p:grpSpPr>
        <p:sp>
          <p:nvSpPr>
            <p:cNvPr id="66" name="椭圆 65"/>
            <p:cNvSpPr/>
            <p:nvPr>
              <p:custDataLst>
                <p:tags r:id="rId202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68" name="减号 67"/>
            <p:cNvSpPr/>
            <p:nvPr>
              <p:custDataLst>
                <p:tags r:id="rId203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86" name="文本框 85"/>
          <p:cNvSpPr txBox="1"/>
          <p:nvPr>
            <p:custDataLst>
              <p:tags r:id="rId204"/>
            </p:custDataLst>
          </p:nvPr>
        </p:nvSpPr>
        <p:spPr>
          <a:xfrm>
            <a:off x="10811510" y="3604704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205"/>
            </p:custDataLst>
          </p:nvPr>
        </p:nvSpPr>
        <p:spPr>
          <a:xfrm>
            <a:off x="10792460" y="4188968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0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表格 15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05130" y="1778635"/>
          <a:ext cx="11486515" cy="267462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652780"/>
                <a:gridCol w="1664970"/>
                <a:gridCol w="573405"/>
                <a:gridCol w="678180"/>
                <a:gridCol w="680720"/>
                <a:gridCol w="680720"/>
                <a:gridCol w="680085"/>
                <a:gridCol w="680720"/>
                <a:gridCol w="680085"/>
                <a:gridCol w="680720"/>
                <a:gridCol w="679450"/>
                <a:gridCol w="680720"/>
                <a:gridCol w="824230"/>
                <a:gridCol w="824865"/>
                <a:gridCol w="824865"/>
              </a:tblGrid>
              <a:tr h="42227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产品简称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单品名称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优惠前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商家折扣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赠品金额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退款前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退款金额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6639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蜜粉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花西子玉女桃花轻蜜粉-私模版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蜜粉饼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花西子玉女桃花蚕丝蜜粉饼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锁妆喷雾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花西子三花沁养抗氧化定妆喷雾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玉养蜜粉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花西子玉女桃花轻蜜粉-玉养款-香粉盒版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文本框 202"/>
          <p:cNvSpPr txBox="1"/>
          <p:nvPr>
            <p:custDataLst>
              <p:tags r:id="rId2"/>
            </p:custDataLst>
          </p:nvPr>
        </p:nvSpPr>
        <p:spPr>
          <a:xfrm>
            <a:off x="239395" y="1109345"/>
            <a:ext cx="2990849" cy="3168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日报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目标达成明细表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渠道看品类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59055" y="774700"/>
            <a:ext cx="2357120" cy="291465"/>
            <a:chOff x="9572029" y="430877"/>
            <a:chExt cx="1319315" cy="491055"/>
          </a:xfrm>
        </p:grpSpPr>
        <p:sp>
          <p:nvSpPr>
            <p:cNvPr id="18" name="Rectangle: Top Corners Rounded 17"/>
            <p:cNvSpPr/>
            <p:nvPr>
              <p:custDataLst>
                <p:tags r:id="rId3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31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Rectangle: Single Corner Rounded 18"/>
            <p:cNvSpPr/>
            <p:nvPr>
              <p:custDataLst>
                <p:tags r:id="rId4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Isosceles Triangle 19"/>
            <p:cNvSpPr/>
            <p:nvPr>
              <p:custDataLst>
                <p:tags r:id="rId5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TextBox 20"/>
            <p:cNvSpPr txBox="1"/>
            <p:nvPr>
              <p:custDataLst>
                <p:tags r:id="rId6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日期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6" name="文本框 75"/>
          <p:cNvSpPr txBox="1"/>
          <p:nvPr>
            <p:custDataLst>
              <p:tags r:id="rId7"/>
            </p:custDataLst>
          </p:nvPr>
        </p:nvSpPr>
        <p:spPr>
          <a:xfrm>
            <a:off x="229869" y="8965656"/>
            <a:ext cx="290449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月报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目标达成明细表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渠道看品类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8" name="Group 16"/>
          <p:cNvGrpSpPr/>
          <p:nvPr/>
        </p:nvGrpSpPr>
        <p:grpSpPr>
          <a:xfrm>
            <a:off x="188595" y="8611870"/>
            <a:ext cx="2357120" cy="291465"/>
            <a:chOff x="9572029" y="430877"/>
            <a:chExt cx="1319315" cy="491055"/>
          </a:xfrm>
        </p:grpSpPr>
        <p:sp>
          <p:nvSpPr>
            <p:cNvPr id="79" name="Rectangle: Top Corners Rounded 17"/>
            <p:cNvSpPr/>
            <p:nvPr>
              <p:custDataLst>
                <p:tags r:id="rId8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" name="Rectangle: Single Corner Rounded 18"/>
            <p:cNvSpPr/>
            <p:nvPr>
              <p:custDataLst>
                <p:tags r:id="rId9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1" name="Isosceles Triangle 19"/>
            <p:cNvSpPr/>
            <p:nvPr>
              <p:custDataLst>
                <p:tags r:id="rId10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2" name="TextBox 20"/>
            <p:cNvSpPr txBox="1"/>
            <p:nvPr>
              <p:custDataLst>
                <p:tags r:id="rId11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月份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2" name="文本框 141"/>
          <p:cNvSpPr txBox="1"/>
          <p:nvPr/>
        </p:nvSpPr>
        <p:spPr>
          <a:xfrm>
            <a:off x="215265" y="441876"/>
            <a:ext cx="4064000" cy="245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日报看板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——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目标达成分析跳转至这个报表明细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43" name="文本框 142"/>
          <p:cNvSpPr txBox="1"/>
          <p:nvPr>
            <p:custDataLst>
              <p:tags r:id="rId12"/>
            </p:custDataLst>
          </p:nvPr>
        </p:nvSpPr>
        <p:spPr>
          <a:xfrm>
            <a:off x="361949" y="8316602"/>
            <a:ext cx="4064000" cy="245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月报看板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——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目标达成分析跳转至这个报表明细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aphicFrame>
        <p:nvGraphicFramePr>
          <p:cNvPr id="2" name="表格 152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325755" y="5288915"/>
          <a:ext cx="11565255" cy="267462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850900"/>
                <a:gridCol w="868680"/>
                <a:gridCol w="748030"/>
                <a:gridCol w="855595"/>
                <a:gridCol w="692777"/>
                <a:gridCol w="839086"/>
                <a:gridCol w="838773"/>
                <a:gridCol w="838772"/>
                <a:gridCol w="838775"/>
                <a:gridCol w="838773"/>
                <a:gridCol w="838773"/>
                <a:gridCol w="838773"/>
                <a:gridCol w="838774"/>
                <a:gridCol w="838774"/>
              </a:tblGrid>
              <a:tr h="42227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业务来源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优惠前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商家折扣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赠品金额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退款前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退款金额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66395">
                <a:tc vMerge="1"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14"/>
            </p:custDataLst>
          </p:nvPr>
        </p:nvSpPr>
        <p:spPr>
          <a:xfrm>
            <a:off x="229959" y="4610106"/>
            <a:ext cx="2990849" cy="3594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日报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目标达成明细表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品类看渠道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5"/>
            </p:custDataLst>
          </p:nvPr>
        </p:nvSpPr>
        <p:spPr>
          <a:xfrm>
            <a:off x="309695" y="12590062"/>
            <a:ext cx="3240499" cy="34180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月报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目标达成明细表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品类看渠道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3" name="圆角矩形 20"/>
          <p:cNvSpPr/>
          <p:nvPr>
            <p:custDataLst>
              <p:tags r:id="rId16"/>
            </p:custDataLst>
          </p:nvPr>
        </p:nvSpPr>
        <p:spPr>
          <a:xfrm>
            <a:off x="325120" y="1711960"/>
            <a:ext cx="11619865" cy="281749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10" name="Rectangle: Rounded Corners 156"/>
          <p:cNvSpPr/>
          <p:nvPr>
            <p:custDataLst>
              <p:tags r:id="rId17"/>
            </p:custDataLst>
          </p:nvPr>
        </p:nvSpPr>
        <p:spPr>
          <a:xfrm>
            <a:off x="330835" y="141605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Rectangle: Rounded Corners 156"/>
          <p:cNvSpPr/>
          <p:nvPr>
            <p:custDataLst>
              <p:tags r:id="rId18"/>
            </p:custDataLst>
          </p:nvPr>
        </p:nvSpPr>
        <p:spPr>
          <a:xfrm>
            <a:off x="1140460" y="141605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Rectangle: Rounded Corners 156"/>
          <p:cNvSpPr/>
          <p:nvPr>
            <p:custDataLst>
              <p:tags r:id="rId19"/>
            </p:custDataLst>
          </p:nvPr>
        </p:nvSpPr>
        <p:spPr>
          <a:xfrm>
            <a:off x="1961515" y="141605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Rectangle: Rounded Corners 156"/>
          <p:cNvSpPr/>
          <p:nvPr>
            <p:custDataLst>
              <p:tags r:id="rId20"/>
            </p:custDataLst>
          </p:nvPr>
        </p:nvSpPr>
        <p:spPr>
          <a:xfrm>
            <a:off x="2782570" y="141605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Rectangle: Rounded Corners 156"/>
          <p:cNvSpPr/>
          <p:nvPr>
            <p:custDataLst>
              <p:tags r:id="rId21"/>
            </p:custDataLst>
          </p:nvPr>
        </p:nvSpPr>
        <p:spPr>
          <a:xfrm>
            <a:off x="3603625" y="141605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Rectangle: Rounded Corners 156"/>
          <p:cNvSpPr/>
          <p:nvPr>
            <p:custDataLst>
              <p:tags r:id="rId22"/>
            </p:custDataLst>
          </p:nvPr>
        </p:nvSpPr>
        <p:spPr>
          <a:xfrm>
            <a:off x="4413885" y="141605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20"/>
          <p:cNvSpPr/>
          <p:nvPr>
            <p:custDataLst>
              <p:tags r:id="rId23"/>
            </p:custDataLst>
          </p:nvPr>
        </p:nvSpPr>
        <p:spPr>
          <a:xfrm>
            <a:off x="277495" y="5231765"/>
            <a:ext cx="11668125" cy="281749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3" name="Rectangle: Rounded Corners 156"/>
          <p:cNvSpPr/>
          <p:nvPr>
            <p:custDataLst>
              <p:tags r:id="rId24"/>
            </p:custDataLst>
          </p:nvPr>
        </p:nvSpPr>
        <p:spPr>
          <a:xfrm>
            <a:off x="278765" y="4935855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: Rounded Corners 156"/>
          <p:cNvSpPr/>
          <p:nvPr>
            <p:custDataLst>
              <p:tags r:id="rId25"/>
            </p:custDataLst>
          </p:nvPr>
        </p:nvSpPr>
        <p:spPr>
          <a:xfrm>
            <a:off x="1088390" y="493585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底妆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: Rounded Corners 156"/>
          <p:cNvSpPr/>
          <p:nvPr>
            <p:custDataLst>
              <p:tags r:id="rId26"/>
            </p:custDataLst>
          </p:nvPr>
        </p:nvSpPr>
        <p:spPr>
          <a:xfrm>
            <a:off x="1909445" y="493585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定妆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: Rounded Corners 156"/>
          <p:cNvSpPr/>
          <p:nvPr>
            <p:custDataLst>
              <p:tags r:id="rId27"/>
            </p:custDataLst>
          </p:nvPr>
        </p:nvSpPr>
        <p:spPr>
          <a:xfrm>
            <a:off x="2730500" y="493585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色彩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: Rounded Corners 156"/>
          <p:cNvSpPr/>
          <p:nvPr>
            <p:custDataLst>
              <p:tags r:id="rId28"/>
            </p:custDataLst>
          </p:nvPr>
        </p:nvSpPr>
        <p:spPr>
          <a:xfrm>
            <a:off x="3551555" y="493585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护肤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: Rounded Corners 156"/>
          <p:cNvSpPr/>
          <p:nvPr>
            <p:custDataLst>
              <p:tags r:id="rId29"/>
            </p:custDataLst>
          </p:nvPr>
        </p:nvSpPr>
        <p:spPr>
          <a:xfrm>
            <a:off x="4361815" y="493585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...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1" name="表格 152"/>
          <p:cNvGraphicFramePr>
            <a:graphicFrameLocks noGrp="1"/>
          </p:cNvGraphicFramePr>
          <p:nvPr>
            <p:custDataLst>
              <p:tags r:id="rId30"/>
            </p:custDataLst>
          </p:nvPr>
        </p:nvGraphicFramePr>
        <p:xfrm>
          <a:off x="389890" y="9631045"/>
          <a:ext cx="11486515" cy="267462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652780"/>
                <a:gridCol w="1664970"/>
                <a:gridCol w="573405"/>
                <a:gridCol w="678180"/>
                <a:gridCol w="680720"/>
                <a:gridCol w="680720"/>
                <a:gridCol w="680085"/>
                <a:gridCol w="680720"/>
                <a:gridCol w="680085"/>
                <a:gridCol w="680720"/>
                <a:gridCol w="679450"/>
                <a:gridCol w="680720"/>
                <a:gridCol w="824230"/>
                <a:gridCol w="824865"/>
                <a:gridCol w="824865"/>
              </a:tblGrid>
              <a:tr h="42227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产品简称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单品名称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优惠前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商家折扣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赠品金额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退款前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退款金额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6639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蜜粉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花西子玉女桃花轻蜜粉-私模版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蜜粉饼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花西子玉女桃花蚕丝蜜粉饼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锁妆喷雾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花西子三花沁养抗氧化定妆喷雾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玉养蜜粉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花西子玉女桃花轻蜜粉-玉养款-香粉盒版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72" name="圆角矩形 20"/>
          <p:cNvSpPr/>
          <p:nvPr>
            <p:custDataLst>
              <p:tags r:id="rId31"/>
            </p:custDataLst>
          </p:nvPr>
        </p:nvSpPr>
        <p:spPr>
          <a:xfrm>
            <a:off x="309880" y="9564370"/>
            <a:ext cx="11619865" cy="281749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73" name="Rectangle: Rounded Corners 156"/>
          <p:cNvSpPr/>
          <p:nvPr>
            <p:custDataLst>
              <p:tags r:id="rId32"/>
            </p:custDataLst>
          </p:nvPr>
        </p:nvSpPr>
        <p:spPr>
          <a:xfrm>
            <a:off x="315595" y="926846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: Rounded Corners 156"/>
          <p:cNvSpPr/>
          <p:nvPr>
            <p:custDataLst>
              <p:tags r:id="rId33"/>
            </p:custDataLst>
          </p:nvPr>
        </p:nvSpPr>
        <p:spPr>
          <a:xfrm>
            <a:off x="1125220" y="926846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Rectangle: Rounded Corners 156"/>
          <p:cNvSpPr/>
          <p:nvPr>
            <p:custDataLst>
              <p:tags r:id="rId34"/>
            </p:custDataLst>
          </p:nvPr>
        </p:nvSpPr>
        <p:spPr>
          <a:xfrm>
            <a:off x="1946275" y="926846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Rectangle: Rounded Corners 156"/>
          <p:cNvSpPr/>
          <p:nvPr>
            <p:custDataLst>
              <p:tags r:id="rId35"/>
            </p:custDataLst>
          </p:nvPr>
        </p:nvSpPr>
        <p:spPr>
          <a:xfrm>
            <a:off x="2767330" y="926846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Rectangle: Rounded Corners 156"/>
          <p:cNvSpPr/>
          <p:nvPr>
            <p:custDataLst>
              <p:tags r:id="rId36"/>
            </p:custDataLst>
          </p:nvPr>
        </p:nvSpPr>
        <p:spPr>
          <a:xfrm>
            <a:off x="3588385" y="926846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Rectangle: Rounded Corners 156"/>
          <p:cNvSpPr/>
          <p:nvPr>
            <p:custDataLst>
              <p:tags r:id="rId37"/>
            </p:custDataLst>
          </p:nvPr>
        </p:nvSpPr>
        <p:spPr>
          <a:xfrm>
            <a:off x="4398645" y="926846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2" name="表格 152"/>
          <p:cNvGraphicFramePr>
            <a:graphicFrameLocks noGrp="1"/>
          </p:cNvGraphicFramePr>
          <p:nvPr>
            <p:custDataLst>
              <p:tags r:id="rId38"/>
            </p:custDataLst>
          </p:nvPr>
        </p:nvGraphicFramePr>
        <p:xfrm>
          <a:off x="358140" y="13264515"/>
          <a:ext cx="11565255" cy="267462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850900"/>
                <a:gridCol w="868680"/>
                <a:gridCol w="748030"/>
                <a:gridCol w="855595"/>
                <a:gridCol w="692777"/>
                <a:gridCol w="839086"/>
                <a:gridCol w="838773"/>
                <a:gridCol w="838772"/>
                <a:gridCol w="838775"/>
                <a:gridCol w="838773"/>
                <a:gridCol w="838773"/>
                <a:gridCol w="838773"/>
                <a:gridCol w="838774"/>
                <a:gridCol w="838774"/>
              </a:tblGrid>
              <a:tr h="42227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业务来源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优惠前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商家折扣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赠品金额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退款前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退款金额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66395">
                <a:tc vMerge="1"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抖音矩阵号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抖音自播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天猫商城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25" name="圆角矩形 20"/>
          <p:cNvSpPr/>
          <p:nvPr>
            <p:custDataLst>
              <p:tags r:id="rId39"/>
            </p:custDataLst>
          </p:nvPr>
        </p:nvSpPr>
        <p:spPr>
          <a:xfrm>
            <a:off x="309880" y="13207365"/>
            <a:ext cx="11668125" cy="281749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26" name="Rectangle: Rounded Corners 156"/>
          <p:cNvSpPr/>
          <p:nvPr>
            <p:custDataLst>
              <p:tags r:id="rId40"/>
            </p:custDataLst>
          </p:nvPr>
        </p:nvSpPr>
        <p:spPr>
          <a:xfrm>
            <a:off x="311150" y="12911455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Rectangle: Rounded Corners 156"/>
          <p:cNvSpPr/>
          <p:nvPr>
            <p:custDataLst>
              <p:tags r:id="rId41"/>
            </p:custDataLst>
          </p:nvPr>
        </p:nvSpPr>
        <p:spPr>
          <a:xfrm>
            <a:off x="1120775" y="1291145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底妆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Rectangle: Rounded Corners 156"/>
          <p:cNvSpPr/>
          <p:nvPr>
            <p:custDataLst>
              <p:tags r:id="rId42"/>
            </p:custDataLst>
          </p:nvPr>
        </p:nvSpPr>
        <p:spPr>
          <a:xfrm>
            <a:off x="1941830" y="1291145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定妆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Rectangle: Rounded Corners 156"/>
          <p:cNvSpPr/>
          <p:nvPr>
            <p:custDataLst>
              <p:tags r:id="rId43"/>
            </p:custDataLst>
          </p:nvPr>
        </p:nvSpPr>
        <p:spPr>
          <a:xfrm>
            <a:off x="2762885" y="1291145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色彩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Rectangle: Rounded Corners 156"/>
          <p:cNvSpPr/>
          <p:nvPr>
            <p:custDataLst>
              <p:tags r:id="rId44"/>
            </p:custDataLst>
          </p:nvPr>
        </p:nvSpPr>
        <p:spPr>
          <a:xfrm>
            <a:off x="3583940" y="1291145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护肤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Rectangle: Rounded Corners 156"/>
          <p:cNvSpPr/>
          <p:nvPr>
            <p:custDataLst>
              <p:tags r:id="rId45"/>
            </p:custDataLst>
          </p:nvPr>
        </p:nvSpPr>
        <p:spPr>
          <a:xfrm>
            <a:off x="4394200" y="1291145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...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4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UNIT_TABLE_BEAUTIFY" val="smartTable{dbf2ef06-3529-43a2-9ed1-1335a20541b0}"/>
  <p:tag name="KSO_WM_BEAUTIFY_FLAG" val=""/>
  <p:tag name="TABLE_ENDDRAG_ORIGIN_RECT" val="846*204"/>
  <p:tag name="TABLE_ENDDRAG_RECT" val="58*740*846*204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UNIT_TABLE_BEAUTIFY" val="smartTable{68ef3b04-4785-42eb-a72e-9bd9859bd295}"/>
  <p:tag name="KSO_WM_BEAUTIFY_FLAG" val=""/>
  <p:tag name="TABLE_ENDDRAG_ORIGIN_RECT" val="845*232"/>
  <p:tag name="TABLE_ENDDRAG_RECT" val="59*982*845*232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UNIT_TABLE_BEAUTIFY" val="smartTable{3543c526-d024-4678-89a7-46610ed0a790}"/>
  <p:tag name="KSO_WM_BEAUTIFY_FLAG" val=""/>
  <p:tag name="TABLE_ENDDRAG_ORIGIN_RECT" val="851*312"/>
  <p:tag name="TABLE_ENDDRAG_RECT" val="60*2522*851*312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UNIT_TABLE_BEAUTIFY" val="smartTable{5ad341e7-dc71-47e7-bc0c-423172018c09}"/>
  <p:tag name="KSO_WM_BEAUTIFY_FLAG" val=""/>
  <p:tag name="TABLE_ENDDRAG_ORIGIN_RECT" val="854*196"/>
  <p:tag name="TABLE_ENDDRAG_RECT" val="58*2269*854*196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UNIT_TABLE_BEAUTIFY" val="smartTable{568b7a28-4b86-4d16-a935-54c792ba1f3d}"/>
  <p:tag name="KSO_WM_BEAUTIFY_FLAG" val=""/>
  <p:tag name="TABLE_ENDDRAG_ORIGIN_RECT" val="409*217"/>
  <p:tag name="TABLE_ENDDRAG_RECT" val="55*1557*409*217"/>
</p:tagLst>
</file>

<file path=ppt/tags/tag155.xml><?xml version="1.0" encoding="utf-8"?>
<p:tagLst xmlns:p="http://schemas.openxmlformats.org/presentationml/2006/main">
  <p:tag name="KSO_WM_UNIT_TABLE_BEAUTIFY" val="smartTable{8208790c-cb4f-4911-90ce-158d59be4343}"/>
  <p:tag name="KSO_WM_BEAUTIFY_FLAG" val=""/>
  <p:tag name="TABLE_ENDDRAG_ORIGIN_RECT" val="434*216"/>
  <p:tag name="TABLE_ENDDRAG_RECT" val="476*1558*434*216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UNIT_TABLE_BEAUTIFY" val="smartTable{8cd61b12-2158-421f-bb5a-b551b7a8bdf4}"/>
  <p:tag name="KSO_WM_BEAUTIFY_FLAG" val=""/>
  <p:tag name="TABLE_ENDDRAG_ORIGIN_RECT" val="851*293"/>
  <p:tag name="TABLE_ENDDRAG_RECT" val="60*2873*851*293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UNIT_TABLE_BEAUTIFY" val="smartTable{dbf2ef06-3529-43a2-9ed1-1335a20541b0}"/>
  <p:tag name="KSO_WM_BEAUTIFY_FLAG" val=""/>
  <p:tag name="TABLE_ENDDRAG_ORIGIN_RECT" val="844*203"/>
  <p:tag name="TABLE_ENDDRAG_RECT" val="59*991*844*203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UNIT_TABLE_BEAUTIFY" val="smartTable{68ef3b04-4785-42eb-a72e-9bd9859bd295}"/>
  <p:tag name="KSO_WM_BEAUTIFY_FLAG" val=""/>
  <p:tag name="TABLE_ENDDRAG_ORIGIN_RECT" val="844*241"/>
  <p:tag name="TABLE_ENDDRAG_RECT" val="60*1231*844*241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UNIT_TABLE_BEAUTIFY" val="smartTable{ad988523-8833-4715-ba31-3c82cd0d989c}"/>
  <p:tag name="KSO_WM_BEAUTIFY_FLAG" val=""/>
  <p:tag name="TABLE_ENDDRAG_ORIGIN_RECT" val="856*330"/>
  <p:tag name="TABLE_ENDDRAG_RECT" val="59*2865*856*330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UNIT_TABLE_BEAUTIFY" val="smartTable{5ad341e7-dc71-47e7-bc0c-423172018c09}"/>
  <p:tag name="KSO_WM_BEAUTIFY_FLAG" val=""/>
  <p:tag name="TABLE_ENDDRAG_ORIGIN_RECT" val="855*228"/>
  <p:tag name="TABLE_ENDDRAG_RECT" val="56*2602*855*228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UNIT_TABLE_BEAUTIFY" val="smartTable{568b7a28-4b86-4d16-a935-54c792ba1f3d}"/>
  <p:tag name="KSO_WM_BEAUTIFY_FLAG" val=""/>
  <p:tag name="TABLE_ENDDRAG_ORIGIN_RECT" val="402*216"/>
  <p:tag name="TABLE_ENDDRAG_RECT" val="58*1829*402*216"/>
</p:tagLst>
</file>

<file path=ppt/tags/tag279.xml><?xml version="1.0" encoding="utf-8"?>
<p:tagLst xmlns:p="http://schemas.openxmlformats.org/presentationml/2006/main">
  <p:tag name="KSO_WM_UNIT_TABLE_BEAUTIFY" val="smartTable{8208790c-cb4f-4911-90ce-158d59be4343}"/>
  <p:tag name="KSO_WM_BEAUTIFY_FLAG" val=""/>
  <p:tag name="TABLE_ENDDRAG_ORIGIN_RECT" val="438*215"/>
  <p:tag name="TABLE_ENDDRAG_RECT" val="473*1830*438*215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UNIT_TABLE_BEAUTIFY" val="smartTable{8cd61b12-2158-421f-bb5a-b551b7a8bdf4}"/>
  <p:tag name="KSO_WM_BEAUTIFY_FLAG" val=""/>
  <p:tag name="TABLE_ENDDRAG_ORIGIN_RECT" val="856*314"/>
  <p:tag name="TABLE_ENDDRAG_RECT" val="59*3248*856*314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38.xml><?xml version="1.0" encoding="utf-8"?>
<p:tagLst xmlns:p="http://schemas.openxmlformats.org/presentationml/2006/main">
  <p:tag name="KSO_WM_UNIT_TABLE_BEAUTIFY" val="smartTable{99a65dbf-4c51-4ecd-8352-7a2c18e42194}"/>
  <p:tag name="KSO_WM_BEAUTIFY_FLAG" val=""/>
  <p:tag name="TABLE_ENDDRAG_ORIGIN_RECT" val="904*210"/>
  <p:tag name="TABLE_ENDDRAG_RECT" val="28*172*904*210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UNIT_TABLE_BEAUTIFY" val="smartTable{dbf2ef06-3529-43a2-9ed1-1335a20541b0}"/>
  <p:tag name="KSO_WM_BEAUTIFY_FLAG" val=""/>
  <p:tag name="TABLE_ENDDRAG_ORIGIN_RECT" val="910*210"/>
  <p:tag name="TABLE_ENDDRAG_RECT" val="22*425*910*210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UNIT_TABLE_BEAUTIFY" val="smartTable{99a65dbf-4c51-4ecd-8352-7a2c18e42194}"/>
  <p:tag name="KSO_WM_BEAUTIFY_FLAG" val=""/>
  <p:tag name="TABLE_ENDDRAG_ORIGIN_RECT" val="904*210"/>
  <p:tag name="TABLE_ENDDRAG_RECT" val="28*172*904*210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UNIT_TABLE_BEAUTIFY" val="smartTable{dbf2ef06-3529-43a2-9ed1-1335a20541b0}"/>
  <p:tag name="KSO_WM_BEAUTIFY_FLAG" val=""/>
  <p:tag name="TABLE_ENDDRAG_ORIGIN_RECT" val="910*210"/>
  <p:tag name="TABLE_ENDDRAG_RECT" val="22*425*910*210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84.xml><?xml version="1.0" encoding="utf-8"?>
<p:tagLst xmlns:p="http://schemas.openxmlformats.org/presentationml/2006/main">
  <p:tag name="COMMONDATA" val="eyJoZGlkIjoiYzY2NTI5NTMwM2Q1MDRiNWRjZWQ0ZDFkZDAzNzU0OTMifQ=="/>
  <p:tag name="KSO_WPP_MARK_KEY" val="d579cc8d-8717-4b42-8b51-267267e266fe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6447</Words>
  <Application>WPS Office WWO_feishu_20230110121033-3971878c96</Application>
  <PresentationFormat>自定义</PresentationFormat>
  <Paragraphs>2364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汉仪旗黑KW 55S</vt:lpstr>
      <vt:lpstr>华文楷体</vt:lpstr>
      <vt:lpstr>仿宋</vt:lpstr>
      <vt:lpstr>汉仪书宋二KW</vt:lpstr>
      <vt:lpstr>汉仪楷体KW</vt:lpstr>
      <vt:lpstr>汉仪仿宋KW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陈炜</dc:creator>
  <cp:lastModifiedBy>炜 陈</cp:lastModifiedBy>
  <dcterms:created xsi:type="dcterms:W3CDTF">2023-07-11T03:52:35Z</dcterms:created>
  <dcterms:modified xsi:type="dcterms:W3CDTF">2023-07-11T03:52:35Z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03C3D65AC0074F09AB6CF3CDED21B01F_13</vt:lpwstr>
  </property>
</Properties>
</file>