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147472073" r:id="rId3"/>
    <p:sldId id="2147472142" r:id="rId4"/>
    <p:sldId id="2147471593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CC8"/>
    <a:srgbClr val="DAF1F0"/>
    <a:srgbClr val="F8F8F8"/>
    <a:srgbClr val="FFFFFF"/>
    <a:srgbClr val="FF6327"/>
    <a:srgbClr val="317186"/>
    <a:srgbClr val="D75823"/>
    <a:srgbClr val="404040"/>
    <a:srgbClr val="DAB992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3" autoAdjust="0"/>
    <p:restoredTop sz="95958" autoAdjust="0"/>
  </p:normalViewPr>
  <p:slideViewPr>
    <p:cSldViewPr snapToGrid="0">
      <p:cViewPr varScale="1">
        <p:scale>
          <a:sx n="82" d="100"/>
          <a:sy n="82" d="100"/>
        </p:scale>
        <p:origin x="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CF7B1-4236-4A0F-AFA5-158464AB56A2}" type="datetimeFigureOut">
              <a:rPr lang="en-GB" smtClean="0"/>
              <a:t>30/05/2023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7623A-399E-4F79-AB8E-03D89FC5AE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2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7623A-399E-4F79-AB8E-03D89FC5AE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76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7623A-399E-4F79-AB8E-03D89FC5AE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912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E5B78-AA02-4560-85F1-72268B7BF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439D36-647F-4F46-A343-7AB620FE3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CBFCC-B00C-4D87-A366-AD862C85D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97870-F811-482C-A3E2-996ECE86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43C84-B20A-4FAC-9972-731EB04C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0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51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9A8FF-C29A-4F2B-A8B5-D17AA199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4993E0-6A96-4ED2-B036-F1E043232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71A06-1346-4A82-BC58-D129DCA6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2CF2C-37C3-4B87-A19A-7841C000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985EE-AFAA-4C8B-ADBB-B60200C6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67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31044-1C0D-49D8-B415-88FAF2910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A92B0-EE15-4445-8DD5-59B35BD02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251C55-346D-45CD-8672-6ADFACA53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A9AD7C-DEA0-4C6F-ADD8-C163F548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F09F49-2C80-438D-BA08-A946F1F9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153B5A-5778-48F3-AC38-EE5EDF09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27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99A6C-2C7C-4907-A8A0-A564F968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3B898-0A54-4BFE-8D26-07A15F750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B8955-63F1-4816-8F67-777E1B72B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47D864-28AB-417B-969A-F3F5D298B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C81ECB-6C0A-438A-8E37-D5E60053B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5794DC-BFCC-4836-8E23-CCD4F0B5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03BCB9-1F97-442B-BBF1-6C94B77B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3C0ECB-CBC0-4ACD-940D-3FCC7744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4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22973-2E85-4DFA-9130-6EF11D65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81" y="403954"/>
            <a:ext cx="11291438" cy="606392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07DCEB-4C8F-4A4A-8EF6-48253630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93659E-89DA-432F-A56F-84FF4D80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C5592C-5069-48C1-A78D-10B6337C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90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F6A697-B0B1-480A-B388-82555605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D5D7E2-ACF5-44E5-86EA-1FA7748B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7C7E7-65FE-449C-9B32-D21D258A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51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AB136-BE30-440D-8E30-C3977ADE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D29BC-84B7-42FD-8F75-6569ACF44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9BD360-AF7E-405D-8169-91F2C7BD2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80335F-AC47-4FD7-8A75-31F0789EDE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54445C-14B8-40A8-A963-9012EAE2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80EF8-B889-42B7-8D4F-0424F2A6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2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DCCA5-D371-4B0B-9662-557B1F76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106533-2C14-4251-86AD-BF0BEAF86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51EB63-9EEB-4A32-9C60-9E6DD7959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762637-EC25-43A1-9D36-C44F5745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265DA2-6AFC-4018-BB25-2F9BFE35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84A678-D111-472E-9B78-E0008F63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84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DD373-C9CE-4CB3-B4C3-21F04DD8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89EDCC-B4D8-451F-BAD0-3DF69F5E5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3C6B8-1F80-4646-8630-A09F4E49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9450FA-0DAF-4B1E-A4E6-DA64DEC0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24A892-0CEB-4D97-A995-B2707EFE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49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7C4D1A-9D0A-4F95-ACB5-58AB7C086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3785ED-9098-413E-BA53-7DC7F4472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4A2B5-53B0-4F70-AABE-9F5DF4F8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7D8B3D-F1C0-4D90-9D78-052AF22922A1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A96CC-8284-45CD-AE1A-66125D97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59DA4D-B831-425D-B1ED-75B2A7D5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EDB53B-DCB2-4178-93DA-A87080CD2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860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, Header and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/Filepath" hidden="1"/>
          <p:cNvSpPr txBox="1"/>
          <p:nvPr userDrawn="1">
            <p:custDataLst>
              <p:tags r:id="rId1"/>
            </p:custDataLst>
          </p:nvPr>
        </p:nvSpPr>
        <p:spPr>
          <a:xfrm>
            <a:off x="3999351" y="267427"/>
            <a:ext cx="7536873" cy="1222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altLang="zh-CN" sz="794" noProof="1"/>
              <a:t>9/26/2022 C:\Users\Rose Y Wu\Documents\BD\</a:t>
            </a:r>
            <a:r>
              <a:rPr lang="zh-TW" altLang="en-US" sz="794" noProof="1"/>
              <a:t>花西子</a:t>
            </a:r>
            <a:r>
              <a:rPr lang="en-US" altLang="zh-TW" sz="794" noProof="1"/>
              <a:t>\</a:t>
            </a:r>
            <a:r>
              <a:rPr lang="zh-TW" altLang="en-US" sz="794" noProof="1"/>
              <a:t>花西子业财一体化项目</a:t>
            </a:r>
            <a:r>
              <a:rPr lang="en-US" altLang="zh-TW" sz="794" noProof="1"/>
              <a:t>_</a:t>
            </a:r>
            <a:r>
              <a:rPr lang="zh-TW" altLang="en-US" sz="794" noProof="1"/>
              <a:t>建议方案</a:t>
            </a:r>
            <a:r>
              <a:rPr lang="en-US" altLang="zh-TW" sz="794" noProof="1"/>
              <a:t>_</a:t>
            </a:r>
            <a:r>
              <a:rPr lang="en-GB" altLang="zh-CN" sz="794" noProof="1"/>
              <a:t>v1.0.pptx</a:t>
            </a:r>
            <a:endParaRPr lang="en-GB" sz="794" noProof="1"/>
          </a:p>
        </p:txBody>
      </p:sp>
      <p:sp>
        <p:nvSpPr>
          <p:cNvPr id="17" name="Slide Tags" hidden="1"/>
          <p:cNvSpPr txBox="1"/>
          <p:nvPr userDrawn="1">
            <p:custDataLst>
              <p:tags r:id="rId2"/>
            </p:custDataLst>
          </p:nvPr>
        </p:nvSpPr>
        <p:spPr>
          <a:xfrm>
            <a:off x="0" y="201706"/>
            <a:ext cx="1939637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1" noProof="1"/>
              <a:t>Slide Tags</a:t>
            </a:r>
          </a:p>
        </p:txBody>
      </p:sp>
      <p:sp>
        <p:nvSpPr>
          <p:cNvPr id="37" name="HeaderTOCPlaceholder"/>
          <p:cNvSpPr txBox="1"/>
          <p:nvPr userDrawn="1">
            <p:custDataLst>
              <p:tags r:id="rId3"/>
            </p:custDataLst>
          </p:nvPr>
        </p:nvSpPr>
        <p:spPr>
          <a:xfrm>
            <a:off x="4341091" y="621255"/>
            <a:ext cx="7199290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endParaRPr lang="en-GB" sz="794" noProof="1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9" name="Section Header"/>
          <p:cNvSpPr txBox="1"/>
          <p:nvPr userDrawn="1">
            <p:custDataLst>
              <p:tags r:id="rId4"/>
            </p:custDataLst>
          </p:nvPr>
        </p:nvSpPr>
        <p:spPr>
          <a:xfrm>
            <a:off x="590911" y="621254"/>
            <a:ext cx="3695552" cy="121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endParaRPr lang="en-GB" sz="794" noProof="1">
              <a:solidFill>
                <a:schemeClr val="tx1"/>
              </a:solidFill>
            </a:endParaRPr>
          </a:p>
        </p:txBody>
      </p:sp>
      <p:cxnSp>
        <p:nvCxnSpPr>
          <p:cNvPr id="40" name="Frame Line"/>
          <p:cNvCxnSpPr/>
          <p:nvPr userDrawn="1"/>
        </p:nvCxnSpPr>
        <p:spPr>
          <a:xfrm flipV="1">
            <a:off x="461818" y="823408"/>
            <a:ext cx="11083639" cy="127059"/>
          </a:xfrm>
          <a:prstGeom prst="bentConnector3">
            <a:avLst>
              <a:gd name="adj1" fmla="val 0"/>
            </a:avLst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Banner Statement"/>
          <p:cNvSpPr>
            <a:spLocks noGrp="1"/>
          </p:cNvSpPr>
          <p:nvPr>
            <p:ph type="title" hasCustomPrompt="1"/>
          </p:nvPr>
        </p:nvSpPr>
        <p:spPr>
          <a:xfrm>
            <a:off x="590911" y="943984"/>
            <a:ext cx="10948595" cy="743294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899010" rtl="0" eaLnBrk="1" latinLnBrk="0" hangingPunct="1">
              <a:spcBef>
                <a:spcPct val="0"/>
              </a:spcBef>
              <a:buNone/>
              <a:defRPr lang="en-GB" sz="1941" b="1" i="1" kern="1200" baseline="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899010" rtl="0" eaLnBrk="1" latinLnBrk="0" hangingPunct="1">
              <a:spcBef>
                <a:spcPct val="0"/>
              </a:spcBef>
              <a:buNone/>
            </a:pPr>
            <a:r>
              <a:rPr lang="en-GB" noProof="0" dirty="0"/>
              <a:t>Insert banner statement here</a:t>
            </a:r>
            <a:endParaRPr lang="en-GB" dirty="0"/>
          </a:p>
        </p:txBody>
      </p:sp>
      <p:sp>
        <p:nvSpPr>
          <p:cNvPr id="15" name="Page Number"/>
          <p:cNvSpPr txBox="1"/>
          <p:nvPr userDrawn="1">
            <p:custDataLst>
              <p:tags r:id="rId5"/>
            </p:custDataLst>
          </p:nvPr>
        </p:nvSpPr>
        <p:spPr>
          <a:xfrm>
            <a:off x="11151579" y="6308261"/>
            <a:ext cx="387927" cy="122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r"/>
            <a:endParaRPr lang="en-GB" sz="794" noProof="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590911" y="6252882"/>
            <a:ext cx="10948595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ction Footer"/>
          <p:cNvSpPr txBox="1"/>
          <p:nvPr userDrawn="1">
            <p:custDataLst>
              <p:tags r:id="rId6"/>
            </p:custDataLst>
          </p:nvPr>
        </p:nvSpPr>
        <p:spPr>
          <a:xfrm>
            <a:off x="589520" y="6308253"/>
            <a:ext cx="2557631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endParaRPr lang="en-GB" sz="794" noProof="1">
              <a:solidFill>
                <a:schemeClr val="tx1"/>
              </a:solidFill>
            </a:endParaRPr>
          </a:p>
        </p:txBody>
      </p:sp>
      <p:sp>
        <p:nvSpPr>
          <p:cNvPr id="23" name="Presentation Disclaimer"/>
          <p:cNvSpPr txBox="1"/>
          <p:nvPr userDrawn="1">
            <p:custDataLst>
              <p:tags r:id="rId7"/>
            </p:custDataLst>
          </p:nvPr>
        </p:nvSpPr>
        <p:spPr>
          <a:xfrm>
            <a:off x="4344787" y="6308261"/>
            <a:ext cx="410369" cy="1222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zh-CN" altLang="en-GB" sz="794" noProof="1"/>
              <a:t>严格保密</a:t>
            </a:r>
            <a:endParaRPr lang="en-GB" sz="794" noProof="1"/>
          </a:p>
        </p:txBody>
      </p:sp>
      <p:sp>
        <p:nvSpPr>
          <p:cNvPr id="24" name="Draft stamp" hidden="1"/>
          <p:cNvSpPr txBox="1"/>
          <p:nvPr userDrawn="1">
            <p:custDataLst>
              <p:tags r:id="rId8"/>
            </p:custDataLst>
          </p:nvPr>
        </p:nvSpPr>
        <p:spPr>
          <a:xfrm>
            <a:off x="4344786" y="6439538"/>
            <a:ext cx="1879899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794" noProof="1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53417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"/>
          <p:cNvSpPr>
            <a:spLocks noGrp="1"/>
          </p:cNvSpPr>
          <p:nvPr>
            <p:ph sz="quarter" idx="24"/>
            <p:custDataLst>
              <p:tags r:id="rId1"/>
            </p:custDataLst>
          </p:nvPr>
        </p:nvSpPr>
        <p:spPr>
          <a:xfrm>
            <a:off x="590911" y="1815353"/>
            <a:ext cx="10948595" cy="4308438"/>
          </a:xfrm>
        </p:spPr>
        <p:txBody>
          <a:bodyPr tIns="0" bIns="0"/>
          <a:lstStyle>
            <a:lvl1pPr>
              <a:defRPr sz="1412"/>
            </a:lvl1pPr>
            <a:lvl2pPr>
              <a:defRPr sz="1412"/>
            </a:lvl2pPr>
            <a:lvl3pPr>
              <a:defRPr sz="1412"/>
            </a:lvl3pPr>
            <a:lvl4pPr>
              <a:defRPr sz="1412"/>
            </a:lvl4pPr>
            <a:lvl5pPr>
              <a:defRPr sz="1412"/>
            </a:lvl5pPr>
            <a:lvl6pPr>
              <a:defRPr sz="1412" baseline="0"/>
            </a:lvl6pPr>
            <a:lvl7pPr>
              <a:buAutoNum type="alphaLcPeriod"/>
              <a:defRPr sz="1412"/>
            </a:lvl7pPr>
            <a:lvl8pPr>
              <a:buAutoNum type="romanLcPeriod"/>
              <a:defRPr sz="1412"/>
            </a:lvl8pPr>
            <a:lvl9pPr>
              <a:defRPr sz="1412"/>
            </a:lvl9pPr>
          </a:lstStyle>
          <a:p>
            <a:pPr lvl="0"/>
            <a:r>
              <a:rPr lang="en-GB" noProof="0" dirty="0"/>
              <a:t>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1" name="Date/Filepath" hidden="1"/>
          <p:cNvSpPr txBox="1"/>
          <p:nvPr userDrawn="1">
            <p:custDataLst>
              <p:tags r:id="rId2"/>
            </p:custDataLst>
          </p:nvPr>
        </p:nvSpPr>
        <p:spPr>
          <a:xfrm>
            <a:off x="3999351" y="267427"/>
            <a:ext cx="7536873" cy="1222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US" altLang="zh-CN" sz="794" noProof="1"/>
              <a:t>10/10/2022 C:\Users\Leo YX Liu\Documents\WeChat Files\xinchangmhxy\FileStorage\File\2022-10\</a:t>
            </a:r>
            <a:r>
              <a:rPr lang="zh-CN" altLang="en-US" sz="794" noProof="1"/>
              <a:t>安克创新</a:t>
            </a:r>
            <a:r>
              <a:rPr lang="en-US" altLang="zh-CN" sz="794" noProof="1"/>
              <a:t>IDS</a:t>
            </a:r>
            <a:r>
              <a:rPr lang="zh-CN" altLang="en-US" sz="794" noProof="1"/>
              <a:t>项目</a:t>
            </a:r>
            <a:r>
              <a:rPr lang="en-US" altLang="zh-CN" sz="794" noProof="1"/>
              <a:t>_</a:t>
            </a:r>
            <a:r>
              <a:rPr lang="zh-CN" altLang="en-US" sz="794" noProof="1"/>
              <a:t>董事会汇报</a:t>
            </a:r>
            <a:r>
              <a:rPr lang="en-US" altLang="zh-CN" sz="794" noProof="1"/>
              <a:t>_v0.1.pptx</a:t>
            </a:r>
            <a:endParaRPr lang="en-GB" sz="794" noProof="1"/>
          </a:p>
        </p:txBody>
      </p:sp>
      <p:sp>
        <p:nvSpPr>
          <p:cNvPr id="19" name="Slide Tags" hidden="1"/>
          <p:cNvSpPr txBox="1"/>
          <p:nvPr userDrawn="1">
            <p:custDataLst>
              <p:tags r:id="rId3"/>
            </p:custDataLst>
          </p:nvPr>
        </p:nvSpPr>
        <p:spPr>
          <a:xfrm>
            <a:off x="0" y="201706"/>
            <a:ext cx="1939637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1" noProof="1"/>
              <a:t>Slide Tags</a:t>
            </a:r>
          </a:p>
        </p:txBody>
      </p:sp>
      <p:sp>
        <p:nvSpPr>
          <p:cNvPr id="30" name="HeaderTOCPlaceholder"/>
          <p:cNvSpPr txBox="1"/>
          <p:nvPr userDrawn="1">
            <p:custDataLst>
              <p:tags r:id="rId4"/>
            </p:custDataLst>
          </p:nvPr>
        </p:nvSpPr>
        <p:spPr>
          <a:xfrm>
            <a:off x="4341091" y="621255"/>
            <a:ext cx="7199290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endParaRPr lang="en-GB" sz="794" noProof="1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2" name="Section Header"/>
          <p:cNvSpPr txBox="1"/>
          <p:nvPr userDrawn="1">
            <p:custDataLst>
              <p:tags r:id="rId5"/>
            </p:custDataLst>
          </p:nvPr>
        </p:nvSpPr>
        <p:spPr>
          <a:xfrm>
            <a:off x="590911" y="621254"/>
            <a:ext cx="3695552" cy="121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endParaRPr lang="en-GB" sz="794" noProof="1">
              <a:solidFill>
                <a:schemeClr val="tx1"/>
              </a:solidFill>
            </a:endParaRPr>
          </a:p>
        </p:txBody>
      </p:sp>
      <p:cxnSp>
        <p:nvCxnSpPr>
          <p:cNvPr id="33" name="Frame Line"/>
          <p:cNvCxnSpPr/>
          <p:nvPr userDrawn="1"/>
        </p:nvCxnSpPr>
        <p:spPr>
          <a:xfrm flipV="1">
            <a:off x="461818" y="823408"/>
            <a:ext cx="11083639" cy="127059"/>
          </a:xfrm>
          <a:prstGeom prst="bentConnector3">
            <a:avLst>
              <a:gd name="adj1" fmla="val 0"/>
            </a:avLst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Banner Statement"/>
          <p:cNvSpPr>
            <a:spLocks noGrp="1"/>
          </p:cNvSpPr>
          <p:nvPr>
            <p:ph type="title" hasCustomPrompt="1"/>
          </p:nvPr>
        </p:nvSpPr>
        <p:spPr>
          <a:xfrm>
            <a:off x="590911" y="943984"/>
            <a:ext cx="10948595" cy="743294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899010" rtl="0" eaLnBrk="1" latinLnBrk="0" hangingPunct="1">
              <a:spcBef>
                <a:spcPct val="0"/>
              </a:spcBef>
              <a:buNone/>
              <a:defRPr lang="en-GB" sz="1941" b="1" i="1" kern="1200" baseline="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899010" rtl="0" eaLnBrk="1" latinLnBrk="0" hangingPunct="1">
              <a:spcBef>
                <a:spcPct val="0"/>
              </a:spcBef>
              <a:buNone/>
            </a:pPr>
            <a:r>
              <a:rPr lang="en-GB" noProof="0" dirty="0"/>
              <a:t>Insert banner statement here</a:t>
            </a:r>
            <a:endParaRPr lang="en-GB" dirty="0"/>
          </a:p>
        </p:txBody>
      </p:sp>
      <p:sp>
        <p:nvSpPr>
          <p:cNvPr id="38" name="Page Number"/>
          <p:cNvSpPr txBox="1"/>
          <p:nvPr userDrawn="1">
            <p:custDataLst>
              <p:tags r:id="rId6"/>
            </p:custDataLst>
          </p:nvPr>
        </p:nvSpPr>
        <p:spPr>
          <a:xfrm>
            <a:off x="11151579" y="6308261"/>
            <a:ext cx="387927" cy="122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r"/>
            <a:endParaRPr lang="en-GB" sz="794" noProof="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39" name="Straight Connector 38"/>
          <p:cNvCxnSpPr/>
          <p:nvPr userDrawn="1"/>
        </p:nvCxnSpPr>
        <p:spPr>
          <a:xfrm>
            <a:off x="590911" y="6252882"/>
            <a:ext cx="10948595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age Number"/>
          <p:cNvSpPr txBox="1"/>
          <p:nvPr userDrawn="1">
            <p:custDataLst>
              <p:tags r:id="rId7"/>
            </p:custDataLst>
          </p:nvPr>
        </p:nvSpPr>
        <p:spPr>
          <a:xfrm>
            <a:off x="8555541" y="5717943"/>
            <a:ext cx="282388" cy="1210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ts val="882"/>
              </a:lnSpc>
            </a:pPr>
            <a:endParaRPr lang="en-GB" sz="794" noProof="1"/>
          </a:p>
        </p:txBody>
      </p:sp>
      <p:sp>
        <p:nvSpPr>
          <p:cNvPr id="22" name="Section Footer"/>
          <p:cNvSpPr txBox="1"/>
          <p:nvPr userDrawn="1">
            <p:custDataLst>
              <p:tags r:id="rId8"/>
            </p:custDataLst>
          </p:nvPr>
        </p:nvSpPr>
        <p:spPr>
          <a:xfrm>
            <a:off x="589520" y="6308253"/>
            <a:ext cx="2557631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endParaRPr lang="en-GB" sz="794" noProof="1">
              <a:solidFill>
                <a:schemeClr val="tx1"/>
              </a:solidFill>
            </a:endParaRPr>
          </a:p>
        </p:txBody>
      </p:sp>
      <p:sp>
        <p:nvSpPr>
          <p:cNvPr id="24" name="Presentation Disclaimer"/>
          <p:cNvSpPr txBox="1"/>
          <p:nvPr userDrawn="1">
            <p:custDataLst>
              <p:tags r:id="rId9"/>
            </p:custDataLst>
          </p:nvPr>
        </p:nvSpPr>
        <p:spPr>
          <a:xfrm>
            <a:off x="4344787" y="6308261"/>
            <a:ext cx="410369" cy="1222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zh-CN" altLang="en-GB" sz="794" noProof="1"/>
              <a:t>严格保密</a:t>
            </a:r>
            <a:endParaRPr lang="en-GB" sz="794" noProof="1"/>
          </a:p>
        </p:txBody>
      </p:sp>
      <p:sp>
        <p:nvSpPr>
          <p:cNvPr id="25" name="Draft stamp" hidden="1"/>
          <p:cNvSpPr txBox="1"/>
          <p:nvPr userDrawn="1">
            <p:custDataLst>
              <p:tags r:id="rId10"/>
            </p:custDataLst>
          </p:nvPr>
        </p:nvSpPr>
        <p:spPr>
          <a:xfrm>
            <a:off x="4344786" y="6439538"/>
            <a:ext cx="1879899" cy="12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794" noProof="1"/>
              <a:t>Draft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75647F-F078-4E41-8B6F-331DA3E37644}"/>
              </a:ext>
            </a:extLst>
          </p:cNvPr>
          <p:cNvSpPr/>
          <p:nvPr userDrawn="1"/>
        </p:nvSpPr>
        <p:spPr>
          <a:xfrm>
            <a:off x="-414617" y="539589"/>
            <a:ext cx="292372" cy="194621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588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93EBCA-FE7A-4463-ABF1-1250B88FCE30}"/>
              </a:ext>
            </a:extLst>
          </p:cNvPr>
          <p:cNvSpPr/>
          <p:nvPr userDrawn="1"/>
        </p:nvSpPr>
        <p:spPr>
          <a:xfrm>
            <a:off x="-414617" y="840919"/>
            <a:ext cx="292372" cy="194621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588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DBB69-0CB6-4ADA-A9C8-0BEACEB68955}"/>
              </a:ext>
            </a:extLst>
          </p:cNvPr>
          <p:cNvSpPr/>
          <p:nvPr userDrawn="1"/>
        </p:nvSpPr>
        <p:spPr>
          <a:xfrm>
            <a:off x="-414617" y="1121010"/>
            <a:ext cx="292372" cy="194621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588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26E8F9-7C1E-4829-94DD-0965F0AC897A}"/>
              </a:ext>
            </a:extLst>
          </p:cNvPr>
          <p:cNvSpPr/>
          <p:nvPr userDrawn="1"/>
        </p:nvSpPr>
        <p:spPr>
          <a:xfrm>
            <a:off x="-414617" y="1443580"/>
            <a:ext cx="292372" cy="19462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588" dirty="0"/>
          </a:p>
        </p:txBody>
      </p:sp>
    </p:spTree>
    <p:extLst>
      <p:ext uri="{BB962C8B-B14F-4D97-AF65-F5344CB8AC3E}">
        <p14:creationId xmlns:p14="http://schemas.microsoft.com/office/powerpoint/2010/main" val="316251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A02DB07-3954-4754-9995-E0ECB0DBD7AE}"/>
              </a:ext>
            </a:extLst>
          </p:cNvPr>
          <p:cNvGrpSpPr/>
          <p:nvPr userDrawn="1"/>
        </p:nvGrpSpPr>
        <p:grpSpPr>
          <a:xfrm>
            <a:off x="12296087" y="-406"/>
            <a:ext cx="3308983" cy="4032825"/>
            <a:chOff x="1132386" y="1271451"/>
            <a:chExt cx="3308983" cy="403282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003933-25FC-4141-AFA3-41E3E9B7E2F2}"/>
                </a:ext>
              </a:extLst>
            </p:cNvPr>
            <p:cNvSpPr txBox="1"/>
            <p:nvPr/>
          </p:nvSpPr>
          <p:spPr>
            <a:xfrm>
              <a:off x="1184364" y="1271451"/>
              <a:ext cx="32570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华文楷体" panose="02010600040101010101" pitchFamily="2" charset="-122"/>
                  <a:ea typeface="华文楷体" panose="02010600040101010101" pitchFamily="2" charset="-122"/>
                </a:defRPr>
              </a:lvl1pPr>
            </a:lstStyle>
            <a:p>
              <a:r>
                <a:rPr lang="zh-CN" altLang="en-US" sz="2400" dirty="0"/>
                <a:t>标题：字号</a:t>
              </a:r>
              <a:r>
                <a:rPr lang="en-GB" altLang="zh-CN" sz="2400" dirty="0"/>
                <a:t>24</a:t>
              </a:r>
              <a:endParaRPr lang="en-GB" sz="2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25EAE-BA74-4E39-B12B-3BF886CBB4C1}"/>
                </a:ext>
              </a:extLst>
            </p:cNvPr>
            <p:cNvSpPr txBox="1"/>
            <p:nvPr/>
          </p:nvSpPr>
          <p:spPr>
            <a:xfrm>
              <a:off x="1184364" y="1733116"/>
              <a:ext cx="23513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副标题：字号</a:t>
              </a:r>
              <a:r>
                <a:rPr lang="en-GB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16</a:t>
              </a:r>
              <a:endParaRPr lang="en-GB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25339E-F585-4A7E-A3C9-C2E9D057C96A}"/>
                </a:ext>
              </a:extLst>
            </p:cNvPr>
            <p:cNvSpPr txBox="1"/>
            <p:nvPr/>
          </p:nvSpPr>
          <p:spPr>
            <a:xfrm>
              <a:off x="1184364" y="2102448"/>
              <a:ext cx="23513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正文：字号</a:t>
              </a:r>
              <a:r>
                <a:rPr lang="en-GB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14</a:t>
              </a:r>
            </a:p>
            <a:p>
              <a:endParaRPr lang="en-GB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字体：</a:t>
              </a:r>
              <a:endParaRPr lang="en-GB" altLang="zh-CN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中：华文楷体</a:t>
              </a:r>
              <a:endParaRPr lang="en-GB" altLang="zh-CN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英</a:t>
              </a:r>
              <a:r>
                <a:rPr lang="en-GB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&amp;</a:t>
              </a:r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阿拉伯：华文楷体</a:t>
              </a:r>
              <a:endParaRPr lang="en-GB" altLang="zh-CN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en-GB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627A95C-34B9-4CD6-AD4C-F36D074C6A90}"/>
                </a:ext>
              </a:extLst>
            </p:cNvPr>
            <p:cNvSpPr/>
            <p:nvPr/>
          </p:nvSpPr>
          <p:spPr>
            <a:xfrm>
              <a:off x="1280160" y="3702886"/>
              <a:ext cx="574039" cy="223954"/>
            </a:xfrm>
            <a:prstGeom prst="rect">
              <a:avLst/>
            </a:prstGeom>
            <a:solidFill>
              <a:srgbClr val="063B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#063B49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40CAC95-2830-425C-8405-217ACAF579B5}"/>
                </a:ext>
              </a:extLst>
            </p:cNvPr>
            <p:cNvSpPr/>
            <p:nvPr/>
          </p:nvSpPr>
          <p:spPr>
            <a:xfrm>
              <a:off x="2120900" y="3702886"/>
              <a:ext cx="574039" cy="223954"/>
            </a:xfrm>
            <a:prstGeom prst="rect">
              <a:avLst/>
            </a:prstGeom>
            <a:solidFill>
              <a:srgbClr val="D758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#D75824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F425C85-A9BB-4F47-8506-245E25CFCAA3}"/>
                </a:ext>
              </a:extLst>
            </p:cNvPr>
            <p:cNvSpPr/>
            <p:nvPr/>
          </p:nvSpPr>
          <p:spPr>
            <a:xfrm>
              <a:off x="2961640" y="3702886"/>
              <a:ext cx="574039" cy="223954"/>
            </a:xfrm>
            <a:prstGeom prst="rect">
              <a:avLst/>
            </a:prstGeom>
            <a:solidFill>
              <a:srgbClr val="FAD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#FAD2A0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6E69C08-5B39-4986-A986-581975CC934B}"/>
                </a:ext>
              </a:extLst>
            </p:cNvPr>
            <p:cNvSpPr/>
            <p:nvPr/>
          </p:nvSpPr>
          <p:spPr>
            <a:xfrm>
              <a:off x="1280160" y="4430952"/>
              <a:ext cx="574039" cy="223954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#000100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64E34C-1C71-4305-AF8F-D6982DDCCC89}"/>
                </a:ext>
              </a:extLst>
            </p:cNvPr>
            <p:cNvSpPr/>
            <p:nvPr/>
          </p:nvSpPr>
          <p:spPr>
            <a:xfrm>
              <a:off x="1280160" y="4755637"/>
              <a:ext cx="574039" cy="223954"/>
            </a:xfrm>
            <a:prstGeom prst="rect">
              <a:avLst/>
            </a:prstGeom>
            <a:solidFill>
              <a:srgbClr val="3271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#327187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CCB5C5C-F30C-4682-B184-6C37F7269492}"/>
                </a:ext>
              </a:extLst>
            </p:cNvPr>
            <p:cNvSpPr/>
            <p:nvPr/>
          </p:nvSpPr>
          <p:spPr>
            <a:xfrm>
              <a:off x="1280160" y="5080322"/>
              <a:ext cx="574039" cy="223954"/>
            </a:xfrm>
            <a:prstGeom prst="rect">
              <a:avLst/>
            </a:prstGeom>
            <a:solidFill>
              <a:srgbClr val="48B8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#48B8B3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0D8B52C-3710-4D98-A47C-4F2DC20CF3A5}"/>
                </a:ext>
              </a:extLst>
            </p:cNvPr>
            <p:cNvSpPr/>
            <p:nvPr/>
          </p:nvSpPr>
          <p:spPr>
            <a:xfrm>
              <a:off x="2120900" y="4430952"/>
              <a:ext cx="574039" cy="223954"/>
            </a:xfrm>
            <a:prstGeom prst="rect">
              <a:avLst/>
            </a:prstGeom>
            <a:solidFill>
              <a:srgbClr val="D9B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/>
                <a:t>#D9B992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80996B2-6A10-4C40-A915-CB63387164F7}"/>
                </a:ext>
              </a:extLst>
            </p:cNvPr>
            <p:cNvSpPr txBox="1"/>
            <p:nvPr/>
          </p:nvSpPr>
          <p:spPr>
            <a:xfrm>
              <a:off x="1132387" y="3373155"/>
              <a:ext cx="135990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主色系：</a:t>
              </a:r>
              <a:endParaRPr lang="en-GB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7C2F63-1E60-4ECB-9C77-F1D2BCD9092A}"/>
                </a:ext>
              </a:extLst>
            </p:cNvPr>
            <p:cNvSpPr txBox="1"/>
            <p:nvPr/>
          </p:nvSpPr>
          <p:spPr>
            <a:xfrm>
              <a:off x="1132386" y="4032419"/>
              <a:ext cx="18292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主色系辅助色系：</a:t>
              </a:r>
              <a:endParaRPr lang="en-GB" sz="14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24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D83E75-5669-4F64-BD94-CBF139592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3C54AED-B71F-4D2D-BF0A-75584326D6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AD2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宜格集团</a:t>
            </a:r>
            <a:endParaRPr lang="en-GB" dirty="0">
              <a:solidFill>
                <a:srgbClr val="FAD2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4883302-FB40-42D8-AE60-9EF0A84E8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200" dirty="0">
                <a:solidFill>
                  <a:srgbClr val="FAD2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业财系统与达人系统的交互</a:t>
            </a:r>
            <a:endParaRPr lang="en-US" altLang="zh-CN" sz="3200" dirty="0">
              <a:solidFill>
                <a:srgbClr val="FAD2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37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圆角矩形 48">
            <a:extLst>
              <a:ext uri="{FF2B5EF4-FFF2-40B4-BE49-F238E27FC236}">
                <a16:creationId xmlns:a16="http://schemas.microsoft.com/office/drawing/2014/main" id="{A6667AB2-AA30-E24C-B72E-5629ACDBB64A}"/>
              </a:ext>
            </a:extLst>
          </p:cNvPr>
          <p:cNvSpPr/>
          <p:nvPr/>
        </p:nvSpPr>
        <p:spPr>
          <a:xfrm>
            <a:off x="2333739" y="2470417"/>
            <a:ext cx="7400761" cy="289567"/>
          </a:xfrm>
          <a:prstGeom prst="roundRect">
            <a:avLst/>
          </a:prstGeom>
          <a:solidFill>
            <a:srgbClr val="DAB992">
              <a:alpha val="50000"/>
            </a:srgb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l"/>
            <a:endParaRPr kumimoji="1"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71417633-00FB-8D4A-A0B6-E56414E04659}"/>
              </a:ext>
            </a:extLst>
          </p:cNvPr>
          <p:cNvCxnSpPr>
            <a:cxnSpLocks/>
          </p:cNvCxnSpPr>
          <p:nvPr/>
        </p:nvCxnSpPr>
        <p:spPr>
          <a:xfrm>
            <a:off x="1197978" y="1641869"/>
            <a:ext cx="1061974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454363B-FAD3-4336-87FE-8B32A68C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81" y="318777"/>
            <a:ext cx="11291438" cy="606392"/>
          </a:xfrm>
        </p:spPr>
        <p:txBody>
          <a:bodyPr anchor="ctr"/>
          <a:lstStyle/>
          <a:p>
            <a:r>
              <a:rPr lang="zh-CN" altLang="en-US" dirty="0">
                <a:latin typeface="+mn-ea"/>
                <a:ea typeface="+mn-ea"/>
              </a:rPr>
              <a:t>营销计划方案</a:t>
            </a:r>
            <a:endParaRPr lang="en-GB" dirty="0"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E69FFC-D6D3-7C4F-B316-F8A8C940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266" y="4104250"/>
            <a:ext cx="2533553" cy="3458078"/>
          </a:xfrm>
          <a:prstGeom prst="rect">
            <a:avLst/>
          </a:prstGeom>
        </p:spPr>
      </p:pic>
      <p:sp>
        <p:nvSpPr>
          <p:cNvPr id="6" name="Oval 65">
            <a:extLst>
              <a:ext uri="{FF2B5EF4-FFF2-40B4-BE49-F238E27FC236}">
                <a16:creationId xmlns:a16="http://schemas.microsoft.com/office/drawing/2014/main" id="{063A4465-69C2-6C44-A0F3-359FF2A40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692" y="1395502"/>
            <a:ext cx="563563" cy="517525"/>
          </a:xfrm>
          <a:prstGeom prst="ellipse">
            <a:avLst/>
          </a:prstGeom>
          <a:noFill/>
          <a:ln w="17463" cap="flat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ea"/>
            </a:endParaRPr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7007BE6A-5821-114C-809C-1225B9FEAE3A}"/>
              </a:ext>
            </a:extLst>
          </p:cNvPr>
          <p:cNvGrpSpPr/>
          <p:nvPr/>
        </p:nvGrpSpPr>
        <p:grpSpPr>
          <a:xfrm>
            <a:off x="1882692" y="1395502"/>
            <a:ext cx="563563" cy="517525"/>
            <a:chOff x="1882692" y="1538896"/>
            <a:chExt cx="563563" cy="517525"/>
          </a:xfrm>
          <a:solidFill>
            <a:srgbClr val="7F7F7F"/>
          </a:solidFill>
        </p:grpSpPr>
        <p:sp>
          <p:nvSpPr>
            <p:cNvPr id="5" name="Oval 64">
              <a:extLst>
                <a:ext uri="{FF2B5EF4-FFF2-40B4-BE49-F238E27FC236}">
                  <a16:creationId xmlns:a16="http://schemas.microsoft.com/office/drawing/2014/main" id="{FF89DB49-FE35-544D-AC9E-87FF3D9E0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92" y="1538896"/>
              <a:ext cx="563563" cy="517525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e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7E353F-B28E-9B41-A62D-445E5B0725AD}"/>
                </a:ext>
              </a:extLst>
            </p:cNvPr>
            <p:cNvGrpSpPr/>
            <p:nvPr/>
          </p:nvGrpSpPr>
          <p:grpSpPr>
            <a:xfrm>
              <a:off x="1960610" y="1601805"/>
              <a:ext cx="423863" cy="333375"/>
              <a:chOff x="1911971" y="3055805"/>
              <a:chExt cx="423863" cy="333375"/>
            </a:xfrm>
            <a:grpFill/>
          </p:grpSpPr>
          <p:sp>
            <p:nvSpPr>
              <p:cNvPr id="8" name="Freeform 72">
                <a:extLst>
                  <a:ext uri="{FF2B5EF4-FFF2-40B4-BE49-F238E27FC236}">
                    <a16:creationId xmlns:a16="http://schemas.microsoft.com/office/drawing/2014/main" id="{30A3BD90-7C10-C142-948E-9BB6400EE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971" y="3055805"/>
                <a:ext cx="423863" cy="333375"/>
              </a:xfrm>
              <a:custGeom>
                <a:avLst/>
                <a:gdLst>
                  <a:gd name="T0" fmla="*/ 42 w 267"/>
                  <a:gd name="T1" fmla="*/ 210 h 210"/>
                  <a:gd name="T2" fmla="*/ 10 w 267"/>
                  <a:gd name="T3" fmla="*/ 165 h 210"/>
                  <a:gd name="T4" fmla="*/ 3 w 267"/>
                  <a:gd name="T5" fmla="*/ 113 h 210"/>
                  <a:gd name="T6" fmla="*/ 66 w 267"/>
                  <a:gd name="T7" fmla="*/ 22 h 210"/>
                  <a:gd name="T8" fmla="*/ 185 w 267"/>
                  <a:gd name="T9" fmla="*/ 14 h 210"/>
                  <a:gd name="T10" fmla="*/ 267 w 267"/>
                  <a:gd name="T11" fmla="*/ 100 h 210"/>
                  <a:gd name="T12" fmla="*/ 237 w 267"/>
                  <a:gd name="T13" fmla="*/ 106 h 210"/>
                  <a:gd name="T14" fmla="*/ 176 w 267"/>
                  <a:gd name="T15" fmla="*/ 33 h 210"/>
                  <a:gd name="T16" fmla="*/ 74 w 267"/>
                  <a:gd name="T17" fmla="*/ 34 h 210"/>
                  <a:gd name="T18" fmla="*/ 10 w 267"/>
                  <a:gd name="T19" fmla="*/ 114 h 210"/>
                  <a:gd name="T20" fmla="*/ 13 w 267"/>
                  <a:gd name="T21" fmla="*/ 165 h 210"/>
                  <a:gd name="T22" fmla="*/ 42 w 267"/>
                  <a:gd name="T2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7" h="210">
                    <a:moveTo>
                      <a:pt x="42" y="210"/>
                    </a:moveTo>
                    <a:cubicBezTo>
                      <a:pt x="27" y="199"/>
                      <a:pt x="16" y="184"/>
                      <a:pt x="10" y="165"/>
                    </a:cubicBezTo>
                    <a:cubicBezTo>
                      <a:pt x="3" y="149"/>
                      <a:pt x="0" y="131"/>
                      <a:pt x="3" y="113"/>
                    </a:cubicBezTo>
                    <a:cubicBezTo>
                      <a:pt x="6" y="76"/>
                      <a:pt x="30" y="41"/>
                      <a:pt x="66" y="22"/>
                    </a:cubicBezTo>
                    <a:cubicBezTo>
                      <a:pt x="101" y="2"/>
                      <a:pt x="146" y="0"/>
                      <a:pt x="185" y="14"/>
                    </a:cubicBezTo>
                    <a:cubicBezTo>
                      <a:pt x="225" y="29"/>
                      <a:pt x="256" y="61"/>
                      <a:pt x="267" y="100"/>
                    </a:cubicBezTo>
                    <a:cubicBezTo>
                      <a:pt x="237" y="106"/>
                      <a:pt x="237" y="106"/>
                      <a:pt x="237" y="106"/>
                    </a:cubicBezTo>
                    <a:cubicBezTo>
                      <a:pt x="231" y="75"/>
                      <a:pt x="208" y="47"/>
                      <a:pt x="176" y="33"/>
                    </a:cubicBezTo>
                    <a:cubicBezTo>
                      <a:pt x="145" y="19"/>
                      <a:pt x="105" y="19"/>
                      <a:pt x="74" y="34"/>
                    </a:cubicBezTo>
                    <a:cubicBezTo>
                      <a:pt x="41" y="50"/>
                      <a:pt x="16" y="79"/>
                      <a:pt x="10" y="114"/>
                    </a:cubicBezTo>
                    <a:cubicBezTo>
                      <a:pt x="7" y="131"/>
                      <a:pt x="7" y="149"/>
                      <a:pt x="13" y="165"/>
                    </a:cubicBezTo>
                    <a:cubicBezTo>
                      <a:pt x="19" y="182"/>
                      <a:pt x="29" y="198"/>
                      <a:pt x="42" y="210"/>
                    </a:cubicBezTo>
                  </a:path>
                </a:pathLst>
              </a:custGeom>
              <a:grpFill/>
              <a:ln w="11113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ea"/>
                </a:endParaRPr>
              </a:p>
            </p:txBody>
          </p:sp>
          <p:sp>
            <p:nvSpPr>
              <p:cNvPr id="9" name="Line 73">
                <a:extLst>
                  <a:ext uri="{FF2B5EF4-FFF2-40B4-BE49-F238E27FC236}">
                    <a16:creationId xmlns:a16="http://schemas.microsoft.com/office/drawing/2014/main" id="{A6AEFD45-C374-4944-81C0-02DB3BD64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2784" y="3195505"/>
                <a:ext cx="50800" cy="47625"/>
              </a:xfrm>
              <a:prstGeom prst="line">
                <a:avLst/>
              </a:prstGeom>
              <a:grpFill/>
              <a:ln w="1111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ea"/>
                </a:endParaRPr>
              </a:p>
            </p:txBody>
          </p:sp>
          <p:sp>
            <p:nvSpPr>
              <p:cNvPr id="10" name="Freeform 74">
                <a:extLst>
                  <a:ext uri="{FF2B5EF4-FFF2-40B4-BE49-F238E27FC236}">
                    <a16:creationId xmlns:a16="http://schemas.microsoft.com/office/drawing/2014/main" id="{5A1EB1B5-17E2-A546-8E92-41C84F7A8E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621" y="3170105"/>
                <a:ext cx="55563" cy="50800"/>
              </a:xfrm>
              <a:custGeom>
                <a:avLst/>
                <a:gdLst>
                  <a:gd name="T0" fmla="*/ 10 w 35"/>
                  <a:gd name="T1" fmla="*/ 32 h 32"/>
                  <a:gd name="T2" fmla="*/ 0 w 35"/>
                  <a:gd name="T3" fmla="*/ 0 h 32"/>
                  <a:gd name="T4" fmla="*/ 35 w 35"/>
                  <a:gd name="T5" fmla="*/ 9 h 32"/>
                  <a:gd name="T6" fmla="*/ 10 w 35"/>
                  <a:gd name="T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2">
                    <a:moveTo>
                      <a:pt x="10" y="32"/>
                    </a:moveTo>
                    <a:lnTo>
                      <a:pt x="0" y="0"/>
                    </a:lnTo>
                    <a:lnTo>
                      <a:pt x="35" y="9"/>
                    </a:lnTo>
                    <a:lnTo>
                      <a:pt x="10" y="32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ea"/>
                </a:endParaRPr>
              </a:p>
            </p:txBody>
          </p:sp>
          <p:sp>
            <p:nvSpPr>
              <p:cNvPr id="11" name="Freeform 75">
                <a:extLst>
                  <a:ext uri="{FF2B5EF4-FFF2-40B4-BE49-F238E27FC236}">
                    <a16:creationId xmlns:a16="http://schemas.microsoft.com/office/drawing/2014/main" id="{2A8CAE31-D985-1449-8C9C-3904EF74C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621" y="3170105"/>
                <a:ext cx="55563" cy="50800"/>
              </a:xfrm>
              <a:custGeom>
                <a:avLst/>
                <a:gdLst>
                  <a:gd name="T0" fmla="*/ 10 w 35"/>
                  <a:gd name="T1" fmla="*/ 32 h 32"/>
                  <a:gd name="T2" fmla="*/ 0 w 35"/>
                  <a:gd name="T3" fmla="*/ 0 h 32"/>
                  <a:gd name="T4" fmla="*/ 35 w 35"/>
                  <a:gd name="T5" fmla="*/ 9 h 32"/>
                  <a:gd name="T6" fmla="*/ 10 w 35"/>
                  <a:gd name="T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2">
                    <a:moveTo>
                      <a:pt x="10" y="32"/>
                    </a:moveTo>
                    <a:lnTo>
                      <a:pt x="0" y="0"/>
                    </a:lnTo>
                    <a:lnTo>
                      <a:pt x="35" y="9"/>
                    </a:lnTo>
                    <a:lnTo>
                      <a:pt x="10" y="32"/>
                    </a:lnTo>
                    <a:close/>
                  </a:path>
                </a:pathLst>
              </a:custGeom>
              <a:grpFill/>
              <a:ln w="11113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ea"/>
                </a:endParaRPr>
              </a:p>
            </p:txBody>
          </p:sp>
          <p:sp>
            <p:nvSpPr>
              <p:cNvPr id="12" name="Oval 76">
                <a:extLst>
                  <a:ext uri="{FF2B5EF4-FFF2-40B4-BE49-F238E27FC236}">
                    <a16:creationId xmlns:a16="http://schemas.microsoft.com/office/drawing/2014/main" id="{4A770DFE-D3E4-DA4D-8EE8-53A2183FF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409" y="3238367"/>
                <a:ext cx="53975" cy="47625"/>
              </a:xfrm>
              <a:prstGeom prst="ellipse">
                <a:avLst/>
              </a:prstGeom>
              <a:grpFill/>
              <a:ln w="11113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ea"/>
                </a:endParaRPr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909FE06-BB77-0749-8222-F11C1CE641B1}"/>
              </a:ext>
            </a:extLst>
          </p:cNvPr>
          <p:cNvGrpSpPr/>
          <p:nvPr/>
        </p:nvGrpSpPr>
        <p:grpSpPr>
          <a:xfrm>
            <a:off x="5401577" y="1382911"/>
            <a:ext cx="560388" cy="515938"/>
            <a:chOff x="3734658" y="2333741"/>
            <a:chExt cx="560388" cy="515938"/>
          </a:xfrm>
          <a:solidFill>
            <a:schemeClr val="bg1">
              <a:lumMod val="50000"/>
            </a:schemeClr>
          </a:solidFill>
        </p:grpSpPr>
        <p:sp>
          <p:nvSpPr>
            <p:cNvPr id="15" name="Oval 66">
              <a:extLst>
                <a:ext uri="{FF2B5EF4-FFF2-40B4-BE49-F238E27FC236}">
                  <a16:creationId xmlns:a16="http://schemas.microsoft.com/office/drawing/2014/main" id="{B866DEE8-09A7-BF45-9627-FB3325051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658" y="2333741"/>
              <a:ext cx="560388" cy="5159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7" name="Group 52">
              <a:extLst>
                <a:ext uri="{FF2B5EF4-FFF2-40B4-BE49-F238E27FC236}">
                  <a16:creationId xmlns:a16="http://schemas.microsoft.com/office/drawing/2014/main" id="{7A4AF537-749C-3E4F-89AD-674A9EDD86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63752" y="2453335"/>
              <a:ext cx="324744" cy="255585"/>
              <a:chOff x="5693" y="708"/>
              <a:chExt cx="432" cy="340"/>
            </a:xfrm>
            <a:grpFill/>
          </p:grpSpPr>
          <p:sp>
            <p:nvSpPr>
              <p:cNvPr id="18" name="Freeform 53">
                <a:extLst>
                  <a:ext uri="{FF2B5EF4-FFF2-40B4-BE49-F238E27FC236}">
                    <a16:creationId xmlns:a16="http://schemas.microsoft.com/office/drawing/2014/main" id="{04EB3A79-2A74-CF4C-83D6-30A3137E5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3" y="753"/>
                <a:ext cx="276" cy="268"/>
              </a:xfrm>
              <a:custGeom>
                <a:avLst/>
                <a:gdLst>
                  <a:gd name="T0" fmla="*/ 174 w 180"/>
                  <a:gd name="T1" fmla="*/ 180 h 180"/>
                  <a:gd name="T2" fmla="*/ 30 w 180"/>
                  <a:gd name="T3" fmla="*/ 180 h 180"/>
                  <a:gd name="T4" fmla="*/ 0 w 180"/>
                  <a:gd name="T5" fmla="*/ 150 h 180"/>
                  <a:gd name="T6" fmla="*/ 0 w 180"/>
                  <a:gd name="T7" fmla="*/ 30 h 180"/>
                  <a:gd name="T8" fmla="*/ 30 w 180"/>
                  <a:gd name="T9" fmla="*/ 0 h 180"/>
                  <a:gd name="T10" fmla="*/ 162 w 180"/>
                  <a:gd name="T11" fmla="*/ 0 h 180"/>
                  <a:gd name="T12" fmla="*/ 168 w 180"/>
                  <a:gd name="T13" fmla="*/ 6 h 180"/>
                  <a:gd name="T14" fmla="*/ 162 w 180"/>
                  <a:gd name="T15" fmla="*/ 12 h 180"/>
                  <a:gd name="T16" fmla="*/ 30 w 180"/>
                  <a:gd name="T17" fmla="*/ 12 h 180"/>
                  <a:gd name="T18" fmla="*/ 12 w 180"/>
                  <a:gd name="T19" fmla="*/ 30 h 180"/>
                  <a:gd name="T20" fmla="*/ 12 w 180"/>
                  <a:gd name="T21" fmla="*/ 150 h 180"/>
                  <a:gd name="T22" fmla="*/ 30 w 180"/>
                  <a:gd name="T23" fmla="*/ 168 h 180"/>
                  <a:gd name="T24" fmla="*/ 174 w 180"/>
                  <a:gd name="T25" fmla="*/ 168 h 180"/>
                  <a:gd name="T26" fmla="*/ 180 w 180"/>
                  <a:gd name="T27" fmla="*/ 174 h 180"/>
                  <a:gd name="T28" fmla="*/ 174 w 180"/>
                  <a:gd name="T29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0" h="180">
                    <a:moveTo>
                      <a:pt x="174" y="180"/>
                    </a:moveTo>
                    <a:cubicBezTo>
                      <a:pt x="30" y="180"/>
                      <a:pt x="30" y="180"/>
                      <a:pt x="30" y="180"/>
                    </a:cubicBezTo>
                    <a:cubicBezTo>
                      <a:pt x="13" y="180"/>
                      <a:pt x="0" y="167"/>
                      <a:pt x="0" y="15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65" y="0"/>
                      <a:pt x="168" y="3"/>
                      <a:pt x="168" y="6"/>
                    </a:cubicBezTo>
                    <a:cubicBezTo>
                      <a:pt x="168" y="10"/>
                      <a:pt x="165" y="12"/>
                      <a:pt x="162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60"/>
                      <a:pt x="20" y="168"/>
                      <a:pt x="30" y="168"/>
                    </a:cubicBezTo>
                    <a:cubicBezTo>
                      <a:pt x="174" y="168"/>
                      <a:pt x="174" y="168"/>
                      <a:pt x="174" y="168"/>
                    </a:cubicBezTo>
                    <a:cubicBezTo>
                      <a:pt x="177" y="168"/>
                      <a:pt x="180" y="171"/>
                      <a:pt x="180" y="174"/>
                    </a:cubicBezTo>
                    <a:cubicBezTo>
                      <a:pt x="180" y="178"/>
                      <a:pt x="177" y="180"/>
                      <a:pt x="174" y="18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9" name="Freeform 54">
                <a:extLst>
                  <a:ext uri="{FF2B5EF4-FFF2-40B4-BE49-F238E27FC236}">
                    <a16:creationId xmlns:a16="http://schemas.microsoft.com/office/drawing/2014/main" id="{075C2B95-524F-4A4D-8352-D4778C822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3" y="824"/>
                <a:ext cx="257" cy="18"/>
              </a:xfrm>
              <a:custGeom>
                <a:avLst/>
                <a:gdLst>
                  <a:gd name="T0" fmla="*/ 162 w 168"/>
                  <a:gd name="T1" fmla="*/ 12 h 12"/>
                  <a:gd name="T2" fmla="*/ 6 w 168"/>
                  <a:gd name="T3" fmla="*/ 12 h 12"/>
                  <a:gd name="T4" fmla="*/ 0 w 168"/>
                  <a:gd name="T5" fmla="*/ 6 h 12"/>
                  <a:gd name="T6" fmla="*/ 6 w 168"/>
                  <a:gd name="T7" fmla="*/ 0 h 12"/>
                  <a:gd name="T8" fmla="*/ 162 w 168"/>
                  <a:gd name="T9" fmla="*/ 0 h 12"/>
                  <a:gd name="T10" fmla="*/ 168 w 168"/>
                  <a:gd name="T11" fmla="*/ 6 h 12"/>
                  <a:gd name="T12" fmla="*/ 162 w 16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8" h="12">
                    <a:moveTo>
                      <a:pt x="16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65" y="0"/>
                      <a:pt x="168" y="3"/>
                      <a:pt x="168" y="6"/>
                    </a:cubicBezTo>
                    <a:cubicBezTo>
                      <a:pt x="168" y="10"/>
                      <a:pt x="165" y="12"/>
                      <a:pt x="162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" name="Freeform 55">
                <a:extLst>
                  <a:ext uri="{FF2B5EF4-FFF2-40B4-BE49-F238E27FC236}">
                    <a16:creationId xmlns:a16="http://schemas.microsoft.com/office/drawing/2014/main" id="{3C71EBF9-D993-1941-B788-EBAF90453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8" y="878"/>
                <a:ext cx="166" cy="18"/>
              </a:xfrm>
              <a:custGeom>
                <a:avLst/>
                <a:gdLst>
                  <a:gd name="T0" fmla="*/ 102 w 108"/>
                  <a:gd name="T1" fmla="*/ 12 h 12"/>
                  <a:gd name="T2" fmla="*/ 6 w 108"/>
                  <a:gd name="T3" fmla="*/ 12 h 12"/>
                  <a:gd name="T4" fmla="*/ 0 w 108"/>
                  <a:gd name="T5" fmla="*/ 6 h 12"/>
                  <a:gd name="T6" fmla="*/ 6 w 108"/>
                  <a:gd name="T7" fmla="*/ 0 h 12"/>
                  <a:gd name="T8" fmla="*/ 102 w 108"/>
                  <a:gd name="T9" fmla="*/ 0 h 12"/>
                  <a:gd name="T10" fmla="*/ 108 w 108"/>
                  <a:gd name="T11" fmla="*/ 6 h 12"/>
                  <a:gd name="T12" fmla="*/ 102 w 10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" h="12">
                    <a:moveTo>
                      <a:pt x="10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5" y="0"/>
                      <a:pt x="108" y="3"/>
                      <a:pt x="108" y="6"/>
                    </a:cubicBezTo>
                    <a:cubicBezTo>
                      <a:pt x="108" y="10"/>
                      <a:pt x="105" y="12"/>
                      <a:pt x="102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Freeform 56">
                <a:extLst>
                  <a:ext uri="{FF2B5EF4-FFF2-40B4-BE49-F238E27FC236}">
                    <a16:creationId xmlns:a16="http://schemas.microsoft.com/office/drawing/2014/main" id="{9C9E1516-F2D3-6E48-A924-D7BE75024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8" y="914"/>
                <a:ext cx="74" cy="18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0"/>
                      <a:pt x="45" y="12"/>
                      <a:pt x="42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2" name="Freeform 57">
                <a:extLst>
                  <a:ext uri="{FF2B5EF4-FFF2-40B4-BE49-F238E27FC236}">
                    <a16:creationId xmlns:a16="http://schemas.microsoft.com/office/drawing/2014/main" id="{A2905B39-17C7-8440-AF96-60E57D909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8" y="745"/>
                <a:ext cx="147" cy="267"/>
              </a:xfrm>
              <a:custGeom>
                <a:avLst/>
                <a:gdLst>
                  <a:gd name="T0" fmla="*/ 48 w 96"/>
                  <a:gd name="T1" fmla="*/ 179 h 179"/>
                  <a:gd name="T2" fmla="*/ 0 w 96"/>
                  <a:gd name="T3" fmla="*/ 131 h 179"/>
                  <a:gd name="T4" fmla="*/ 6 w 96"/>
                  <a:gd name="T5" fmla="*/ 125 h 179"/>
                  <a:gd name="T6" fmla="*/ 12 w 96"/>
                  <a:gd name="T7" fmla="*/ 131 h 179"/>
                  <a:gd name="T8" fmla="*/ 48 w 96"/>
                  <a:gd name="T9" fmla="*/ 167 h 179"/>
                  <a:gd name="T10" fmla="*/ 84 w 96"/>
                  <a:gd name="T11" fmla="*/ 131 h 179"/>
                  <a:gd name="T12" fmla="*/ 48 w 96"/>
                  <a:gd name="T13" fmla="*/ 96 h 179"/>
                  <a:gd name="T14" fmla="*/ 0 w 96"/>
                  <a:gd name="T15" fmla="*/ 48 h 179"/>
                  <a:gd name="T16" fmla="*/ 48 w 96"/>
                  <a:gd name="T17" fmla="*/ 0 h 179"/>
                  <a:gd name="T18" fmla="*/ 96 w 96"/>
                  <a:gd name="T19" fmla="*/ 48 h 179"/>
                  <a:gd name="T20" fmla="*/ 90 w 96"/>
                  <a:gd name="T21" fmla="*/ 54 h 179"/>
                  <a:gd name="T22" fmla="*/ 84 w 96"/>
                  <a:gd name="T23" fmla="*/ 48 h 179"/>
                  <a:gd name="T24" fmla="*/ 48 w 96"/>
                  <a:gd name="T25" fmla="*/ 12 h 179"/>
                  <a:gd name="T26" fmla="*/ 12 w 96"/>
                  <a:gd name="T27" fmla="*/ 48 h 179"/>
                  <a:gd name="T28" fmla="*/ 48 w 96"/>
                  <a:gd name="T29" fmla="*/ 84 h 179"/>
                  <a:gd name="T30" fmla="*/ 96 w 96"/>
                  <a:gd name="T31" fmla="*/ 131 h 179"/>
                  <a:gd name="T32" fmla="*/ 48 w 96"/>
                  <a:gd name="T33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6" h="179">
                    <a:moveTo>
                      <a:pt x="48" y="179"/>
                    </a:moveTo>
                    <a:cubicBezTo>
                      <a:pt x="22" y="179"/>
                      <a:pt x="0" y="158"/>
                      <a:pt x="0" y="131"/>
                    </a:cubicBezTo>
                    <a:cubicBezTo>
                      <a:pt x="0" y="128"/>
                      <a:pt x="3" y="125"/>
                      <a:pt x="6" y="125"/>
                    </a:cubicBezTo>
                    <a:cubicBezTo>
                      <a:pt x="10" y="125"/>
                      <a:pt x="12" y="128"/>
                      <a:pt x="12" y="131"/>
                    </a:cubicBezTo>
                    <a:cubicBezTo>
                      <a:pt x="12" y="151"/>
                      <a:pt x="28" y="167"/>
                      <a:pt x="48" y="167"/>
                    </a:cubicBezTo>
                    <a:cubicBezTo>
                      <a:pt x="68" y="167"/>
                      <a:pt x="84" y="151"/>
                      <a:pt x="84" y="131"/>
                    </a:cubicBezTo>
                    <a:cubicBezTo>
                      <a:pt x="84" y="112"/>
                      <a:pt x="68" y="96"/>
                      <a:pt x="48" y="96"/>
                    </a:cubicBezTo>
                    <a:cubicBezTo>
                      <a:pt x="22" y="96"/>
                      <a:pt x="0" y="74"/>
                      <a:pt x="0" y="48"/>
                    </a:cubicBezTo>
                    <a:cubicBezTo>
                      <a:pt x="0" y="22"/>
                      <a:pt x="22" y="0"/>
                      <a:pt x="48" y="0"/>
                    </a:cubicBezTo>
                    <a:cubicBezTo>
                      <a:pt x="74" y="0"/>
                      <a:pt x="96" y="22"/>
                      <a:pt x="96" y="48"/>
                    </a:cubicBezTo>
                    <a:cubicBezTo>
                      <a:pt x="96" y="51"/>
                      <a:pt x="93" y="54"/>
                      <a:pt x="90" y="54"/>
                    </a:cubicBezTo>
                    <a:cubicBezTo>
                      <a:pt x="86" y="54"/>
                      <a:pt x="84" y="51"/>
                      <a:pt x="84" y="48"/>
                    </a:cubicBezTo>
                    <a:cubicBezTo>
                      <a:pt x="84" y="28"/>
                      <a:pt x="68" y="12"/>
                      <a:pt x="48" y="12"/>
                    </a:cubicBezTo>
                    <a:cubicBezTo>
                      <a:pt x="28" y="12"/>
                      <a:pt x="12" y="28"/>
                      <a:pt x="12" y="48"/>
                    </a:cubicBezTo>
                    <a:cubicBezTo>
                      <a:pt x="12" y="68"/>
                      <a:pt x="28" y="84"/>
                      <a:pt x="48" y="84"/>
                    </a:cubicBezTo>
                    <a:cubicBezTo>
                      <a:pt x="74" y="84"/>
                      <a:pt x="96" y="105"/>
                      <a:pt x="96" y="131"/>
                    </a:cubicBezTo>
                    <a:cubicBezTo>
                      <a:pt x="96" y="158"/>
                      <a:pt x="74" y="179"/>
                      <a:pt x="48" y="17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" name="Freeform 58">
                <a:extLst>
                  <a:ext uri="{FF2B5EF4-FFF2-40B4-BE49-F238E27FC236}">
                    <a16:creationId xmlns:a16="http://schemas.microsoft.com/office/drawing/2014/main" id="{DF679045-2B7B-6C44-8858-FDFC002D7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2" y="708"/>
                <a:ext cx="18" cy="340"/>
              </a:xfrm>
              <a:custGeom>
                <a:avLst/>
                <a:gdLst>
                  <a:gd name="T0" fmla="*/ 6 w 12"/>
                  <a:gd name="T1" fmla="*/ 228 h 228"/>
                  <a:gd name="T2" fmla="*/ 6 w 12"/>
                  <a:gd name="T3" fmla="*/ 228 h 228"/>
                  <a:gd name="T4" fmla="*/ 0 w 12"/>
                  <a:gd name="T5" fmla="*/ 222 h 228"/>
                  <a:gd name="T6" fmla="*/ 0 w 12"/>
                  <a:gd name="T7" fmla="*/ 6 h 228"/>
                  <a:gd name="T8" fmla="*/ 6 w 12"/>
                  <a:gd name="T9" fmla="*/ 0 h 228"/>
                  <a:gd name="T10" fmla="*/ 6 w 12"/>
                  <a:gd name="T11" fmla="*/ 0 h 228"/>
                  <a:gd name="T12" fmla="*/ 12 w 12"/>
                  <a:gd name="T13" fmla="*/ 6 h 228"/>
                  <a:gd name="T14" fmla="*/ 12 w 12"/>
                  <a:gd name="T15" fmla="*/ 222 h 228"/>
                  <a:gd name="T16" fmla="*/ 6 w 12"/>
                  <a:gd name="T17" fmla="*/ 228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8">
                    <a:moveTo>
                      <a:pt x="6" y="228"/>
                    </a:moveTo>
                    <a:cubicBezTo>
                      <a:pt x="6" y="228"/>
                      <a:pt x="6" y="228"/>
                      <a:pt x="6" y="228"/>
                    </a:cubicBezTo>
                    <a:cubicBezTo>
                      <a:pt x="3" y="228"/>
                      <a:pt x="0" y="226"/>
                      <a:pt x="0" y="22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22"/>
                      <a:pt x="12" y="222"/>
                      <a:pt x="12" y="222"/>
                    </a:cubicBezTo>
                    <a:cubicBezTo>
                      <a:pt x="12" y="226"/>
                      <a:pt x="9" y="228"/>
                      <a:pt x="6" y="22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07228E7-DB4B-594C-93B9-D1EBC1ED0D42}"/>
              </a:ext>
            </a:extLst>
          </p:cNvPr>
          <p:cNvGrpSpPr/>
          <p:nvPr/>
        </p:nvGrpSpPr>
        <p:grpSpPr>
          <a:xfrm>
            <a:off x="3644630" y="1395502"/>
            <a:ext cx="565150" cy="517525"/>
            <a:chOff x="3687068" y="2504032"/>
            <a:chExt cx="565150" cy="517525"/>
          </a:xfrm>
          <a:solidFill>
            <a:schemeClr val="accent4"/>
          </a:solidFill>
        </p:grpSpPr>
        <p:sp>
          <p:nvSpPr>
            <p:cNvPr id="13" name="Oval 46">
              <a:extLst>
                <a:ext uri="{FF2B5EF4-FFF2-40B4-BE49-F238E27FC236}">
                  <a16:creationId xmlns:a16="http://schemas.microsoft.com/office/drawing/2014/main" id="{ED360CAB-7B55-DF45-9149-9FF45E5A4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068" y="2504032"/>
              <a:ext cx="565150" cy="517525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64D172D-8F49-814F-BD3A-F611BD261E12}"/>
                </a:ext>
              </a:extLst>
            </p:cNvPr>
            <p:cNvGrpSpPr/>
            <p:nvPr/>
          </p:nvGrpSpPr>
          <p:grpSpPr>
            <a:xfrm>
              <a:off x="3794939" y="2625558"/>
              <a:ext cx="373158" cy="274471"/>
              <a:chOff x="638796" y="4232140"/>
              <a:chExt cx="447675" cy="234950"/>
            </a:xfrm>
            <a:grpFill/>
          </p:grpSpPr>
          <p:sp>
            <p:nvSpPr>
              <p:cNvPr id="25" name="Freeform 68">
                <a:extLst>
                  <a:ext uri="{FF2B5EF4-FFF2-40B4-BE49-F238E27FC236}">
                    <a16:creationId xmlns:a16="http://schemas.microsoft.com/office/drawing/2014/main" id="{CE8C4921-DB3E-A94C-A486-CB5F46328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796" y="4232140"/>
                <a:ext cx="447675" cy="234950"/>
              </a:xfrm>
              <a:custGeom>
                <a:avLst/>
                <a:gdLst>
                  <a:gd name="T0" fmla="*/ 159 w 282"/>
                  <a:gd name="T1" fmla="*/ 105 h 148"/>
                  <a:gd name="T2" fmla="*/ 219 w 282"/>
                  <a:gd name="T3" fmla="*/ 148 h 148"/>
                  <a:gd name="T4" fmla="*/ 282 w 282"/>
                  <a:gd name="T5" fmla="*/ 90 h 148"/>
                  <a:gd name="T6" fmla="*/ 252 w 282"/>
                  <a:gd name="T7" fmla="*/ 43 h 148"/>
                  <a:gd name="T8" fmla="*/ 196 w 282"/>
                  <a:gd name="T9" fmla="*/ 17 h 148"/>
                  <a:gd name="T10" fmla="*/ 173 w 282"/>
                  <a:gd name="T11" fmla="*/ 0 h 148"/>
                  <a:gd name="T12" fmla="*/ 154 w 282"/>
                  <a:gd name="T13" fmla="*/ 11 h 148"/>
                  <a:gd name="T14" fmla="*/ 138 w 282"/>
                  <a:gd name="T15" fmla="*/ 11 h 148"/>
                  <a:gd name="T16" fmla="*/ 128 w 282"/>
                  <a:gd name="T17" fmla="*/ 11 h 148"/>
                  <a:gd name="T18" fmla="*/ 109 w 282"/>
                  <a:gd name="T19" fmla="*/ 0 h 148"/>
                  <a:gd name="T20" fmla="*/ 86 w 282"/>
                  <a:gd name="T21" fmla="*/ 17 h 148"/>
                  <a:gd name="T22" fmla="*/ 18 w 282"/>
                  <a:gd name="T23" fmla="*/ 51 h 148"/>
                  <a:gd name="T24" fmla="*/ 0 w 282"/>
                  <a:gd name="T25" fmla="*/ 90 h 148"/>
                  <a:gd name="T26" fmla="*/ 63 w 282"/>
                  <a:gd name="T27" fmla="*/ 148 h 148"/>
                  <a:gd name="T28" fmla="*/ 123 w 282"/>
                  <a:gd name="T29" fmla="*/ 10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2" h="148">
                    <a:moveTo>
                      <a:pt x="159" y="105"/>
                    </a:moveTo>
                    <a:cubicBezTo>
                      <a:pt x="166" y="129"/>
                      <a:pt x="191" y="148"/>
                      <a:pt x="219" y="148"/>
                    </a:cubicBezTo>
                    <a:cubicBezTo>
                      <a:pt x="254" y="148"/>
                      <a:pt x="282" y="123"/>
                      <a:pt x="282" y="90"/>
                    </a:cubicBezTo>
                    <a:cubicBezTo>
                      <a:pt x="282" y="71"/>
                      <a:pt x="269" y="53"/>
                      <a:pt x="252" y="43"/>
                    </a:cubicBezTo>
                    <a:cubicBezTo>
                      <a:pt x="241" y="34"/>
                      <a:pt x="222" y="24"/>
                      <a:pt x="196" y="17"/>
                    </a:cubicBezTo>
                    <a:cubicBezTo>
                      <a:pt x="194" y="8"/>
                      <a:pt x="185" y="0"/>
                      <a:pt x="173" y="0"/>
                    </a:cubicBezTo>
                    <a:cubicBezTo>
                      <a:pt x="166" y="0"/>
                      <a:pt x="158" y="5"/>
                      <a:pt x="154" y="11"/>
                    </a:cubicBezTo>
                    <a:cubicBezTo>
                      <a:pt x="149" y="11"/>
                      <a:pt x="144" y="11"/>
                      <a:pt x="138" y="11"/>
                    </a:cubicBezTo>
                    <a:cubicBezTo>
                      <a:pt x="135" y="11"/>
                      <a:pt x="131" y="11"/>
                      <a:pt x="128" y="11"/>
                    </a:cubicBezTo>
                    <a:cubicBezTo>
                      <a:pt x="124" y="5"/>
                      <a:pt x="116" y="0"/>
                      <a:pt x="109" y="0"/>
                    </a:cubicBezTo>
                    <a:cubicBezTo>
                      <a:pt x="96" y="0"/>
                      <a:pt x="88" y="8"/>
                      <a:pt x="86" y="17"/>
                    </a:cubicBezTo>
                    <a:cubicBezTo>
                      <a:pt x="40" y="29"/>
                      <a:pt x="21" y="50"/>
                      <a:pt x="18" y="51"/>
                    </a:cubicBezTo>
                    <a:cubicBezTo>
                      <a:pt x="7" y="61"/>
                      <a:pt x="0" y="76"/>
                      <a:pt x="0" y="90"/>
                    </a:cubicBezTo>
                    <a:cubicBezTo>
                      <a:pt x="0" y="123"/>
                      <a:pt x="28" y="148"/>
                      <a:pt x="63" y="148"/>
                    </a:cubicBezTo>
                    <a:cubicBezTo>
                      <a:pt x="91" y="148"/>
                      <a:pt x="116" y="129"/>
                      <a:pt x="123" y="105"/>
                    </a:cubicBezTo>
                  </a:path>
                </a:pathLst>
              </a:custGeom>
              <a:grpFill/>
              <a:ln w="11113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6" name="Freeform 69">
                <a:extLst>
                  <a:ext uri="{FF2B5EF4-FFF2-40B4-BE49-F238E27FC236}">
                    <a16:creationId xmlns:a16="http://schemas.microsoft.com/office/drawing/2014/main" id="{2F7AA975-AA93-9A49-89D8-160D4582F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884" y="4313105"/>
                <a:ext cx="63500" cy="50800"/>
              </a:xfrm>
              <a:custGeom>
                <a:avLst/>
                <a:gdLst>
                  <a:gd name="T0" fmla="*/ 19 w 40"/>
                  <a:gd name="T1" fmla="*/ 0 h 32"/>
                  <a:gd name="T2" fmla="*/ 40 w 40"/>
                  <a:gd name="T3" fmla="*/ 19 h 32"/>
                  <a:gd name="T4" fmla="*/ 37 w 40"/>
                  <a:gd name="T5" fmla="*/ 32 h 32"/>
                  <a:gd name="T6" fmla="*/ 3 w 40"/>
                  <a:gd name="T7" fmla="*/ 32 h 32"/>
                  <a:gd name="T8" fmla="*/ 0 w 40"/>
                  <a:gd name="T9" fmla="*/ 19 h 32"/>
                  <a:gd name="T10" fmla="*/ 19 w 40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32">
                    <a:moveTo>
                      <a:pt x="19" y="0"/>
                    </a:moveTo>
                    <a:cubicBezTo>
                      <a:pt x="31" y="0"/>
                      <a:pt x="40" y="8"/>
                      <a:pt x="40" y="19"/>
                    </a:cubicBezTo>
                    <a:cubicBezTo>
                      <a:pt x="40" y="19"/>
                      <a:pt x="37" y="29"/>
                      <a:pt x="37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3" y="27"/>
                      <a:pt x="0" y="19"/>
                      <a:pt x="0" y="19"/>
                    </a:cubicBezTo>
                    <a:cubicBezTo>
                      <a:pt x="0" y="8"/>
                      <a:pt x="8" y="0"/>
                      <a:pt x="19" y="0"/>
                    </a:cubicBezTo>
                  </a:path>
                </a:pathLst>
              </a:custGeom>
              <a:grpFill/>
              <a:ln w="11113" cap="rnd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7" name="Oval 70">
                <a:extLst>
                  <a:ext uri="{FF2B5EF4-FFF2-40B4-BE49-F238E27FC236}">
                    <a16:creationId xmlns:a16="http://schemas.microsoft.com/office/drawing/2014/main" id="{244C3B8D-E44E-7144-A4AC-37EA50F51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34" y="4313105"/>
                <a:ext cx="133350" cy="123825"/>
              </a:xfrm>
              <a:prstGeom prst="ellipse">
                <a:avLst/>
              </a:prstGeom>
              <a:grpFill/>
              <a:ln w="11113" cap="rnd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Oval 71">
                <a:extLst>
                  <a:ext uri="{FF2B5EF4-FFF2-40B4-BE49-F238E27FC236}">
                    <a16:creationId xmlns:a16="http://schemas.microsoft.com/office/drawing/2014/main" id="{6D0D0EF5-3514-6F47-BD79-AD33F6AEE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959" y="4316280"/>
                <a:ext cx="128588" cy="120650"/>
              </a:xfrm>
              <a:prstGeom prst="ellipse">
                <a:avLst/>
              </a:prstGeom>
              <a:grpFill/>
              <a:ln w="11113" cap="rnd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B6B4B3F-4816-5E46-AB45-54EED22245B3}"/>
              </a:ext>
            </a:extLst>
          </p:cNvPr>
          <p:cNvGrpSpPr/>
          <p:nvPr/>
        </p:nvGrpSpPr>
        <p:grpSpPr>
          <a:xfrm>
            <a:off x="7189397" y="1386166"/>
            <a:ext cx="560388" cy="515938"/>
            <a:chOff x="7189397" y="1362416"/>
            <a:chExt cx="560388" cy="515938"/>
          </a:xfrm>
        </p:grpSpPr>
        <p:sp>
          <p:nvSpPr>
            <p:cNvPr id="30" name="Oval 66">
              <a:extLst>
                <a:ext uri="{FF2B5EF4-FFF2-40B4-BE49-F238E27FC236}">
                  <a16:creationId xmlns:a16="http://schemas.microsoft.com/office/drawing/2014/main" id="{80EBB281-347C-D64D-98FE-75B90436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397" y="1362416"/>
              <a:ext cx="560388" cy="5159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31" name="Group 79">
              <a:extLst>
                <a:ext uri="{FF2B5EF4-FFF2-40B4-BE49-F238E27FC236}">
                  <a16:creationId xmlns:a16="http://schemas.microsoft.com/office/drawing/2014/main" id="{B51F9D7D-BDFD-4548-B63C-E4E5341DC7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333569" y="1429670"/>
              <a:ext cx="279185" cy="353755"/>
              <a:chOff x="4727" y="1905"/>
              <a:chExt cx="307" cy="389"/>
            </a:xfrm>
            <a:solidFill>
              <a:schemeClr val="bg1"/>
            </a:solidFill>
          </p:grpSpPr>
          <p:sp>
            <p:nvSpPr>
              <p:cNvPr id="32" name="Freeform 80">
                <a:extLst>
                  <a:ext uri="{FF2B5EF4-FFF2-40B4-BE49-F238E27FC236}">
                    <a16:creationId xmlns:a16="http://schemas.microsoft.com/office/drawing/2014/main" id="{1EE62096-5508-D44D-8893-5A341A3482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7" y="1905"/>
                <a:ext cx="307" cy="389"/>
              </a:xfrm>
              <a:custGeom>
                <a:avLst/>
                <a:gdLst>
                  <a:gd name="T0" fmla="*/ 149 w 200"/>
                  <a:gd name="T1" fmla="*/ 86 h 260"/>
                  <a:gd name="T2" fmla="*/ 130 w 200"/>
                  <a:gd name="T3" fmla="*/ 63 h 260"/>
                  <a:gd name="T4" fmla="*/ 143 w 200"/>
                  <a:gd name="T5" fmla="*/ 41 h 260"/>
                  <a:gd name="T6" fmla="*/ 155 w 200"/>
                  <a:gd name="T7" fmla="*/ 20 h 260"/>
                  <a:gd name="T8" fmla="*/ 122 w 200"/>
                  <a:gd name="T9" fmla="*/ 1 h 260"/>
                  <a:gd name="T10" fmla="*/ 117 w 200"/>
                  <a:gd name="T11" fmla="*/ 3 h 260"/>
                  <a:gd name="T12" fmla="*/ 113 w 200"/>
                  <a:gd name="T13" fmla="*/ 6 h 260"/>
                  <a:gd name="T14" fmla="*/ 104 w 200"/>
                  <a:gd name="T15" fmla="*/ 2 h 260"/>
                  <a:gd name="T16" fmla="*/ 96 w 200"/>
                  <a:gd name="T17" fmla="*/ 2 h 260"/>
                  <a:gd name="T18" fmla="*/ 87 w 200"/>
                  <a:gd name="T19" fmla="*/ 6 h 260"/>
                  <a:gd name="T20" fmla="*/ 83 w 200"/>
                  <a:gd name="T21" fmla="*/ 3 h 260"/>
                  <a:gd name="T22" fmla="*/ 77 w 200"/>
                  <a:gd name="T23" fmla="*/ 1 h 260"/>
                  <a:gd name="T24" fmla="*/ 45 w 200"/>
                  <a:gd name="T25" fmla="*/ 20 h 260"/>
                  <a:gd name="T26" fmla="*/ 56 w 200"/>
                  <a:gd name="T27" fmla="*/ 41 h 260"/>
                  <a:gd name="T28" fmla="*/ 69 w 200"/>
                  <a:gd name="T29" fmla="*/ 63 h 260"/>
                  <a:gd name="T30" fmla="*/ 51 w 200"/>
                  <a:gd name="T31" fmla="*/ 86 h 260"/>
                  <a:gd name="T32" fmla="*/ 0 w 200"/>
                  <a:gd name="T33" fmla="*/ 178 h 260"/>
                  <a:gd name="T34" fmla="*/ 100 w 200"/>
                  <a:gd name="T35" fmla="*/ 260 h 260"/>
                  <a:gd name="T36" fmla="*/ 200 w 200"/>
                  <a:gd name="T37" fmla="*/ 178 h 260"/>
                  <a:gd name="T38" fmla="*/ 149 w 200"/>
                  <a:gd name="T39" fmla="*/ 86 h 260"/>
                  <a:gd name="T40" fmla="*/ 65 w 200"/>
                  <a:gd name="T41" fmla="*/ 33 h 260"/>
                  <a:gd name="T42" fmla="*/ 56 w 200"/>
                  <a:gd name="T43" fmla="*/ 20 h 260"/>
                  <a:gd name="T44" fmla="*/ 76 w 200"/>
                  <a:gd name="T45" fmla="*/ 13 h 260"/>
                  <a:gd name="T46" fmla="*/ 86 w 200"/>
                  <a:gd name="T47" fmla="*/ 18 h 260"/>
                  <a:gd name="T48" fmla="*/ 100 w 200"/>
                  <a:gd name="T49" fmla="*/ 14 h 260"/>
                  <a:gd name="T50" fmla="*/ 114 w 200"/>
                  <a:gd name="T51" fmla="*/ 18 h 260"/>
                  <a:gd name="T52" fmla="*/ 124 w 200"/>
                  <a:gd name="T53" fmla="*/ 13 h 260"/>
                  <a:gd name="T54" fmla="*/ 143 w 200"/>
                  <a:gd name="T55" fmla="*/ 20 h 260"/>
                  <a:gd name="T56" fmla="*/ 134 w 200"/>
                  <a:gd name="T57" fmla="*/ 33 h 260"/>
                  <a:gd name="T58" fmla="*/ 119 w 200"/>
                  <a:gd name="T59" fmla="*/ 57 h 260"/>
                  <a:gd name="T60" fmla="*/ 80 w 200"/>
                  <a:gd name="T61" fmla="*/ 57 h 260"/>
                  <a:gd name="T62" fmla="*/ 65 w 200"/>
                  <a:gd name="T63" fmla="*/ 33 h 260"/>
                  <a:gd name="T64" fmla="*/ 100 w 200"/>
                  <a:gd name="T65" fmla="*/ 248 h 260"/>
                  <a:gd name="T66" fmla="*/ 11 w 200"/>
                  <a:gd name="T67" fmla="*/ 178 h 260"/>
                  <a:gd name="T68" fmla="*/ 59 w 200"/>
                  <a:gd name="T69" fmla="*/ 94 h 260"/>
                  <a:gd name="T70" fmla="*/ 80 w 200"/>
                  <a:gd name="T71" fmla="*/ 69 h 260"/>
                  <a:gd name="T72" fmla="*/ 120 w 200"/>
                  <a:gd name="T73" fmla="*/ 69 h 260"/>
                  <a:gd name="T74" fmla="*/ 140 w 200"/>
                  <a:gd name="T75" fmla="*/ 94 h 260"/>
                  <a:gd name="T76" fmla="*/ 188 w 200"/>
                  <a:gd name="T77" fmla="*/ 178 h 260"/>
                  <a:gd name="T78" fmla="*/ 100 w 200"/>
                  <a:gd name="T79" fmla="*/ 248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00" h="260">
                    <a:moveTo>
                      <a:pt x="149" y="86"/>
                    </a:moveTo>
                    <a:cubicBezTo>
                      <a:pt x="141" y="77"/>
                      <a:pt x="130" y="66"/>
                      <a:pt x="130" y="63"/>
                    </a:cubicBezTo>
                    <a:cubicBezTo>
                      <a:pt x="130" y="56"/>
                      <a:pt x="137" y="48"/>
                      <a:pt x="143" y="41"/>
                    </a:cubicBezTo>
                    <a:cubicBezTo>
                      <a:pt x="150" y="33"/>
                      <a:pt x="155" y="27"/>
                      <a:pt x="155" y="20"/>
                    </a:cubicBezTo>
                    <a:cubicBezTo>
                      <a:pt x="155" y="5"/>
                      <a:pt x="130" y="2"/>
                      <a:pt x="122" y="1"/>
                    </a:cubicBezTo>
                    <a:cubicBezTo>
                      <a:pt x="120" y="1"/>
                      <a:pt x="118" y="1"/>
                      <a:pt x="117" y="3"/>
                    </a:cubicBezTo>
                    <a:cubicBezTo>
                      <a:pt x="115" y="5"/>
                      <a:pt x="114" y="6"/>
                      <a:pt x="113" y="6"/>
                    </a:cubicBezTo>
                    <a:cubicBezTo>
                      <a:pt x="109" y="6"/>
                      <a:pt x="105" y="3"/>
                      <a:pt x="104" y="2"/>
                    </a:cubicBezTo>
                    <a:cubicBezTo>
                      <a:pt x="102" y="0"/>
                      <a:pt x="98" y="0"/>
                      <a:pt x="96" y="2"/>
                    </a:cubicBezTo>
                    <a:cubicBezTo>
                      <a:pt x="95" y="3"/>
                      <a:pt x="91" y="6"/>
                      <a:pt x="87" y="6"/>
                    </a:cubicBezTo>
                    <a:cubicBezTo>
                      <a:pt x="86" y="6"/>
                      <a:pt x="85" y="5"/>
                      <a:pt x="83" y="3"/>
                    </a:cubicBezTo>
                    <a:cubicBezTo>
                      <a:pt x="81" y="1"/>
                      <a:pt x="79" y="1"/>
                      <a:pt x="77" y="1"/>
                    </a:cubicBezTo>
                    <a:cubicBezTo>
                      <a:pt x="70" y="2"/>
                      <a:pt x="45" y="5"/>
                      <a:pt x="45" y="20"/>
                    </a:cubicBezTo>
                    <a:cubicBezTo>
                      <a:pt x="45" y="27"/>
                      <a:pt x="50" y="33"/>
                      <a:pt x="56" y="41"/>
                    </a:cubicBezTo>
                    <a:cubicBezTo>
                      <a:pt x="62" y="48"/>
                      <a:pt x="69" y="56"/>
                      <a:pt x="69" y="63"/>
                    </a:cubicBezTo>
                    <a:cubicBezTo>
                      <a:pt x="69" y="66"/>
                      <a:pt x="59" y="77"/>
                      <a:pt x="51" y="86"/>
                    </a:cubicBezTo>
                    <a:cubicBezTo>
                      <a:pt x="29" y="109"/>
                      <a:pt x="0" y="140"/>
                      <a:pt x="0" y="178"/>
                    </a:cubicBezTo>
                    <a:cubicBezTo>
                      <a:pt x="0" y="237"/>
                      <a:pt x="8" y="260"/>
                      <a:pt x="100" y="260"/>
                    </a:cubicBezTo>
                    <a:cubicBezTo>
                      <a:pt x="191" y="260"/>
                      <a:pt x="200" y="237"/>
                      <a:pt x="200" y="178"/>
                    </a:cubicBezTo>
                    <a:cubicBezTo>
                      <a:pt x="200" y="140"/>
                      <a:pt x="170" y="109"/>
                      <a:pt x="149" y="86"/>
                    </a:cubicBezTo>
                    <a:close/>
                    <a:moveTo>
                      <a:pt x="65" y="33"/>
                    </a:moveTo>
                    <a:cubicBezTo>
                      <a:pt x="62" y="29"/>
                      <a:pt x="56" y="23"/>
                      <a:pt x="56" y="20"/>
                    </a:cubicBezTo>
                    <a:cubicBezTo>
                      <a:pt x="56" y="18"/>
                      <a:pt x="65" y="14"/>
                      <a:pt x="76" y="13"/>
                    </a:cubicBezTo>
                    <a:cubicBezTo>
                      <a:pt x="79" y="16"/>
                      <a:pt x="83" y="17"/>
                      <a:pt x="86" y="18"/>
                    </a:cubicBezTo>
                    <a:cubicBezTo>
                      <a:pt x="92" y="18"/>
                      <a:pt x="97" y="16"/>
                      <a:pt x="100" y="14"/>
                    </a:cubicBezTo>
                    <a:cubicBezTo>
                      <a:pt x="103" y="16"/>
                      <a:pt x="108" y="18"/>
                      <a:pt x="114" y="18"/>
                    </a:cubicBezTo>
                    <a:cubicBezTo>
                      <a:pt x="116" y="17"/>
                      <a:pt x="120" y="16"/>
                      <a:pt x="124" y="13"/>
                    </a:cubicBezTo>
                    <a:cubicBezTo>
                      <a:pt x="135" y="14"/>
                      <a:pt x="143" y="18"/>
                      <a:pt x="143" y="20"/>
                    </a:cubicBezTo>
                    <a:cubicBezTo>
                      <a:pt x="143" y="23"/>
                      <a:pt x="138" y="29"/>
                      <a:pt x="134" y="33"/>
                    </a:cubicBezTo>
                    <a:cubicBezTo>
                      <a:pt x="128" y="40"/>
                      <a:pt x="122" y="48"/>
                      <a:pt x="119" y="57"/>
                    </a:cubicBezTo>
                    <a:cubicBezTo>
                      <a:pt x="80" y="57"/>
                      <a:pt x="80" y="57"/>
                      <a:pt x="80" y="57"/>
                    </a:cubicBezTo>
                    <a:cubicBezTo>
                      <a:pt x="78" y="48"/>
                      <a:pt x="71" y="40"/>
                      <a:pt x="65" y="33"/>
                    </a:cubicBezTo>
                    <a:close/>
                    <a:moveTo>
                      <a:pt x="100" y="248"/>
                    </a:moveTo>
                    <a:cubicBezTo>
                      <a:pt x="11" y="248"/>
                      <a:pt x="11" y="228"/>
                      <a:pt x="11" y="178"/>
                    </a:cubicBezTo>
                    <a:cubicBezTo>
                      <a:pt x="11" y="145"/>
                      <a:pt x="39" y="115"/>
                      <a:pt x="59" y="94"/>
                    </a:cubicBezTo>
                    <a:cubicBezTo>
                      <a:pt x="69" y="83"/>
                      <a:pt x="77" y="75"/>
                      <a:pt x="80" y="69"/>
                    </a:cubicBezTo>
                    <a:cubicBezTo>
                      <a:pt x="120" y="69"/>
                      <a:pt x="120" y="69"/>
                      <a:pt x="120" y="69"/>
                    </a:cubicBezTo>
                    <a:cubicBezTo>
                      <a:pt x="123" y="75"/>
                      <a:pt x="130" y="83"/>
                      <a:pt x="140" y="94"/>
                    </a:cubicBezTo>
                    <a:cubicBezTo>
                      <a:pt x="161" y="115"/>
                      <a:pt x="188" y="145"/>
                      <a:pt x="188" y="178"/>
                    </a:cubicBezTo>
                    <a:cubicBezTo>
                      <a:pt x="188" y="228"/>
                      <a:pt x="188" y="248"/>
                      <a:pt x="100" y="24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3" name="Freeform 81">
                <a:extLst>
                  <a:ext uri="{FF2B5EF4-FFF2-40B4-BE49-F238E27FC236}">
                    <a16:creationId xmlns:a16="http://schemas.microsoft.com/office/drawing/2014/main" id="{2975F9ED-BF34-D246-AFCC-87310FDAF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4" y="2073"/>
                <a:ext cx="73" cy="161"/>
              </a:xfrm>
              <a:custGeom>
                <a:avLst/>
                <a:gdLst>
                  <a:gd name="T0" fmla="*/ 24 w 48"/>
                  <a:gd name="T1" fmla="*/ 24 h 108"/>
                  <a:gd name="T2" fmla="*/ 24 w 48"/>
                  <a:gd name="T3" fmla="*/ 24 h 108"/>
                  <a:gd name="T4" fmla="*/ 24 w 48"/>
                  <a:gd name="T5" fmla="*/ 24 h 108"/>
                  <a:gd name="T6" fmla="*/ 36 w 48"/>
                  <a:gd name="T7" fmla="*/ 36 h 108"/>
                  <a:gd name="T8" fmla="*/ 42 w 48"/>
                  <a:gd name="T9" fmla="*/ 42 h 108"/>
                  <a:gd name="T10" fmla="*/ 48 w 48"/>
                  <a:gd name="T11" fmla="*/ 36 h 108"/>
                  <a:gd name="T12" fmla="*/ 30 w 48"/>
                  <a:gd name="T13" fmla="*/ 13 h 108"/>
                  <a:gd name="T14" fmla="*/ 30 w 48"/>
                  <a:gd name="T15" fmla="*/ 6 h 108"/>
                  <a:gd name="T16" fmla="*/ 24 w 48"/>
                  <a:gd name="T17" fmla="*/ 0 h 108"/>
                  <a:gd name="T18" fmla="*/ 18 w 48"/>
                  <a:gd name="T19" fmla="*/ 6 h 108"/>
                  <a:gd name="T20" fmla="*/ 18 w 48"/>
                  <a:gd name="T21" fmla="*/ 13 h 108"/>
                  <a:gd name="T22" fmla="*/ 0 w 48"/>
                  <a:gd name="T23" fmla="*/ 36 h 108"/>
                  <a:gd name="T24" fmla="*/ 24 w 48"/>
                  <a:gd name="T25" fmla="*/ 60 h 108"/>
                  <a:gd name="T26" fmla="*/ 36 w 48"/>
                  <a:gd name="T27" fmla="*/ 72 h 108"/>
                  <a:gd name="T28" fmla="*/ 24 w 48"/>
                  <a:gd name="T29" fmla="*/ 84 h 108"/>
                  <a:gd name="T30" fmla="*/ 12 w 48"/>
                  <a:gd name="T31" fmla="*/ 72 h 108"/>
                  <a:gd name="T32" fmla="*/ 6 w 48"/>
                  <a:gd name="T33" fmla="*/ 66 h 108"/>
                  <a:gd name="T34" fmla="*/ 0 w 48"/>
                  <a:gd name="T35" fmla="*/ 72 h 108"/>
                  <a:gd name="T36" fmla="*/ 0 w 48"/>
                  <a:gd name="T37" fmla="*/ 72 h 108"/>
                  <a:gd name="T38" fmla="*/ 18 w 48"/>
                  <a:gd name="T39" fmla="*/ 95 h 108"/>
                  <a:gd name="T40" fmla="*/ 18 w 48"/>
                  <a:gd name="T41" fmla="*/ 102 h 108"/>
                  <a:gd name="T42" fmla="*/ 24 w 48"/>
                  <a:gd name="T43" fmla="*/ 108 h 108"/>
                  <a:gd name="T44" fmla="*/ 30 w 48"/>
                  <a:gd name="T45" fmla="*/ 102 h 108"/>
                  <a:gd name="T46" fmla="*/ 30 w 48"/>
                  <a:gd name="T47" fmla="*/ 95 h 108"/>
                  <a:gd name="T48" fmla="*/ 48 w 48"/>
                  <a:gd name="T49" fmla="*/ 72 h 108"/>
                  <a:gd name="T50" fmla="*/ 24 w 48"/>
                  <a:gd name="T51" fmla="*/ 48 h 108"/>
                  <a:gd name="T52" fmla="*/ 12 w 48"/>
                  <a:gd name="T53" fmla="*/ 36 h 108"/>
                  <a:gd name="T54" fmla="*/ 24 w 48"/>
                  <a:gd name="T55" fmla="*/ 2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" h="108"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30" y="24"/>
                      <a:pt x="36" y="29"/>
                      <a:pt x="36" y="36"/>
                    </a:cubicBezTo>
                    <a:cubicBezTo>
                      <a:pt x="36" y="39"/>
                      <a:pt x="38" y="42"/>
                      <a:pt x="42" y="42"/>
                    </a:cubicBezTo>
                    <a:cubicBezTo>
                      <a:pt x="45" y="42"/>
                      <a:pt x="48" y="39"/>
                      <a:pt x="48" y="36"/>
                    </a:cubicBezTo>
                    <a:cubicBezTo>
                      <a:pt x="48" y="25"/>
                      <a:pt x="40" y="15"/>
                      <a:pt x="30" y="13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2"/>
                      <a:pt x="27" y="0"/>
                      <a:pt x="24" y="0"/>
                    </a:cubicBezTo>
                    <a:cubicBezTo>
                      <a:pt x="21" y="0"/>
                      <a:pt x="18" y="2"/>
                      <a:pt x="18" y="6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8" y="15"/>
                      <a:pt x="0" y="25"/>
                      <a:pt x="0" y="36"/>
                    </a:cubicBezTo>
                    <a:cubicBezTo>
                      <a:pt x="0" y="49"/>
                      <a:pt x="11" y="60"/>
                      <a:pt x="24" y="60"/>
                    </a:cubicBezTo>
                    <a:cubicBezTo>
                      <a:pt x="30" y="60"/>
                      <a:pt x="36" y="65"/>
                      <a:pt x="36" y="72"/>
                    </a:cubicBezTo>
                    <a:cubicBezTo>
                      <a:pt x="36" y="78"/>
                      <a:pt x="30" y="84"/>
                      <a:pt x="24" y="84"/>
                    </a:cubicBezTo>
                    <a:cubicBezTo>
                      <a:pt x="17" y="84"/>
                      <a:pt x="12" y="78"/>
                      <a:pt x="12" y="72"/>
                    </a:cubicBezTo>
                    <a:cubicBezTo>
                      <a:pt x="12" y="68"/>
                      <a:pt x="9" y="66"/>
                      <a:pt x="6" y="66"/>
                    </a:cubicBezTo>
                    <a:cubicBezTo>
                      <a:pt x="3" y="66"/>
                      <a:pt x="0" y="68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83"/>
                      <a:pt x="8" y="92"/>
                      <a:pt x="18" y="95"/>
                    </a:cubicBez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5"/>
                      <a:pt x="21" y="108"/>
                      <a:pt x="24" y="108"/>
                    </a:cubicBezTo>
                    <a:cubicBezTo>
                      <a:pt x="27" y="108"/>
                      <a:pt x="30" y="105"/>
                      <a:pt x="30" y="102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40" y="92"/>
                      <a:pt x="48" y="83"/>
                      <a:pt x="48" y="72"/>
                    </a:cubicBezTo>
                    <a:cubicBezTo>
                      <a:pt x="48" y="58"/>
                      <a:pt x="37" y="48"/>
                      <a:pt x="24" y="48"/>
                    </a:cubicBezTo>
                    <a:cubicBezTo>
                      <a:pt x="17" y="48"/>
                      <a:pt x="12" y="42"/>
                      <a:pt x="12" y="36"/>
                    </a:cubicBezTo>
                    <a:cubicBezTo>
                      <a:pt x="12" y="29"/>
                      <a:pt x="17" y="24"/>
                      <a:pt x="24" y="2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E32DE4-E0DC-FA42-81DE-958B1A4C028C}"/>
              </a:ext>
            </a:extLst>
          </p:cNvPr>
          <p:cNvGrpSpPr/>
          <p:nvPr/>
        </p:nvGrpSpPr>
        <p:grpSpPr>
          <a:xfrm>
            <a:off x="8929707" y="1376173"/>
            <a:ext cx="560388" cy="515938"/>
            <a:chOff x="8929707" y="1352423"/>
            <a:chExt cx="560388" cy="515938"/>
          </a:xfrm>
        </p:grpSpPr>
        <p:sp>
          <p:nvSpPr>
            <p:cNvPr id="34" name="Oval 66">
              <a:extLst>
                <a:ext uri="{FF2B5EF4-FFF2-40B4-BE49-F238E27FC236}">
                  <a16:creationId xmlns:a16="http://schemas.microsoft.com/office/drawing/2014/main" id="{2B9FD7CE-82B3-1942-81A1-FE2527EBC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707" y="1352423"/>
              <a:ext cx="560388" cy="5159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35" name="Group 32">
              <a:extLst>
                <a:ext uri="{FF2B5EF4-FFF2-40B4-BE49-F238E27FC236}">
                  <a16:creationId xmlns:a16="http://schemas.microsoft.com/office/drawing/2014/main" id="{D86523D2-DF6F-5D46-AD25-0B7081B12F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61919" y="1443433"/>
              <a:ext cx="331613" cy="343161"/>
              <a:chOff x="2603" y="672"/>
              <a:chExt cx="402" cy="416"/>
            </a:xfrm>
            <a:solidFill>
              <a:srgbClr val="053B48"/>
            </a:solidFill>
          </p:grpSpPr>
          <p:sp>
            <p:nvSpPr>
              <p:cNvPr id="36" name="Freeform 33">
                <a:extLst>
                  <a:ext uri="{FF2B5EF4-FFF2-40B4-BE49-F238E27FC236}">
                    <a16:creationId xmlns:a16="http://schemas.microsoft.com/office/drawing/2014/main" id="{AFA34EE5-1F21-F145-98E1-5E3C87E73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" y="672"/>
                <a:ext cx="159" cy="159"/>
              </a:xfrm>
              <a:custGeom>
                <a:avLst/>
                <a:gdLst>
                  <a:gd name="T0" fmla="*/ 102 w 104"/>
                  <a:gd name="T1" fmla="*/ 93 h 106"/>
                  <a:gd name="T2" fmla="*/ 104 w 104"/>
                  <a:gd name="T3" fmla="*/ 98 h 106"/>
                  <a:gd name="T4" fmla="*/ 102 w 104"/>
                  <a:gd name="T5" fmla="*/ 103 h 106"/>
                  <a:gd name="T6" fmla="*/ 92 w 104"/>
                  <a:gd name="T7" fmla="*/ 103 h 106"/>
                  <a:gd name="T8" fmla="*/ 52 w 104"/>
                  <a:gd name="T9" fmla="*/ 63 h 106"/>
                  <a:gd name="T10" fmla="*/ 12 w 104"/>
                  <a:gd name="T11" fmla="*/ 103 h 106"/>
                  <a:gd name="T12" fmla="*/ 2 w 104"/>
                  <a:gd name="T13" fmla="*/ 103 h 106"/>
                  <a:gd name="T14" fmla="*/ 0 w 104"/>
                  <a:gd name="T15" fmla="*/ 98 h 106"/>
                  <a:gd name="T16" fmla="*/ 2 w 104"/>
                  <a:gd name="T17" fmla="*/ 93 h 106"/>
                  <a:gd name="T18" fmla="*/ 42 w 104"/>
                  <a:gd name="T19" fmla="*/ 53 h 106"/>
                  <a:gd name="T20" fmla="*/ 2 w 104"/>
                  <a:gd name="T21" fmla="*/ 13 h 106"/>
                  <a:gd name="T22" fmla="*/ 0 w 104"/>
                  <a:gd name="T23" fmla="*/ 8 h 106"/>
                  <a:gd name="T24" fmla="*/ 2 w 104"/>
                  <a:gd name="T25" fmla="*/ 3 h 106"/>
                  <a:gd name="T26" fmla="*/ 12 w 104"/>
                  <a:gd name="T27" fmla="*/ 3 h 106"/>
                  <a:gd name="T28" fmla="*/ 52 w 104"/>
                  <a:gd name="T29" fmla="*/ 42 h 106"/>
                  <a:gd name="T30" fmla="*/ 92 w 104"/>
                  <a:gd name="T31" fmla="*/ 3 h 106"/>
                  <a:gd name="T32" fmla="*/ 102 w 104"/>
                  <a:gd name="T33" fmla="*/ 3 h 106"/>
                  <a:gd name="T34" fmla="*/ 104 w 104"/>
                  <a:gd name="T35" fmla="*/ 8 h 106"/>
                  <a:gd name="T36" fmla="*/ 102 w 104"/>
                  <a:gd name="T37" fmla="*/ 13 h 106"/>
                  <a:gd name="T38" fmla="*/ 62 w 104"/>
                  <a:gd name="T39" fmla="*/ 53 h 106"/>
                  <a:gd name="T40" fmla="*/ 102 w 104"/>
                  <a:gd name="T41" fmla="*/ 9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4" h="106">
                    <a:moveTo>
                      <a:pt x="102" y="93"/>
                    </a:moveTo>
                    <a:cubicBezTo>
                      <a:pt x="104" y="94"/>
                      <a:pt x="104" y="96"/>
                      <a:pt x="104" y="98"/>
                    </a:cubicBezTo>
                    <a:cubicBezTo>
                      <a:pt x="104" y="100"/>
                      <a:pt x="104" y="102"/>
                      <a:pt x="102" y="103"/>
                    </a:cubicBezTo>
                    <a:cubicBezTo>
                      <a:pt x="99" y="106"/>
                      <a:pt x="95" y="106"/>
                      <a:pt x="92" y="10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12" y="103"/>
                      <a:pt x="12" y="103"/>
                      <a:pt x="12" y="103"/>
                    </a:cubicBezTo>
                    <a:cubicBezTo>
                      <a:pt x="9" y="106"/>
                      <a:pt x="5" y="106"/>
                      <a:pt x="2" y="103"/>
                    </a:cubicBezTo>
                    <a:cubicBezTo>
                      <a:pt x="0" y="102"/>
                      <a:pt x="0" y="100"/>
                      <a:pt x="0" y="98"/>
                    </a:cubicBezTo>
                    <a:cubicBezTo>
                      <a:pt x="0" y="96"/>
                      <a:pt x="0" y="94"/>
                      <a:pt x="2" y="93"/>
                    </a:cubicBezTo>
                    <a:cubicBezTo>
                      <a:pt x="42" y="53"/>
                      <a:pt x="42" y="53"/>
                      <a:pt x="42" y="5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6"/>
                      <a:pt x="0" y="4"/>
                      <a:pt x="2" y="3"/>
                    </a:cubicBezTo>
                    <a:cubicBezTo>
                      <a:pt x="5" y="0"/>
                      <a:pt x="9" y="0"/>
                      <a:pt x="12" y="3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5" y="0"/>
                      <a:pt x="99" y="0"/>
                      <a:pt x="102" y="3"/>
                    </a:cubicBezTo>
                    <a:cubicBezTo>
                      <a:pt x="104" y="4"/>
                      <a:pt x="104" y="6"/>
                      <a:pt x="104" y="8"/>
                    </a:cubicBezTo>
                    <a:cubicBezTo>
                      <a:pt x="104" y="10"/>
                      <a:pt x="104" y="11"/>
                      <a:pt x="102" y="13"/>
                    </a:cubicBezTo>
                    <a:cubicBezTo>
                      <a:pt x="62" y="53"/>
                      <a:pt x="62" y="53"/>
                      <a:pt x="62" y="53"/>
                    </a:cubicBezTo>
                    <a:lnTo>
                      <a:pt x="102" y="9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7" name="Freeform 34">
                <a:extLst>
                  <a:ext uri="{FF2B5EF4-FFF2-40B4-BE49-F238E27FC236}">
                    <a16:creationId xmlns:a16="http://schemas.microsoft.com/office/drawing/2014/main" id="{7CD93254-7A0C-994D-B046-2558D6E63B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9" y="925"/>
                <a:ext cx="166" cy="163"/>
              </a:xfrm>
              <a:custGeom>
                <a:avLst/>
                <a:gdLst>
                  <a:gd name="T0" fmla="*/ 55 w 109"/>
                  <a:gd name="T1" fmla="*/ 0 h 109"/>
                  <a:gd name="T2" fmla="*/ 0 w 109"/>
                  <a:gd name="T3" fmla="*/ 54 h 109"/>
                  <a:gd name="T4" fmla="*/ 55 w 109"/>
                  <a:gd name="T5" fmla="*/ 109 h 109"/>
                  <a:gd name="T6" fmla="*/ 109 w 109"/>
                  <a:gd name="T7" fmla="*/ 54 h 109"/>
                  <a:gd name="T8" fmla="*/ 55 w 109"/>
                  <a:gd name="T9" fmla="*/ 0 h 109"/>
                  <a:gd name="T10" fmla="*/ 55 w 109"/>
                  <a:gd name="T11" fmla="*/ 94 h 109"/>
                  <a:gd name="T12" fmla="*/ 15 w 109"/>
                  <a:gd name="T13" fmla="*/ 54 h 109"/>
                  <a:gd name="T14" fmla="*/ 55 w 109"/>
                  <a:gd name="T15" fmla="*/ 14 h 109"/>
                  <a:gd name="T16" fmla="*/ 95 w 109"/>
                  <a:gd name="T17" fmla="*/ 54 h 109"/>
                  <a:gd name="T18" fmla="*/ 55 w 109"/>
                  <a:gd name="T19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09">
                    <a:moveTo>
                      <a:pt x="55" y="0"/>
                    </a:moveTo>
                    <a:cubicBezTo>
                      <a:pt x="25" y="0"/>
                      <a:pt x="0" y="24"/>
                      <a:pt x="0" y="54"/>
                    </a:cubicBezTo>
                    <a:cubicBezTo>
                      <a:pt x="0" y="84"/>
                      <a:pt x="25" y="109"/>
                      <a:pt x="55" y="109"/>
                    </a:cubicBezTo>
                    <a:cubicBezTo>
                      <a:pt x="85" y="109"/>
                      <a:pt x="109" y="84"/>
                      <a:pt x="109" y="54"/>
                    </a:cubicBezTo>
                    <a:cubicBezTo>
                      <a:pt x="109" y="24"/>
                      <a:pt x="85" y="0"/>
                      <a:pt x="55" y="0"/>
                    </a:cubicBezTo>
                    <a:close/>
                    <a:moveTo>
                      <a:pt x="55" y="94"/>
                    </a:moveTo>
                    <a:cubicBezTo>
                      <a:pt x="33" y="94"/>
                      <a:pt x="15" y="76"/>
                      <a:pt x="15" y="54"/>
                    </a:cubicBezTo>
                    <a:cubicBezTo>
                      <a:pt x="15" y="32"/>
                      <a:pt x="33" y="14"/>
                      <a:pt x="55" y="14"/>
                    </a:cubicBezTo>
                    <a:cubicBezTo>
                      <a:pt x="77" y="14"/>
                      <a:pt x="95" y="32"/>
                      <a:pt x="95" y="54"/>
                    </a:cubicBezTo>
                    <a:cubicBezTo>
                      <a:pt x="95" y="76"/>
                      <a:pt x="77" y="94"/>
                      <a:pt x="55" y="9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8" name="Freeform 35">
                <a:extLst>
                  <a:ext uri="{FF2B5EF4-FFF2-40B4-BE49-F238E27FC236}">
                    <a16:creationId xmlns:a16="http://schemas.microsoft.com/office/drawing/2014/main" id="{7970AE27-1616-6E46-8780-E0668C33F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750"/>
                <a:ext cx="295" cy="276"/>
              </a:xfrm>
              <a:custGeom>
                <a:avLst/>
                <a:gdLst>
                  <a:gd name="T0" fmla="*/ 193 w 193"/>
                  <a:gd name="T1" fmla="*/ 22 h 185"/>
                  <a:gd name="T2" fmla="*/ 193 w 193"/>
                  <a:gd name="T3" fmla="*/ 23 h 185"/>
                  <a:gd name="T4" fmla="*/ 192 w 193"/>
                  <a:gd name="T5" fmla="*/ 24 h 185"/>
                  <a:gd name="T6" fmla="*/ 192 w 193"/>
                  <a:gd name="T7" fmla="*/ 25 h 185"/>
                  <a:gd name="T8" fmla="*/ 192 w 193"/>
                  <a:gd name="T9" fmla="*/ 25 h 185"/>
                  <a:gd name="T10" fmla="*/ 164 w 193"/>
                  <a:gd name="T11" fmla="*/ 87 h 185"/>
                  <a:gd name="T12" fmla="*/ 154 w 193"/>
                  <a:gd name="T13" fmla="*/ 90 h 185"/>
                  <a:gd name="T14" fmla="*/ 150 w 193"/>
                  <a:gd name="T15" fmla="*/ 86 h 185"/>
                  <a:gd name="T16" fmla="*/ 151 w 193"/>
                  <a:gd name="T17" fmla="*/ 81 h 185"/>
                  <a:gd name="T18" fmla="*/ 172 w 193"/>
                  <a:gd name="T19" fmla="*/ 35 h 185"/>
                  <a:gd name="T20" fmla="*/ 161 w 193"/>
                  <a:gd name="T21" fmla="*/ 40 h 185"/>
                  <a:gd name="T22" fmla="*/ 15 w 193"/>
                  <a:gd name="T23" fmla="*/ 180 h 185"/>
                  <a:gd name="T24" fmla="*/ 5 w 193"/>
                  <a:gd name="T25" fmla="*/ 183 h 185"/>
                  <a:gd name="T26" fmla="*/ 2 w 193"/>
                  <a:gd name="T27" fmla="*/ 173 h 185"/>
                  <a:gd name="T28" fmla="*/ 147 w 193"/>
                  <a:gd name="T29" fmla="*/ 30 h 185"/>
                  <a:gd name="T30" fmla="*/ 160 w 193"/>
                  <a:gd name="T31" fmla="*/ 24 h 185"/>
                  <a:gd name="T32" fmla="*/ 113 w 193"/>
                  <a:gd name="T33" fmla="*/ 14 h 185"/>
                  <a:gd name="T34" fmla="*/ 109 w 193"/>
                  <a:gd name="T35" fmla="*/ 11 h 185"/>
                  <a:gd name="T36" fmla="*/ 108 w 193"/>
                  <a:gd name="T37" fmla="*/ 6 h 185"/>
                  <a:gd name="T38" fmla="*/ 111 w 193"/>
                  <a:gd name="T39" fmla="*/ 1 h 185"/>
                  <a:gd name="T40" fmla="*/ 115 w 193"/>
                  <a:gd name="T41" fmla="*/ 0 h 185"/>
                  <a:gd name="T42" fmla="*/ 116 w 193"/>
                  <a:gd name="T43" fmla="*/ 0 h 185"/>
                  <a:gd name="T44" fmla="*/ 187 w 193"/>
                  <a:gd name="T45" fmla="*/ 15 h 185"/>
                  <a:gd name="T46" fmla="*/ 187 w 193"/>
                  <a:gd name="T47" fmla="*/ 15 h 185"/>
                  <a:gd name="T48" fmla="*/ 188 w 193"/>
                  <a:gd name="T49" fmla="*/ 15 h 185"/>
                  <a:gd name="T50" fmla="*/ 189 w 193"/>
                  <a:gd name="T51" fmla="*/ 15 h 185"/>
                  <a:gd name="T52" fmla="*/ 191 w 193"/>
                  <a:gd name="T53" fmla="*/ 17 h 185"/>
                  <a:gd name="T54" fmla="*/ 191 w 193"/>
                  <a:gd name="T55" fmla="*/ 18 h 185"/>
                  <a:gd name="T56" fmla="*/ 192 w 193"/>
                  <a:gd name="T57" fmla="*/ 19 h 185"/>
                  <a:gd name="T58" fmla="*/ 192 w 193"/>
                  <a:gd name="T59" fmla="*/ 19 h 185"/>
                  <a:gd name="T60" fmla="*/ 192 w 193"/>
                  <a:gd name="T61" fmla="*/ 19 h 185"/>
                  <a:gd name="T62" fmla="*/ 192 w 193"/>
                  <a:gd name="T63" fmla="*/ 20 h 185"/>
                  <a:gd name="T64" fmla="*/ 193 w 193"/>
                  <a:gd name="T65" fmla="*/ 21 h 185"/>
                  <a:gd name="T66" fmla="*/ 193 w 193"/>
                  <a:gd name="T67" fmla="*/ 22 h 185"/>
                  <a:gd name="T68" fmla="*/ 193 w 193"/>
                  <a:gd name="T69" fmla="*/ 2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93" h="185">
                    <a:moveTo>
                      <a:pt x="193" y="22"/>
                    </a:moveTo>
                    <a:cubicBezTo>
                      <a:pt x="193" y="22"/>
                      <a:pt x="193" y="23"/>
                      <a:pt x="193" y="23"/>
                    </a:cubicBezTo>
                    <a:cubicBezTo>
                      <a:pt x="192" y="24"/>
                      <a:pt x="192" y="24"/>
                      <a:pt x="192" y="24"/>
                    </a:cubicBezTo>
                    <a:cubicBezTo>
                      <a:pt x="192" y="24"/>
                      <a:pt x="192" y="24"/>
                      <a:pt x="192" y="25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64" y="87"/>
                      <a:pt x="164" y="87"/>
                      <a:pt x="164" y="87"/>
                    </a:cubicBezTo>
                    <a:cubicBezTo>
                      <a:pt x="162" y="90"/>
                      <a:pt x="158" y="92"/>
                      <a:pt x="154" y="90"/>
                    </a:cubicBezTo>
                    <a:cubicBezTo>
                      <a:pt x="152" y="90"/>
                      <a:pt x="151" y="88"/>
                      <a:pt x="150" y="86"/>
                    </a:cubicBezTo>
                    <a:cubicBezTo>
                      <a:pt x="150" y="84"/>
                      <a:pt x="150" y="83"/>
                      <a:pt x="151" y="81"/>
                    </a:cubicBezTo>
                    <a:cubicBezTo>
                      <a:pt x="172" y="35"/>
                      <a:pt x="172" y="35"/>
                      <a:pt x="172" y="35"/>
                    </a:cubicBezTo>
                    <a:cubicBezTo>
                      <a:pt x="161" y="40"/>
                      <a:pt x="161" y="40"/>
                      <a:pt x="161" y="40"/>
                    </a:cubicBezTo>
                    <a:cubicBezTo>
                      <a:pt x="97" y="68"/>
                      <a:pt x="46" y="118"/>
                      <a:pt x="15" y="180"/>
                    </a:cubicBezTo>
                    <a:cubicBezTo>
                      <a:pt x="13" y="183"/>
                      <a:pt x="9" y="185"/>
                      <a:pt x="5" y="183"/>
                    </a:cubicBezTo>
                    <a:cubicBezTo>
                      <a:pt x="2" y="181"/>
                      <a:pt x="0" y="177"/>
                      <a:pt x="2" y="173"/>
                    </a:cubicBezTo>
                    <a:cubicBezTo>
                      <a:pt x="33" y="111"/>
                      <a:pt x="85" y="60"/>
                      <a:pt x="147" y="30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1" y="14"/>
                      <a:pt x="110" y="13"/>
                      <a:pt x="109" y="11"/>
                    </a:cubicBezTo>
                    <a:cubicBezTo>
                      <a:pt x="108" y="10"/>
                      <a:pt x="107" y="8"/>
                      <a:pt x="108" y="6"/>
                    </a:cubicBezTo>
                    <a:cubicBezTo>
                      <a:pt x="108" y="4"/>
                      <a:pt x="109" y="2"/>
                      <a:pt x="111" y="1"/>
                    </a:cubicBezTo>
                    <a:cubicBezTo>
                      <a:pt x="112" y="1"/>
                      <a:pt x="113" y="0"/>
                      <a:pt x="115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15"/>
                      <a:pt x="188" y="15"/>
                      <a:pt x="188" y="15"/>
                    </a:cubicBezTo>
                    <a:cubicBezTo>
                      <a:pt x="189" y="15"/>
                      <a:pt x="189" y="15"/>
                      <a:pt x="189" y="15"/>
                    </a:cubicBezTo>
                    <a:cubicBezTo>
                      <a:pt x="189" y="16"/>
                      <a:pt x="190" y="17"/>
                      <a:pt x="191" y="17"/>
                    </a:cubicBezTo>
                    <a:cubicBezTo>
                      <a:pt x="191" y="18"/>
                      <a:pt x="191" y="18"/>
                      <a:pt x="191" y="18"/>
                    </a:cubicBezTo>
                    <a:cubicBezTo>
                      <a:pt x="191" y="18"/>
                      <a:pt x="192" y="18"/>
                      <a:pt x="192" y="19"/>
                    </a:cubicBezTo>
                    <a:cubicBezTo>
                      <a:pt x="192" y="19"/>
                      <a:pt x="192" y="19"/>
                      <a:pt x="192" y="19"/>
                    </a:cubicBezTo>
                    <a:cubicBezTo>
                      <a:pt x="192" y="19"/>
                      <a:pt x="192" y="19"/>
                      <a:pt x="192" y="19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2" y="20"/>
                      <a:pt x="192" y="20"/>
                      <a:pt x="193" y="21"/>
                    </a:cubicBezTo>
                    <a:cubicBezTo>
                      <a:pt x="193" y="21"/>
                      <a:pt x="193" y="21"/>
                      <a:pt x="193" y="22"/>
                    </a:cubicBezTo>
                    <a:cubicBezTo>
                      <a:pt x="193" y="22"/>
                      <a:pt x="193" y="22"/>
                      <a:pt x="193" y="2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7F2805D-086A-864C-BD95-9C478A42546D}"/>
              </a:ext>
            </a:extLst>
          </p:cNvPr>
          <p:cNvGrpSpPr/>
          <p:nvPr/>
        </p:nvGrpSpPr>
        <p:grpSpPr>
          <a:xfrm>
            <a:off x="10713828" y="1395502"/>
            <a:ext cx="560388" cy="515938"/>
            <a:chOff x="10693774" y="1333096"/>
            <a:chExt cx="560388" cy="515938"/>
          </a:xfrm>
        </p:grpSpPr>
        <p:sp>
          <p:nvSpPr>
            <p:cNvPr id="41" name="Oval 66">
              <a:extLst>
                <a:ext uri="{FF2B5EF4-FFF2-40B4-BE49-F238E27FC236}">
                  <a16:creationId xmlns:a16="http://schemas.microsoft.com/office/drawing/2014/main" id="{FC8CA057-F25E-E849-8F6A-7E1C0514A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3774" y="1333096"/>
              <a:ext cx="560388" cy="5159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42" name="Group 61">
              <a:extLst>
                <a:ext uri="{FF2B5EF4-FFF2-40B4-BE49-F238E27FC236}">
                  <a16:creationId xmlns:a16="http://schemas.microsoft.com/office/drawing/2014/main" id="{A97D8E0B-CAB4-174A-BB66-6FD46031DB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38969" y="1497417"/>
              <a:ext cx="289086" cy="199935"/>
              <a:chOff x="6719" y="724"/>
              <a:chExt cx="441" cy="305"/>
            </a:xfrm>
            <a:solidFill>
              <a:srgbClr val="053B48"/>
            </a:solidFill>
          </p:grpSpPr>
          <p:sp>
            <p:nvSpPr>
              <p:cNvPr id="43" name="Freeform 62">
                <a:extLst>
                  <a:ext uri="{FF2B5EF4-FFF2-40B4-BE49-F238E27FC236}">
                    <a16:creationId xmlns:a16="http://schemas.microsoft.com/office/drawing/2014/main" id="{B8386E7E-37AB-C545-A60C-A50DE32D80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19" y="724"/>
                <a:ext cx="367" cy="233"/>
              </a:xfrm>
              <a:custGeom>
                <a:avLst/>
                <a:gdLst>
                  <a:gd name="T0" fmla="*/ 234 w 240"/>
                  <a:gd name="T1" fmla="*/ 156 h 156"/>
                  <a:gd name="T2" fmla="*/ 6 w 240"/>
                  <a:gd name="T3" fmla="*/ 156 h 156"/>
                  <a:gd name="T4" fmla="*/ 0 w 240"/>
                  <a:gd name="T5" fmla="*/ 150 h 156"/>
                  <a:gd name="T6" fmla="*/ 0 w 240"/>
                  <a:gd name="T7" fmla="*/ 6 h 156"/>
                  <a:gd name="T8" fmla="*/ 6 w 240"/>
                  <a:gd name="T9" fmla="*/ 0 h 156"/>
                  <a:gd name="T10" fmla="*/ 234 w 240"/>
                  <a:gd name="T11" fmla="*/ 0 h 156"/>
                  <a:gd name="T12" fmla="*/ 240 w 240"/>
                  <a:gd name="T13" fmla="*/ 6 h 156"/>
                  <a:gd name="T14" fmla="*/ 240 w 240"/>
                  <a:gd name="T15" fmla="*/ 150 h 156"/>
                  <a:gd name="T16" fmla="*/ 234 w 240"/>
                  <a:gd name="T17" fmla="*/ 156 h 156"/>
                  <a:gd name="T18" fmla="*/ 12 w 240"/>
                  <a:gd name="T19" fmla="*/ 144 h 156"/>
                  <a:gd name="T20" fmla="*/ 228 w 240"/>
                  <a:gd name="T21" fmla="*/ 144 h 156"/>
                  <a:gd name="T22" fmla="*/ 228 w 240"/>
                  <a:gd name="T23" fmla="*/ 12 h 156"/>
                  <a:gd name="T24" fmla="*/ 12 w 240"/>
                  <a:gd name="T25" fmla="*/ 12 h 156"/>
                  <a:gd name="T26" fmla="*/ 12 w 240"/>
                  <a:gd name="T27" fmla="*/ 14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0" h="156">
                    <a:moveTo>
                      <a:pt x="234" y="156"/>
                    </a:moveTo>
                    <a:cubicBezTo>
                      <a:pt x="6" y="156"/>
                      <a:pt x="6" y="156"/>
                      <a:pt x="6" y="156"/>
                    </a:cubicBez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3"/>
                      <a:pt x="240" y="6"/>
                    </a:cubicBezTo>
                    <a:cubicBezTo>
                      <a:pt x="240" y="150"/>
                      <a:pt x="240" y="150"/>
                      <a:pt x="240" y="150"/>
                    </a:cubicBezTo>
                    <a:cubicBezTo>
                      <a:pt x="240" y="153"/>
                      <a:pt x="238" y="156"/>
                      <a:pt x="234" y="156"/>
                    </a:cubicBezTo>
                    <a:close/>
                    <a:moveTo>
                      <a:pt x="12" y="144"/>
                    </a:moveTo>
                    <a:cubicBezTo>
                      <a:pt x="228" y="144"/>
                      <a:pt x="228" y="144"/>
                      <a:pt x="228" y="144"/>
                    </a:cubicBezTo>
                    <a:cubicBezTo>
                      <a:pt x="228" y="12"/>
                      <a:pt x="228" y="12"/>
                      <a:pt x="22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4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4" name="Freeform 760">
                <a:extLst>
                  <a:ext uri="{FF2B5EF4-FFF2-40B4-BE49-F238E27FC236}">
                    <a16:creationId xmlns:a16="http://schemas.microsoft.com/office/drawing/2014/main" id="{26BD2FEF-BD26-3349-A473-3E8986DBE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6" y="760"/>
                <a:ext cx="367" cy="233"/>
              </a:xfrm>
              <a:custGeom>
                <a:avLst/>
                <a:gdLst>
                  <a:gd name="T0" fmla="*/ 234 w 240"/>
                  <a:gd name="T1" fmla="*/ 156 h 156"/>
                  <a:gd name="T2" fmla="*/ 6 w 240"/>
                  <a:gd name="T3" fmla="*/ 156 h 156"/>
                  <a:gd name="T4" fmla="*/ 0 w 240"/>
                  <a:gd name="T5" fmla="*/ 150 h 156"/>
                  <a:gd name="T6" fmla="*/ 6 w 240"/>
                  <a:gd name="T7" fmla="*/ 144 h 156"/>
                  <a:gd name="T8" fmla="*/ 228 w 240"/>
                  <a:gd name="T9" fmla="*/ 144 h 156"/>
                  <a:gd name="T10" fmla="*/ 228 w 240"/>
                  <a:gd name="T11" fmla="*/ 6 h 156"/>
                  <a:gd name="T12" fmla="*/ 234 w 240"/>
                  <a:gd name="T13" fmla="*/ 0 h 156"/>
                  <a:gd name="T14" fmla="*/ 240 w 240"/>
                  <a:gd name="T15" fmla="*/ 6 h 156"/>
                  <a:gd name="T16" fmla="*/ 240 w 240"/>
                  <a:gd name="T17" fmla="*/ 150 h 156"/>
                  <a:gd name="T18" fmla="*/ 234 w 240"/>
                  <a:gd name="T19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0" h="156">
                    <a:moveTo>
                      <a:pt x="234" y="156"/>
                    </a:moveTo>
                    <a:cubicBezTo>
                      <a:pt x="6" y="156"/>
                      <a:pt x="6" y="156"/>
                      <a:pt x="6" y="156"/>
                    </a:cubicBezTo>
                    <a:cubicBezTo>
                      <a:pt x="3" y="156"/>
                      <a:pt x="0" y="153"/>
                      <a:pt x="0" y="150"/>
                    </a:cubicBezTo>
                    <a:cubicBezTo>
                      <a:pt x="0" y="147"/>
                      <a:pt x="3" y="144"/>
                      <a:pt x="6" y="144"/>
                    </a:cubicBezTo>
                    <a:cubicBezTo>
                      <a:pt x="228" y="144"/>
                      <a:pt x="228" y="144"/>
                      <a:pt x="228" y="144"/>
                    </a:cubicBezTo>
                    <a:cubicBezTo>
                      <a:pt x="228" y="6"/>
                      <a:pt x="228" y="6"/>
                      <a:pt x="228" y="6"/>
                    </a:cubicBezTo>
                    <a:cubicBezTo>
                      <a:pt x="228" y="3"/>
                      <a:pt x="231" y="0"/>
                      <a:pt x="234" y="0"/>
                    </a:cubicBezTo>
                    <a:cubicBezTo>
                      <a:pt x="238" y="0"/>
                      <a:pt x="240" y="3"/>
                      <a:pt x="240" y="6"/>
                    </a:cubicBezTo>
                    <a:cubicBezTo>
                      <a:pt x="240" y="150"/>
                      <a:pt x="240" y="150"/>
                      <a:pt x="240" y="150"/>
                    </a:cubicBezTo>
                    <a:cubicBezTo>
                      <a:pt x="240" y="153"/>
                      <a:pt x="238" y="156"/>
                      <a:pt x="234" y="156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5" name="Freeform 761">
                <a:extLst>
                  <a:ext uri="{FF2B5EF4-FFF2-40B4-BE49-F238E27FC236}">
                    <a16:creationId xmlns:a16="http://schemas.microsoft.com/office/drawing/2014/main" id="{6491DA6C-3391-5E4F-BB50-32539A8D0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3" y="796"/>
                <a:ext cx="367" cy="233"/>
              </a:xfrm>
              <a:custGeom>
                <a:avLst/>
                <a:gdLst>
                  <a:gd name="T0" fmla="*/ 234 w 240"/>
                  <a:gd name="T1" fmla="*/ 156 h 156"/>
                  <a:gd name="T2" fmla="*/ 6 w 240"/>
                  <a:gd name="T3" fmla="*/ 156 h 156"/>
                  <a:gd name="T4" fmla="*/ 0 w 240"/>
                  <a:gd name="T5" fmla="*/ 150 h 156"/>
                  <a:gd name="T6" fmla="*/ 6 w 240"/>
                  <a:gd name="T7" fmla="*/ 144 h 156"/>
                  <a:gd name="T8" fmla="*/ 228 w 240"/>
                  <a:gd name="T9" fmla="*/ 144 h 156"/>
                  <a:gd name="T10" fmla="*/ 228 w 240"/>
                  <a:gd name="T11" fmla="*/ 6 h 156"/>
                  <a:gd name="T12" fmla="*/ 234 w 240"/>
                  <a:gd name="T13" fmla="*/ 0 h 156"/>
                  <a:gd name="T14" fmla="*/ 240 w 240"/>
                  <a:gd name="T15" fmla="*/ 6 h 156"/>
                  <a:gd name="T16" fmla="*/ 240 w 240"/>
                  <a:gd name="T17" fmla="*/ 150 h 156"/>
                  <a:gd name="T18" fmla="*/ 234 w 240"/>
                  <a:gd name="T19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0" h="156">
                    <a:moveTo>
                      <a:pt x="234" y="156"/>
                    </a:moveTo>
                    <a:cubicBezTo>
                      <a:pt x="6" y="156"/>
                      <a:pt x="6" y="156"/>
                      <a:pt x="6" y="156"/>
                    </a:cubicBezTo>
                    <a:cubicBezTo>
                      <a:pt x="3" y="156"/>
                      <a:pt x="0" y="153"/>
                      <a:pt x="0" y="150"/>
                    </a:cubicBezTo>
                    <a:cubicBezTo>
                      <a:pt x="0" y="147"/>
                      <a:pt x="3" y="144"/>
                      <a:pt x="6" y="144"/>
                    </a:cubicBezTo>
                    <a:cubicBezTo>
                      <a:pt x="228" y="144"/>
                      <a:pt x="228" y="144"/>
                      <a:pt x="228" y="144"/>
                    </a:cubicBezTo>
                    <a:cubicBezTo>
                      <a:pt x="228" y="6"/>
                      <a:pt x="228" y="6"/>
                      <a:pt x="228" y="6"/>
                    </a:cubicBezTo>
                    <a:cubicBezTo>
                      <a:pt x="228" y="3"/>
                      <a:pt x="231" y="0"/>
                      <a:pt x="234" y="0"/>
                    </a:cubicBezTo>
                    <a:cubicBezTo>
                      <a:pt x="238" y="0"/>
                      <a:pt x="240" y="3"/>
                      <a:pt x="240" y="6"/>
                    </a:cubicBezTo>
                    <a:cubicBezTo>
                      <a:pt x="240" y="150"/>
                      <a:pt x="240" y="150"/>
                      <a:pt x="240" y="150"/>
                    </a:cubicBezTo>
                    <a:cubicBezTo>
                      <a:pt x="240" y="153"/>
                      <a:pt x="238" y="156"/>
                      <a:pt x="234" y="156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6" name="Freeform 762">
                <a:extLst>
                  <a:ext uri="{FF2B5EF4-FFF2-40B4-BE49-F238E27FC236}">
                    <a16:creationId xmlns:a16="http://schemas.microsoft.com/office/drawing/2014/main" id="{3E363B8A-26DF-BD41-9C05-A0112ED146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39" y="778"/>
                <a:ext cx="128" cy="125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7" name="Freeform 763">
                <a:extLst>
                  <a:ext uri="{FF2B5EF4-FFF2-40B4-BE49-F238E27FC236}">
                    <a16:creationId xmlns:a16="http://schemas.microsoft.com/office/drawing/2014/main" id="{B3C3E235-12D7-1E4D-AC89-08FDAAE9E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6" y="903"/>
                <a:ext cx="55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8" name="Freeform 764">
                <a:extLst>
                  <a:ext uri="{FF2B5EF4-FFF2-40B4-BE49-F238E27FC236}">
                    <a16:creationId xmlns:a16="http://schemas.microsoft.com/office/drawing/2014/main" id="{AA24A473-8F31-CE40-A508-8ABEBD2DC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5" y="760"/>
                <a:ext cx="55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56" name="TextBox 52">
            <a:extLst>
              <a:ext uri="{FF2B5EF4-FFF2-40B4-BE49-F238E27FC236}">
                <a16:creationId xmlns:a16="http://schemas.microsoft.com/office/drawing/2014/main" id="{0B052716-4A31-2148-8708-427C02684DBF}"/>
              </a:ext>
            </a:extLst>
          </p:cNvPr>
          <p:cNvSpPr txBox="1"/>
          <p:nvPr/>
        </p:nvSpPr>
        <p:spPr>
          <a:xfrm>
            <a:off x="1570610" y="986403"/>
            <a:ext cx="115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7F7F7F"/>
                </a:solidFill>
                <a:latin typeface="+mn-ea"/>
              </a:rPr>
              <a:t>预算管理</a:t>
            </a:r>
            <a:endParaRPr lang="en-US" sz="1400" b="1" dirty="0">
              <a:solidFill>
                <a:srgbClr val="7F7F7F"/>
              </a:solidFill>
              <a:latin typeface="+mn-ea"/>
            </a:endParaRPr>
          </a:p>
        </p:txBody>
      </p:sp>
      <p:sp>
        <p:nvSpPr>
          <p:cNvPr id="57" name="TextBox 52">
            <a:extLst>
              <a:ext uri="{FF2B5EF4-FFF2-40B4-BE49-F238E27FC236}">
                <a16:creationId xmlns:a16="http://schemas.microsoft.com/office/drawing/2014/main" id="{F02A091D-5609-4848-9E45-3E552EB6E0E2}"/>
              </a:ext>
            </a:extLst>
          </p:cNvPr>
          <p:cNvSpPr txBox="1"/>
          <p:nvPr/>
        </p:nvSpPr>
        <p:spPr>
          <a:xfrm>
            <a:off x="3334600" y="986403"/>
            <a:ext cx="115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D75823"/>
                </a:solidFill>
                <a:latin typeface="+mn-ea"/>
              </a:rPr>
              <a:t>营销计划</a:t>
            </a:r>
            <a:endParaRPr lang="en-US" sz="1400" b="1" dirty="0">
              <a:solidFill>
                <a:srgbClr val="D75823"/>
              </a:solidFill>
              <a:latin typeface="+mn-ea"/>
            </a:endParaRPr>
          </a:p>
        </p:txBody>
      </p:sp>
      <p:sp>
        <p:nvSpPr>
          <p:cNvPr id="58" name="TextBox 52">
            <a:extLst>
              <a:ext uri="{FF2B5EF4-FFF2-40B4-BE49-F238E27FC236}">
                <a16:creationId xmlns:a16="http://schemas.microsoft.com/office/drawing/2014/main" id="{888A118B-AB76-774F-8730-F5DF619FB362}"/>
              </a:ext>
            </a:extLst>
          </p:cNvPr>
          <p:cNvSpPr txBox="1"/>
          <p:nvPr/>
        </p:nvSpPr>
        <p:spPr>
          <a:xfrm>
            <a:off x="5084302" y="986403"/>
            <a:ext cx="115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采购管理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59" name="TextBox 52">
            <a:extLst>
              <a:ext uri="{FF2B5EF4-FFF2-40B4-BE49-F238E27FC236}">
                <a16:creationId xmlns:a16="http://schemas.microsoft.com/office/drawing/2014/main" id="{B24A3C55-43F3-114C-87FE-134B78AD7D50}"/>
              </a:ext>
            </a:extLst>
          </p:cNvPr>
          <p:cNvSpPr txBox="1"/>
          <p:nvPr/>
        </p:nvSpPr>
        <p:spPr>
          <a:xfrm>
            <a:off x="6819905" y="986403"/>
            <a:ext cx="1276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费用预估预提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0" name="TextBox 52">
            <a:extLst>
              <a:ext uri="{FF2B5EF4-FFF2-40B4-BE49-F238E27FC236}">
                <a16:creationId xmlns:a16="http://schemas.microsoft.com/office/drawing/2014/main" id="{92A49C49-743B-084E-8FA6-F1DBEE562D4D}"/>
              </a:ext>
            </a:extLst>
          </p:cNvPr>
          <p:cNvSpPr txBox="1"/>
          <p:nvPr/>
        </p:nvSpPr>
        <p:spPr>
          <a:xfrm>
            <a:off x="8626570" y="986403"/>
            <a:ext cx="115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结算对账</a:t>
            </a:r>
          </a:p>
        </p:txBody>
      </p:sp>
      <p:sp>
        <p:nvSpPr>
          <p:cNvPr id="61" name="TextBox 52">
            <a:extLst>
              <a:ext uri="{FF2B5EF4-FFF2-40B4-BE49-F238E27FC236}">
                <a16:creationId xmlns:a16="http://schemas.microsoft.com/office/drawing/2014/main" id="{41A61BDD-6B5D-0442-B0D7-248BEDAD1BFC}"/>
              </a:ext>
            </a:extLst>
          </p:cNvPr>
          <p:cNvSpPr txBox="1"/>
          <p:nvPr/>
        </p:nvSpPr>
        <p:spPr>
          <a:xfrm>
            <a:off x="10404846" y="986403"/>
            <a:ext cx="115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费用支出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857BB78-3296-D241-9CAE-F66B832840C1}"/>
              </a:ext>
            </a:extLst>
          </p:cNvPr>
          <p:cNvSpPr txBox="1"/>
          <p:nvPr/>
        </p:nvSpPr>
        <p:spPr>
          <a:xfrm>
            <a:off x="295167" y="13565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053B48"/>
                </a:solidFill>
                <a:latin typeface="+mn-ea"/>
              </a:rPr>
              <a:t>业财一期</a:t>
            </a:r>
            <a:endParaRPr kumimoji="1" lang="en-US" altLang="zh-CN" sz="1400" b="1" dirty="0">
              <a:solidFill>
                <a:srgbClr val="053B48"/>
              </a:solidFill>
              <a:latin typeface="+mn-ea"/>
            </a:endParaRPr>
          </a:p>
          <a:p>
            <a:pPr algn="ctr"/>
            <a:r>
              <a:rPr kumimoji="1" lang="zh-CN" altLang="en-US" sz="1400" b="1" dirty="0">
                <a:solidFill>
                  <a:srgbClr val="053B48"/>
                </a:solidFill>
                <a:latin typeface="+mn-ea"/>
              </a:rPr>
              <a:t>价值链</a:t>
            </a: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C0DCBDF3-B229-9747-A6E8-DE6B034DD911}"/>
              </a:ext>
            </a:extLst>
          </p:cNvPr>
          <p:cNvCxnSpPr>
            <a:cxnSpLocks/>
          </p:cNvCxnSpPr>
          <p:nvPr/>
        </p:nvCxnSpPr>
        <p:spPr>
          <a:xfrm>
            <a:off x="157163" y="2107609"/>
            <a:ext cx="3062550" cy="6799"/>
          </a:xfrm>
          <a:prstGeom prst="line">
            <a:avLst/>
          </a:prstGeom>
          <a:ln w="9525">
            <a:solidFill>
              <a:srgbClr val="48B9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A275A063-2E17-244F-870A-6DAEEFE5E583}"/>
              </a:ext>
            </a:extLst>
          </p:cNvPr>
          <p:cNvCxnSpPr>
            <a:cxnSpLocks/>
          </p:cNvCxnSpPr>
          <p:nvPr/>
        </p:nvCxnSpPr>
        <p:spPr>
          <a:xfrm>
            <a:off x="4740301" y="2107609"/>
            <a:ext cx="7272896" cy="0"/>
          </a:xfrm>
          <a:prstGeom prst="line">
            <a:avLst/>
          </a:prstGeom>
          <a:ln w="9525">
            <a:solidFill>
              <a:srgbClr val="48B9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82C4A69-50D4-7B45-B170-7E8BCB334CF7}"/>
              </a:ext>
            </a:extLst>
          </p:cNvPr>
          <p:cNvGrpSpPr/>
          <p:nvPr/>
        </p:nvGrpSpPr>
        <p:grpSpPr>
          <a:xfrm>
            <a:off x="3219713" y="2111820"/>
            <a:ext cx="1520588" cy="160004"/>
            <a:chOff x="2991108" y="2111820"/>
            <a:chExt cx="1520588" cy="160004"/>
          </a:xfrm>
        </p:grpSpPr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6AE6AFF5-30C8-614C-AE22-314CC5712A49}"/>
                </a:ext>
              </a:extLst>
            </p:cNvPr>
            <p:cNvCxnSpPr>
              <a:cxnSpLocks/>
            </p:cNvCxnSpPr>
            <p:nvPr/>
          </p:nvCxnSpPr>
          <p:spPr>
            <a:xfrm>
              <a:off x="2991108" y="2119626"/>
              <a:ext cx="755226" cy="152198"/>
            </a:xfrm>
            <a:prstGeom prst="line">
              <a:avLst/>
            </a:prstGeom>
            <a:ln w="9525">
              <a:solidFill>
                <a:srgbClr val="48B9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BBA4D44F-6A08-2449-A2C0-57A7B6C8C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9622" y="2111820"/>
              <a:ext cx="772074" cy="156958"/>
            </a:xfrm>
            <a:prstGeom prst="line">
              <a:avLst/>
            </a:prstGeom>
            <a:ln w="9525">
              <a:solidFill>
                <a:srgbClr val="48B9B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矩形 80">
            <a:extLst>
              <a:ext uri="{FF2B5EF4-FFF2-40B4-BE49-F238E27FC236}">
                <a16:creationId xmlns:a16="http://schemas.microsoft.com/office/drawing/2014/main" id="{BCBC7DC8-B9F1-9046-B32A-6CBD8229B618}"/>
              </a:ext>
            </a:extLst>
          </p:cNvPr>
          <p:cNvSpPr/>
          <p:nvPr/>
        </p:nvSpPr>
        <p:spPr>
          <a:xfrm>
            <a:off x="4554837" y="4107148"/>
            <a:ext cx="7105217" cy="22748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800"/>
              <a:t>费用预估</a:t>
            </a:r>
            <a:endParaRPr lang="en-US" altLang="zh-CN" sz="1800" dirty="0"/>
          </a:p>
        </p:txBody>
      </p:sp>
      <p:cxnSp>
        <p:nvCxnSpPr>
          <p:cNvPr id="82" name="直接连接符 3">
            <a:extLst>
              <a:ext uri="{FF2B5EF4-FFF2-40B4-BE49-F238E27FC236}">
                <a16:creationId xmlns:a16="http://schemas.microsoft.com/office/drawing/2014/main" id="{026FEBAC-F180-5547-ADF9-DC2C9728A929}"/>
              </a:ext>
            </a:extLst>
          </p:cNvPr>
          <p:cNvCxnSpPr>
            <a:cxnSpLocks/>
          </p:cNvCxnSpPr>
          <p:nvPr/>
        </p:nvCxnSpPr>
        <p:spPr>
          <a:xfrm>
            <a:off x="426634" y="2996779"/>
            <a:ext cx="113910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50">
            <a:extLst>
              <a:ext uri="{FF2B5EF4-FFF2-40B4-BE49-F238E27FC236}">
                <a16:creationId xmlns:a16="http://schemas.microsoft.com/office/drawing/2014/main" id="{52690DF1-5E9A-C44F-B018-5F12DE40E0A1}"/>
              </a:ext>
            </a:extLst>
          </p:cNvPr>
          <p:cNvCxnSpPr>
            <a:cxnSpLocks/>
          </p:cNvCxnSpPr>
          <p:nvPr/>
        </p:nvCxnSpPr>
        <p:spPr>
          <a:xfrm>
            <a:off x="426634" y="3901257"/>
            <a:ext cx="113910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D0C64AA3-FEA9-B545-86CC-D84A937B9EC6}"/>
              </a:ext>
            </a:extLst>
          </p:cNvPr>
          <p:cNvSpPr txBox="1"/>
          <p:nvPr/>
        </p:nvSpPr>
        <p:spPr>
          <a:xfrm>
            <a:off x="2457500" y="2464075"/>
            <a:ext cx="1217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临时计划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A70DA79-9ACB-1349-B16F-C9BDD9D60D35}"/>
              </a:ext>
            </a:extLst>
          </p:cNvPr>
          <p:cNvSpPr txBox="1"/>
          <p:nvPr/>
        </p:nvSpPr>
        <p:spPr>
          <a:xfrm>
            <a:off x="5487285" y="2464075"/>
            <a:ext cx="1085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重大计划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037242A-D8E5-304B-B9A3-C2A3E620D479}"/>
              </a:ext>
            </a:extLst>
          </p:cNvPr>
          <p:cNvSpPr txBox="1"/>
          <p:nvPr/>
        </p:nvSpPr>
        <p:spPr>
          <a:xfrm>
            <a:off x="8446153" y="2464075"/>
            <a:ext cx="1217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日常计划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DDC83B0-0B8E-454E-98BB-EF118108D615}"/>
              </a:ext>
            </a:extLst>
          </p:cNvPr>
          <p:cNvSpPr txBox="1"/>
          <p:nvPr/>
        </p:nvSpPr>
        <p:spPr>
          <a:xfrm>
            <a:off x="2333740" y="3454232"/>
            <a:ext cx="1415919" cy="276999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占用预算总包</a:t>
            </a:r>
            <a:endParaRPr lang="en-US" altLang="zh-CN" sz="1200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72E5F9C-407A-7C4B-90E0-7BCDB1A56ABC}"/>
              </a:ext>
            </a:extLst>
          </p:cNvPr>
          <p:cNvSpPr txBox="1"/>
          <p:nvPr/>
        </p:nvSpPr>
        <p:spPr>
          <a:xfrm>
            <a:off x="5229485" y="3454232"/>
            <a:ext cx="1601338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zh-CN" altLang="en-US" dirty="0"/>
              <a:t>实际使用预算总包</a:t>
            </a:r>
            <a:endParaRPr lang="en-US" altLang="zh-CN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A739AAD-B0FF-CC4C-B2C1-52702C614123}"/>
              </a:ext>
            </a:extLst>
          </p:cNvPr>
          <p:cNvSpPr txBox="1"/>
          <p:nvPr/>
        </p:nvSpPr>
        <p:spPr>
          <a:xfrm>
            <a:off x="8344589" y="3454232"/>
            <a:ext cx="1415919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 algn="ctr">
              <a:buNone/>
            </a:pPr>
            <a:r>
              <a:rPr lang="zh-CN" altLang="en-US" dirty="0"/>
              <a:t>部门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33FD60F-2A0B-EE44-A4B9-2615F6FBBE31}"/>
              </a:ext>
            </a:extLst>
          </p:cNvPr>
          <p:cNvSpPr txBox="1"/>
          <p:nvPr/>
        </p:nvSpPr>
        <p:spPr>
          <a:xfrm>
            <a:off x="487738" y="2464075"/>
            <a:ext cx="1175519" cy="30777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200" b="1">
                <a:solidFill>
                  <a:srgbClr val="0FA7D9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olidFill>
                  <a:srgbClr val="D75823"/>
                </a:solidFill>
              </a:rPr>
              <a:t>营销计划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F496461-1B6F-C448-9E75-3AA3118CDD27}"/>
              </a:ext>
            </a:extLst>
          </p:cNvPr>
          <p:cNvSpPr txBox="1"/>
          <p:nvPr/>
        </p:nvSpPr>
        <p:spPr>
          <a:xfrm>
            <a:off x="367539" y="3429869"/>
            <a:ext cx="1415919" cy="30777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200" b="1">
                <a:solidFill>
                  <a:srgbClr val="0FA7D9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olidFill>
                  <a:srgbClr val="D75823"/>
                </a:solidFill>
              </a:rPr>
              <a:t>核心组成字段</a:t>
            </a:r>
          </a:p>
        </p:txBody>
      </p:sp>
      <p:cxnSp>
        <p:nvCxnSpPr>
          <p:cNvPr id="94" name="连接符: 肘形 70">
            <a:extLst>
              <a:ext uri="{FF2B5EF4-FFF2-40B4-BE49-F238E27FC236}">
                <a16:creationId xmlns:a16="http://schemas.microsoft.com/office/drawing/2014/main" id="{EEBD901A-E6E1-3847-BEC3-55DDD2C75862}"/>
              </a:ext>
            </a:extLst>
          </p:cNvPr>
          <p:cNvCxnSpPr>
            <a:cxnSpLocks/>
            <a:stCxn id="87" idx="2"/>
            <a:endCxn id="89" idx="0"/>
          </p:cNvCxnSpPr>
          <p:nvPr/>
        </p:nvCxnSpPr>
        <p:spPr>
          <a:xfrm rot="5400000">
            <a:off x="4179349" y="1603426"/>
            <a:ext cx="713158" cy="29884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74">
            <a:extLst>
              <a:ext uri="{FF2B5EF4-FFF2-40B4-BE49-F238E27FC236}">
                <a16:creationId xmlns:a16="http://schemas.microsoft.com/office/drawing/2014/main" id="{870645B0-D0BA-7147-96B5-E3A84D233C3A}"/>
              </a:ext>
            </a:extLst>
          </p:cNvPr>
          <p:cNvCxnSpPr>
            <a:cxnSpLocks/>
            <a:stCxn id="87" idx="2"/>
            <a:endCxn id="90" idx="0"/>
          </p:cNvCxnSpPr>
          <p:nvPr/>
        </p:nvCxnSpPr>
        <p:spPr>
          <a:xfrm rot="5400000">
            <a:off x="5673576" y="3097653"/>
            <a:ext cx="713158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75">
            <a:extLst>
              <a:ext uri="{FF2B5EF4-FFF2-40B4-BE49-F238E27FC236}">
                <a16:creationId xmlns:a16="http://schemas.microsoft.com/office/drawing/2014/main" id="{F54740A2-44CA-F240-8461-A76F4EC105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6211" y="1597894"/>
            <a:ext cx="694248" cy="3018429"/>
          </a:xfrm>
          <a:prstGeom prst="bentConnector3">
            <a:avLst>
              <a:gd name="adj1" fmla="val 4832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8E2423EF-8C76-B54B-A7E5-A1DAFEDFC5E0}"/>
              </a:ext>
            </a:extLst>
          </p:cNvPr>
          <p:cNvSpPr txBox="1"/>
          <p:nvPr/>
        </p:nvSpPr>
        <p:spPr>
          <a:xfrm>
            <a:off x="353693" y="5063319"/>
            <a:ext cx="1415919" cy="30777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200" b="1">
                <a:solidFill>
                  <a:srgbClr val="0FA7D9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olidFill>
                  <a:srgbClr val="D75823"/>
                </a:solidFill>
              </a:rPr>
              <a:t>数据来源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AC9256D-AF24-F34E-84A8-31AE3A3A30E3}"/>
              </a:ext>
            </a:extLst>
          </p:cNvPr>
          <p:cNvGrpSpPr/>
          <p:nvPr/>
        </p:nvGrpSpPr>
        <p:grpSpPr>
          <a:xfrm>
            <a:off x="2061374" y="4224200"/>
            <a:ext cx="2493463" cy="1986015"/>
            <a:chOff x="2847145" y="4395062"/>
            <a:chExt cx="2221459" cy="1986015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C597A90-377D-9E48-94CF-5845D3EEC33F}"/>
                </a:ext>
              </a:extLst>
            </p:cNvPr>
            <p:cNvSpPr txBox="1">
              <a:spLocks/>
            </p:cNvSpPr>
            <p:nvPr/>
          </p:nvSpPr>
          <p:spPr>
            <a:xfrm>
              <a:off x="2847145" y="4903179"/>
              <a:ext cx="174676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/>
                <a:t>预算科目</a:t>
              </a:r>
              <a:endParaRPr lang="en-US" altLang="zh-CN" sz="1200" dirty="0"/>
            </a:p>
            <a:p>
              <a:r>
                <a:rPr lang="zh-CN" altLang="en-US" sz="1200" dirty="0"/>
                <a:t>活动占用的预算科目</a:t>
              </a:r>
              <a:endParaRPr lang="en-US" altLang="zh-CN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17B13E4-ABE6-784F-9C4D-34FFD95DBA7E}"/>
                </a:ext>
              </a:extLst>
            </p:cNvPr>
            <p:cNvSpPr txBox="1">
              <a:spLocks/>
            </p:cNvSpPr>
            <p:nvPr/>
          </p:nvSpPr>
          <p:spPr>
            <a:xfrm>
              <a:off x="2847145" y="5411296"/>
              <a:ext cx="222145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/>
                <a:t>预算部门</a:t>
              </a:r>
              <a:endParaRPr lang="en-US" altLang="zh-CN" sz="1200" dirty="0"/>
            </a:p>
            <a:p>
              <a:r>
                <a:rPr lang="zh-CN" altLang="en-US" sz="1200" dirty="0"/>
                <a:t>预算所属部门</a:t>
              </a:r>
              <a:r>
                <a:rPr lang="en-US" altLang="zh-CN" sz="1200" dirty="0"/>
                <a:t>,</a:t>
              </a:r>
              <a:r>
                <a:rPr lang="zh-CN" altLang="en-US" sz="1200" dirty="0"/>
                <a:t>控制数据权限</a:t>
              </a:r>
              <a:endParaRPr lang="en-US" altLang="zh-CN" sz="120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B506509D-25F9-5F47-A156-CC76309E544D}"/>
                </a:ext>
              </a:extLst>
            </p:cNvPr>
            <p:cNvSpPr txBox="1">
              <a:spLocks/>
            </p:cNvSpPr>
            <p:nvPr/>
          </p:nvSpPr>
          <p:spPr>
            <a:xfrm>
              <a:off x="2847145" y="4395062"/>
              <a:ext cx="174676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/>
                <a:t>营销活动</a:t>
              </a:r>
              <a:endParaRPr lang="en-US" altLang="zh-CN" sz="1200" dirty="0"/>
            </a:p>
            <a:p>
              <a:r>
                <a:rPr lang="zh-CN" altLang="en-US" sz="1200" dirty="0"/>
                <a:t>营销计划对应多个活动</a:t>
              </a:r>
              <a:endParaRPr lang="en-US" altLang="zh-CN" sz="120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F755B140-BCD0-B341-BD13-C28FCDCB51D8}"/>
                </a:ext>
              </a:extLst>
            </p:cNvPr>
            <p:cNvSpPr txBox="1">
              <a:spLocks/>
            </p:cNvSpPr>
            <p:nvPr/>
          </p:nvSpPr>
          <p:spPr>
            <a:xfrm>
              <a:off x="2847145" y="5919412"/>
              <a:ext cx="1746769" cy="461665"/>
            </a:xfrm>
            <a:prstGeom prst="rect">
              <a:avLst/>
            </a:prstGeom>
            <a:solidFill>
              <a:srgbClr val="F8F8F8"/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/>
                <a:t>预估预算</a:t>
              </a:r>
              <a:endParaRPr lang="en-US" altLang="zh-CN" sz="1200" dirty="0"/>
            </a:p>
            <a:p>
              <a:r>
                <a:rPr lang="zh-CN" altLang="en-US" sz="1200" dirty="0"/>
                <a:t>活动具体占用的预算数</a:t>
              </a:r>
              <a:endParaRPr lang="en-US" altLang="zh-CN" sz="1200" dirty="0"/>
            </a:p>
          </p:txBody>
        </p:sp>
      </p:grpSp>
      <p:cxnSp>
        <p:nvCxnSpPr>
          <p:cNvPr id="103" name="直接箭头连接符 107">
            <a:extLst>
              <a:ext uri="{FF2B5EF4-FFF2-40B4-BE49-F238E27FC236}">
                <a16:creationId xmlns:a16="http://schemas.microsoft.com/office/drawing/2014/main" id="{0461E681-9466-FF4C-943D-3F3AC21B6CBB}"/>
              </a:ext>
            </a:extLst>
          </p:cNvPr>
          <p:cNvCxnSpPr>
            <a:cxnSpLocks/>
            <a:stCxn id="89" idx="2"/>
            <a:endCxn id="101" idx="0"/>
          </p:cNvCxnSpPr>
          <p:nvPr/>
        </p:nvCxnSpPr>
        <p:spPr>
          <a:xfrm>
            <a:off x="3041700" y="3731231"/>
            <a:ext cx="0" cy="492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57C635A-C893-B247-98BA-314674098CE1}"/>
              </a:ext>
            </a:extLst>
          </p:cNvPr>
          <p:cNvSpPr txBox="1">
            <a:spLocks/>
          </p:cNvSpPr>
          <p:nvPr/>
        </p:nvSpPr>
        <p:spPr>
          <a:xfrm>
            <a:off x="4963903" y="4755543"/>
            <a:ext cx="213250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费用预估</a:t>
            </a:r>
            <a:endParaRPr lang="en-US" altLang="zh-CN" sz="1200" dirty="0"/>
          </a:p>
          <a:p>
            <a:r>
              <a:rPr lang="zh-CN" altLang="en-US" sz="1200" dirty="0"/>
              <a:t>执行过程中的预估费用</a:t>
            </a:r>
            <a:endParaRPr lang="en-US" altLang="zh-CN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3AAC80F-212F-674E-929F-8057BA687238}"/>
              </a:ext>
            </a:extLst>
          </p:cNvPr>
          <p:cNvSpPr txBox="1">
            <a:spLocks/>
          </p:cNvSpPr>
          <p:nvPr/>
        </p:nvSpPr>
        <p:spPr>
          <a:xfrm>
            <a:off x="4963903" y="5263660"/>
            <a:ext cx="213250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PO</a:t>
            </a:r>
            <a:r>
              <a:rPr lang="zh-CN" altLang="en-US" sz="1200" dirty="0"/>
              <a:t>执行单</a:t>
            </a:r>
            <a:endParaRPr lang="en-US" altLang="zh-CN" sz="1200" dirty="0"/>
          </a:p>
          <a:p>
            <a:r>
              <a:rPr lang="zh-CN" altLang="en-US" sz="1200" dirty="0"/>
              <a:t>执行过程中的预估费用</a:t>
            </a:r>
            <a:endParaRPr lang="en-US" altLang="zh-CN" sz="1200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41E6A12-3ED1-7C49-B1BE-1295649B8A5D}"/>
              </a:ext>
            </a:extLst>
          </p:cNvPr>
          <p:cNvSpPr txBox="1">
            <a:spLocks/>
          </p:cNvSpPr>
          <p:nvPr/>
        </p:nvSpPr>
        <p:spPr>
          <a:xfrm>
            <a:off x="4963903" y="4247426"/>
            <a:ext cx="213250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关联合同</a:t>
            </a:r>
            <a:endParaRPr lang="en-US" altLang="zh-CN" sz="1200" dirty="0"/>
          </a:p>
          <a:p>
            <a:r>
              <a:rPr lang="zh-CN" altLang="en-US" sz="1200" dirty="0"/>
              <a:t>合同对应的结算方式</a:t>
            </a:r>
            <a:endParaRPr lang="en-US" altLang="zh-CN" sz="1200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3DAD250-E447-CC4D-87EF-BC78E8BB3147}"/>
              </a:ext>
            </a:extLst>
          </p:cNvPr>
          <p:cNvSpPr txBox="1">
            <a:spLocks/>
          </p:cNvSpPr>
          <p:nvPr/>
        </p:nvSpPr>
        <p:spPr>
          <a:xfrm>
            <a:off x="4963903" y="5771776"/>
            <a:ext cx="213250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实际履约</a:t>
            </a:r>
            <a:endParaRPr lang="en-US" altLang="zh-CN" sz="1200" dirty="0"/>
          </a:p>
          <a:p>
            <a:r>
              <a:rPr lang="zh-CN" altLang="en-US" sz="1200" dirty="0"/>
              <a:t>合同履约详情</a:t>
            </a:r>
            <a:endParaRPr lang="en-US" altLang="zh-CN" sz="1200" dirty="0"/>
          </a:p>
        </p:txBody>
      </p:sp>
      <p:cxnSp>
        <p:nvCxnSpPr>
          <p:cNvPr id="108" name="直接箭头连接符 120">
            <a:extLst>
              <a:ext uri="{FF2B5EF4-FFF2-40B4-BE49-F238E27FC236}">
                <a16:creationId xmlns:a16="http://schemas.microsoft.com/office/drawing/2014/main" id="{D5604BA8-169A-F04F-8076-C9ABE57D6AD0}"/>
              </a:ext>
            </a:extLst>
          </p:cNvPr>
          <p:cNvCxnSpPr>
            <a:cxnSpLocks/>
            <a:stCxn id="90" idx="2"/>
            <a:endCxn id="106" idx="0"/>
          </p:cNvCxnSpPr>
          <p:nvPr/>
        </p:nvCxnSpPr>
        <p:spPr>
          <a:xfrm>
            <a:off x="6030155" y="3731231"/>
            <a:ext cx="0" cy="51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FEAE3E7-6506-3A47-A08C-FE6DC51A715A}"/>
              </a:ext>
            </a:extLst>
          </p:cNvPr>
          <p:cNvSpPr txBox="1">
            <a:spLocks/>
          </p:cNvSpPr>
          <p:nvPr/>
        </p:nvSpPr>
        <p:spPr>
          <a:xfrm>
            <a:off x="9819277" y="3450955"/>
            <a:ext cx="1998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zh-CN" altLang="en-US" dirty="0"/>
              <a:t>组织</a:t>
            </a:r>
            <a:r>
              <a:rPr lang="en-US" altLang="zh-CN" dirty="0"/>
              <a:t>:</a:t>
            </a:r>
            <a:r>
              <a:rPr lang="zh-CN" altLang="en-US" dirty="0"/>
              <a:t>花西子行政组织</a:t>
            </a:r>
            <a:endParaRPr lang="en-US" altLang="zh-CN" dirty="0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9449071E-7F82-B14C-88C9-2A6E0D929EA6}"/>
              </a:ext>
            </a:extLst>
          </p:cNvPr>
          <p:cNvGrpSpPr/>
          <p:nvPr/>
        </p:nvGrpSpPr>
        <p:grpSpPr>
          <a:xfrm>
            <a:off x="7862454" y="4230817"/>
            <a:ext cx="3628786" cy="736068"/>
            <a:chOff x="7874554" y="4388068"/>
            <a:chExt cx="3628786" cy="736068"/>
          </a:xfrm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B9A7117-EE1D-1947-A1E8-88752EA293ED}"/>
                </a:ext>
              </a:extLst>
            </p:cNvPr>
            <p:cNvSpPr txBox="1"/>
            <p:nvPr/>
          </p:nvSpPr>
          <p:spPr>
            <a:xfrm>
              <a:off x="7874554" y="4724026"/>
              <a:ext cx="36287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※</a:t>
              </a:r>
              <a:r>
                <a:rPr lang="zh-CN" altLang="en-US" sz="1000" dirty="0"/>
                <a:t>费用预估</a:t>
              </a:r>
              <a:r>
                <a:rPr lang="en-US" altLang="zh-CN" sz="1000" dirty="0"/>
                <a:t>=</a:t>
              </a:r>
              <a:r>
                <a:rPr lang="zh-CN" altLang="en-US" sz="1000" dirty="0"/>
                <a:t>汇总标准账单</a:t>
              </a:r>
              <a:endParaRPr lang="en-US" altLang="zh-CN" sz="1000" dirty="0"/>
            </a:p>
            <a:p>
              <a:r>
                <a:rPr lang="en-US" altLang="zh-CN" sz="1000" dirty="0"/>
                <a:t>※</a:t>
              </a:r>
              <a:r>
                <a:rPr lang="zh-CN" altLang="en-US" sz="1000" dirty="0"/>
                <a:t>标准账单 </a:t>
              </a:r>
              <a:r>
                <a:rPr lang="en-US" altLang="zh-CN" sz="1000" dirty="0"/>
                <a:t>= </a:t>
              </a:r>
              <a:r>
                <a:rPr lang="zh-CN" altLang="en-US" sz="1000" dirty="0"/>
                <a:t>业务账单明细</a:t>
              </a:r>
              <a:r>
                <a:rPr lang="en-US" altLang="zh-CN" sz="1000" dirty="0"/>
                <a:t>+</a:t>
              </a:r>
              <a:r>
                <a:rPr lang="zh-CN" altLang="en-US" sz="1000" dirty="0"/>
                <a:t>资金账单明细</a:t>
              </a:r>
              <a:r>
                <a:rPr lang="en-US" altLang="zh-CN" sz="1000" dirty="0"/>
                <a:t>+</a:t>
              </a:r>
              <a:r>
                <a:rPr lang="zh-CN" altLang="en-US" sz="1000" dirty="0"/>
                <a:t>合同结算方式</a:t>
              </a:r>
              <a:endParaRPr lang="en-US" altLang="zh-CN" sz="1000" dirty="0"/>
            </a:p>
          </p:txBody>
        </p: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0DEC8F0D-F537-4848-AC81-0AA35E1E66B5}"/>
                </a:ext>
              </a:extLst>
            </p:cNvPr>
            <p:cNvGrpSpPr/>
            <p:nvPr/>
          </p:nvGrpSpPr>
          <p:grpSpPr>
            <a:xfrm>
              <a:off x="7881146" y="4388068"/>
              <a:ext cx="1414747" cy="334801"/>
              <a:chOff x="7881146" y="4388068"/>
              <a:chExt cx="1414747" cy="334801"/>
            </a:xfrm>
            <a:solidFill>
              <a:srgbClr val="48B8B3"/>
            </a:solidFill>
          </p:grpSpPr>
          <p:grpSp>
            <p:nvGrpSpPr>
              <p:cNvPr id="118" name="object 13">
                <a:extLst>
                  <a:ext uri="{FF2B5EF4-FFF2-40B4-BE49-F238E27FC236}">
                    <a16:creationId xmlns:a16="http://schemas.microsoft.com/office/drawing/2014/main" id="{4662905A-E668-284A-9F85-994CEEC36A67}"/>
                  </a:ext>
                </a:extLst>
              </p:cNvPr>
              <p:cNvGrpSpPr/>
              <p:nvPr/>
            </p:nvGrpSpPr>
            <p:grpSpPr>
              <a:xfrm>
                <a:off x="7881146" y="4388068"/>
                <a:ext cx="1414747" cy="334801"/>
                <a:chOff x="641604" y="1642872"/>
                <a:chExt cx="1362710" cy="307978"/>
              </a:xfrm>
              <a:grpFill/>
            </p:grpSpPr>
            <p:sp>
              <p:nvSpPr>
                <p:cNvPr id="121" name="object 14">
                  <a:extLst>
                    <a:ext uri="{FF2B5EF4-FFF2-40B4-BE49-F238E27FC236}">
                      <a16:creationId xmlns:a16="http://schemas.microsoft.com/office/drawing/2014/main" id="{08A1E240-2494-E740-AB40-AEEAEA7B657D}"/>
                    </a:ext>
                  </a:extLst>
                </p:cNvPr>
                <p:cNvSpPr/>
                <p:nvPr/>
              </p:nvSpPr>
              <p:spPr>
                <a:xfrm>
                  <a:off x="641604" y="1642875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1311147" y="0"/>
                      </a:moveTo>
                      <a:lnTo>
                        <a:pt x="51307" y="0"/>
                      </a:lnTo>
                      <a:lnTo>
                        <a:pt x="31337" y="4034"/>
                      </a:lnTo>
                      <a:lnTo>
                        <a:pt x="15028" y="15033"/>
                      </a:lnTo>
                      <a:lnTo>
                        <a:pt x="4032" y="31343"/>
                      </a:lnTo>
                      <a:lnTo>
                        <a:pt x="0" y="51307"/>
                      </a:lnTo>
                      <a:lnTo>
                        <a:pt x="0" y="256539"/>
                      </a:lnTo>
                      <a:lnTo>
                        <a:pt x="4032" y="276504"/>
                      </a:lnTo>
                      <a:lnTo>
                        <a:pt x="15028" y="292814"/>
                      </a:lnTo>
                      <a:lnTo>
                        <a:pt x="31337" y="303813"/>
                      </a:lnTo>
                      <a:lnTo>
                        <a:pt x="51307" y="307848"/>
                      </a:lnTo>
                      <a:lnTo>
                        <a:pt x="1311147" y="307848"/>
                      </a:lnTo>
                      <a:lnTo>
                        <a:pt x="1331112" y="303813"/>
                      </a:lnTo>
                      <a:lnTo>
                        <a:pt x="1347422" y="292814"/>
                      </a:lnTo>
                      <a:lnTo>
                        <a:pt x="1358421" y="276504"/>
                      </a:lnTo>
                      <a:lnTo>
                        <a:pt x="1362456" y="256539"/>
                      </a:lnTo>
                      <a:lnTo>
                        <a:pt x="1362456" y="51307"/>
                      </a:lnTo>
                      <a:lnTo>
                        <a:pt x="1358421" y="31343"/>
                      </a:lnTo>
                      <a:lnTo>
                        <a:pt x="1347422" y="15033"/>
                      </a:lnTo>
                      <a:lnTo>
                        <a:pt x="1331112" y="4034"/>
                      </a:lnTo>
                      <a:lnTo>
                        <a:pt x="131114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wrap="square" lIns="0" tIns="0" rIns="0" bIns="0" rtlCol="0"/>
                <a:lstStyle/>
                <a:p>
                  <a:endParaRPr sz="1400"/>
                </a:p>
              </p:txBody>
            </p:sp>
            <p:sp>
              <p:nvSpPr>
                <p:cNvPr id="123" name="object 15">
                  <a:extLst>
                    <a:ext uri="{FF2B5EF4-FFF2-40B4-BE49-F238E27FC236}">
                      <a16:creationId xmlns:a16="http://schemas.microsoft.com/office/drawing/2014/main" id="{26A28E06-2D83-9247-92AD-0CDA8CCF57CF}"/>
                    </a:ext>
                  </a:extLst>
                </p:cNvPr>
                <p:cNvSpPr/>
                <p:nvPr/>
              </p:nvSpPr>
              <p:spPr>
                <a:xfrm>
                  <a:off x="641604" y="1642872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0" y="51307"/>
                      </a:moveTo>
                      <a:lnTo>
                        <a:pt x="4032" y="31343"/>
                      </a:lnTo>
                      <a:lnTo>
                        <a:pt x="15028" y="15033"/>
                      </a:lnTo>
                      <a:lnTo>
                        <a:pt x="31337" y="4034"/>
                      </a:lnTo>
                      <a:lnTo>
                        <a:pt x="51307" y="0"/>
                      </a:lnTo>
                      <a:lnTo>
                        <a:pt x="1311147" y="0"/>
                      </a:lnTo>
                      <a:lnTo>
                        <a:pt x="1331112" y="4034"/>
                      </a:lnTo>
                      <a:lnTo>
                        <a:pt x="1347422" y="15033"/>
                      </a:lnTo>
                      <a:lnTo>
                        <a:pt x="1358421" y="31343"/>
                      </a:lnTo>
                      <a:lnTo>
                        <a:pt x="1362456" y="51307"/>
                      </a:lnTo>
                      <a:lnTo>
                        <a:pt x="1362456" y="256539"/>
                      </a:lnTo>
                      <a:lnTo>
                        <a:pt x="1358421" y="276504"/>
                      </a:lnTo>
                      <a:lnTo>
                        <a:pt x="1347422" y="292814"/>
                      </a:lnTo>
                      <a:lnTo>
                        <a:pt x="1331112" y="303813"/>
                      </a:lnTo>
                      <a:lnTo>
                        <a:pt x="1311147" y="307848"/>
                      </a:lnTo>
                      <a:lnTo>
                        <a:pt x="51307" y="307848"/>
                      </a:lnTo>
                      <a:lnTo>
                        <a:pt x="31337" y="303813"/>
                      </a:lnTo>
                      <a:lnTo>
                        <a:pt x="15028" y="292814"/>
                      </a:lnTo>
                      <a:lnTo>
                        <a:pt x="4032" y="276504"/>
                      </a:lnTo>
                      <a:lnTo>
                        <a:pt x="0" y="256539"/>
                      </a:lnTo>
                      <a:lnTo>
                        <a:pt x="0" y="51307"/>
                      </a:lnTo>
                      <a:close/>
                    </a:path>
                  </a:pathLst>
                </a:custGeom>
                <a:grpFill/>
                <a:ln w="12700">
                  <a:noFill/>
                </a:ln>
              </p:spPr>
              <p:txBody>
                <a:bodyPr wrap="square" lIns="0" tIns="0" rIns="0" bIns="0" rtlCol="0"/>
                <a:lstStyle/>
                <a:p>
                  <a:endParaRPr sz="1400"/>
                </a:p>
              </p:txBody>
            </p:sp>
          </p:grpSp>
          <p:sp>
            <p:nvSpPr>
              <p:cNvPr id="119" name="object 16">
                <a:extLst>
                  <a:ext uri="{FF2B5EF4-FFF2-40B4-BE49-F238E27FC236}">
                    <a16:creationId xmlns:a16="http://schemas.microsoft.com/office/drawing/2014/main" id="{290CCC75-FD93-FF49-B6A2-2F8540EA58E7}"/>
                  </a:ext>
                </a:extLst>
              </p:cNvPr>
              <p:cNvSpPr txBox="1"/>
              <p:nvPr/>
            </p:nvSpPr>
            <p:spPr>
              <a:xfrm>
                <a:off x="7895649" y="4431045"/>
                <a:ext cx="1385740" cy="22890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8448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预估费用</a:t>
                </a:r>
                <a:endParaRPr sz="1400" dirty="0">
                  <a:latin typeface="华文楷体"/>
                  <a:cs typeface="华文楷体"/>
                </a:endParaRPr>
              </a:p>
            </p:txBody>
          </p: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10757DBF-232F-3D4D-ABCE-0A0ECEB43EDE}"/>
              </a:ext>
            </a:extLst>
          </p:cNvPr>
          <p:cNvGrpSpPr/>
          <p:nvPr/>
        </p:nvGrpSpPr>
        <p:grpSpPr>
          <a:xfrm>
            <a:off x="7862454" y="5019830"/>
            <a:ext cx="3177494" cy="725449"/>
            <a:chOff x="7862454" y="5255779"/>
            <a:chExt cx="3177494" cy="725449"/>
          </a:xfrm>
        </p:grpSpPr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7EA13352-B928-BF4D-9F42-CB5B781FE2DC}"/>
                </a:ext>
              </a:extLst>
            </p:cNvPr>
            <p:cNvSpPr txBox="1"/>
            <p:nvPr/>
          </p:nvSpPr>
          <p:spPr>
            <a:xfrm>
              <a:off x="7862454" y="5581118"/>
              <a:ext cx="3177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※</a:t>
              </a:r>
              <a:r>
                <a:rPr lang="zh-CN" altLang="en-US" sz="1000" dirty="0"/>
                <a:t>对接达人系统，自动对接达人</a:t>
              </a:r>
              <a:r>
                <a:rPr lang="en-US" altLang="zh-CN" sz="1000" dirty="0"/>
                <a:t>PO</a:t>
              </a:r>
              <a:r>
                <a:rPr lang="zh-CN" altLang="en-US" sz="1000" dirty="0"/>
                <a:t>执行单</a:t>
              </a:r>
              <a:endParaRPr lang="en-US" altLang="zh-CN" sz="1000" dirty="0"/>
            </a:p>
            <a:p>
              <a:r>
                <a:rPr lang="en-US" altLang="zh-CN" sz="1000" dirty="0"/>
                <a:t>※</a:t>
              </a:r>
              <a:r>
                <a:rPr lang="zh-CN" altLang="en-US" sz="1000" dirty="0"/>
                <a:t>代理商手工导入</a:t>
              </a:r>
              <a:endParaRPr lang="en-US" altLang="zh-CN" sz="1000" dirty="0"/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77A927F2-2374-EA4A-B0B0-5D5BA826B230}"/>
                </a:ext>
              </a:extLst>
            </p:cNvPr>
            <p:cNvGrpSpPr/>
            <p:nvPr/>
          </p:nvGrpSpPr>
          <p:grpSpPr>
            <a:xfrm>
              <a:off x="7874554" y="5255779"/>
              <a:ext cx="1375410" cy="320675"/>
              <a:chOff x="9666609" y="5123989"/>
              <a:chExt cx="1375410" cy="320675"/>
            </a:xfrm>
            <a:solidFill>
              <a:srgbClr val="48B8B3"/>
            </a:solidFill>
          </p:grpSpPr>
          <p:grpSp>
            <p:nvGrpSpPr>
              <p:cNvPr id="131" name="object 13">
                <a:extLst>
                  <a:ext uri="{FF2B5EF4-FFF2-40B4-BE49-F238E27FC236}">
                    <a16:creationId xmlns:a16="http://schemas.microsoft.com/office/drawing/2014/main" id="{8C2EC369-B3FA-FE45-A70C-0B57377D3B17}"/>
                  </a:ext>
                </a:extLst>
              </p:cNvPr>
              <p:cNvGrpSpPr/>
              <p:nvPr/>
            </p:nvGrpSpPr>
            <p:grpSpPr>
              <a:xfrm>
                <a:off x="9666609" y="5123989"/>
                <a:ext cx="1375410" cy="320675"/>
                <a:chOff x="635254" y="1636522"/>
                <a:chExt cx="1375410" cy="320675"/>
              </a:xfrm>
              <a:grpFill/>
            </p:grpSpPr>
            <p:sp>
              <p:nvSpPr>
                <p:cNvPr id="134" name="object 14">
                  <a:extLst>
                    <a:ext uri="{FF2B5EF4-FFF2-40B4-BE49-F238E27FC236}">
                      <a16:creationId xmlns:a16="http://schemas.microsoft.com/office/drawing/2014/main" id="{88E0DEF7-A31C-3E4A-A22B-04DD79F3BC30}"/>
                    </a:ext>
                  </a:extLst>
                </p:cNvPr>
                <p:cNvSpPr/>
                <p:nvPr/>
              </p:nvSpPr>
              <p:spPr>
                <a:xfrm>
                  <a:off x="641604" y="1642872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1311147" y="0"/>
                      </a:moveTo>
                      <a:lnTo>
                        <a:pt x="51307" y="0"/>
                      </a:lnTo>
                      <a:lnTo>
                        <a:pt x="31337" y="4034"/>
                      </a:lnTo>
                      <a:lnTo>
                        <a:pt x="15028" y="15033"/>
                      </a:lnTo>
                      <a:lnTo>
                        <a:pt x="4032" y="31343"/>
                      </a:lnTo>
                      <a:lnTo>
                        <a:pt x="0" y="51307"/>
                      </a:lnTo>
                      <a:lnTo>
                        <a:pt x="0" y="256539"/>
                      </a:lnTo>
                      <a:lnTo>
                        <a:pt x="4032" y="276504"/>
                      </a:lnTo>
                      <a:lnTo>
                        <a:pt x="15028" y="292814"/>
                      </a:lnTo>
                      <a:lnTo>
                        <a:pt x="31337" y="303813"/>
                      </a:lnTo>
                      <a:lnTo>
                        <a:pt x="51307" y="307848"/>
                      </a:lnTo>
                      <a:lnTo>
                        <a:pt x="1311147" y="307848"/>
                      </a:lnTo>
                      <a:lnTo>
                        <a:pt x="1331112" y="303813"/>
                      </a:lnTo>
                      <a:lnTo>
                        <a:pt x="1347422" y="292814"/>
                      </a:lnTo>
                      <a:lnTo>
                        <a:pt x="1358421" y="276504"/>
                      </a:lnTo>
                      <a:lnTo>
                        <a:pt x="1362456" y="256539"/>
                      </a:lnTo>
                      <a:lnTo>
                        <a:pt x="1362456" y="51307"/>
                      </a:lnTo>
                      <a:lnTo>
                        <a:pt x="1358421" y="31343"/>
                      </a:lnTo>
                      <a:lnTo>
                        <a:pt x="1347422" y="15033"/>
                      </a:lnTo>
                      <a:lnTo>
                        <a:pt x="1331112" y="4034"/>
                      </a:lnTo>
                      <a:lnTo>
                        <a:pt x="131114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6" name="object 15">
                  <a:extLst>
                    <a:ext uri="{FF2B5EF4-FFF2-40B4-BE49-F238E27FC236}">
                      <a16:creationId xmlns:a16="http://schemas.microsoft.com/office/drawing/2014/main" id="{7A01DCFD-8D03-CC41-83E2-CE0480341F97}"/>
                    </a:ext>
                  </a:extLst>
                </p:cNvPr>
                <p:cNvSpPr/>
                <p:nvPr/>
              </p:nvSpPr>
              <p:spPr>
                <a:xfrm>
                  <a:off x="641604" y="1642872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0" y="51307"/>
                      </a:moveTo>
                      <a:lnTo>
                        <a:pt x="4032" y="31343"/>
                      </a:lnTo>
                      <a:lnTo>
                        <a:pt x="15028" y="15033"/>
                      </a:lnTo>
                      <a:lnTo>
                        <a:pt x="31337" y="4034"/>
                      </a:lnTo>
                      <a:lnTo>
                        <a:pt x="51307" y="0"/>
                      </a:lnTo>
                      <a:lnTo>
                        <a:pt x="1311147" y="0"/>
                      </a:lnTo>
                      <a:lnTo>
                        <a:pt x="1331112" y="4034"/>
                      </a:lnTo>
                      <a:lnTo>
                        <a:pt x="1347422" y="15033"/>
                      </a:lnTo>
                      <a:lnTo>
                        <a:pt x="1358421" y="31343"/>
                      </a:lnTo>
                      <a:lnTo>
                        <a:pt x="1362456" y="51307"/>
                      </a:lnTo>
                      <a:lnTo>
                        <a:pt x="1362456" y="256539"/>
                      </a:lnTo>
                      <a:lnTo>
                        <a:pt x="1358421" y="276504"/>
                      </a:lnTo>
                      <a:lnTo>
                        <a:pt x="1347422" y="292814"/>
                      </a:lnTo>
                      <a:lnTo>
                        <a:pt x="1331112" y="303813"/>
                      </a:lnTo>
                      <a:lnTo>
                        <a:pt x="1311147" y="307848"/>
                      </a:lnTo>
                      <a:lnTo>
                        <a:pt x="51307" y="307848"/>
                      </a:lnTo>
                      <a:lnTo>
                        <a:pt x="31337" y="303813"/>
                      </a:lnTo>
                      <a:lnTo>
                        <a:pt x="15028" y="292814"/>
                      </a:lnTo>
                      <a:lnTo>
                        <a:pt x="4032" y="276504"/>
                      </a:lnTo>
                      <a:lnTo>
                        <a:pt x="0" y="256539"/>
                      </a:lnTo>
                      <a:lnTo>
                        <a:pt x="0" y="51307"/>
                      </a:lnTo>
                      <a:close/>
                    </a:path>
                  </a:pathLst>
                </a:custGeom>
                <a:grpFill/>
                <a:ln w="12700">
                  <a:noFill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32" name="object 16">
                <a:extLst>
                  <a:ext uri="{FF2B5EF4-FFF2-40B4-BE49-F238E27FC236}">
                    <a16:creationId xmlns:a16="http://schemas.microsoft.com/office/drawing/2014/main" id="{270FFC59-31C7-FB48-9BC9-1B67393821B1}"/>
                  </a:ext>
                </a:extLst>
              </p:cNvPr>
              <p:cNvSpPr txBox="1"/>
              <p:nvPr/>
            </p:nvSpPr>
            <p:spPr>
              <a:xfrm>
                <a:off x="9686823" y="5169872"/>
                <a:ext cx="1334770" cy="22890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8448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PO</a:t>
                </a:r>
                <a:r>
                  <a:rPr lang="zh-CN" altLang="en-US" sz="14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执行单</a:t>
                </a:r>
                <a:endParaRPr sz="1400" dirty="0">
                  <a:latin typeface="华文楷体"/>
                  <a:cs typeface="华文楷体"/>
                </a:endParaRPr>
              </a:p>
            </p:txBody>
          </p:sp>
        </p:grp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955FBBB8-4DB4-2F4F-9F69-78232769012A}"/>
              </a:ext>
            </a:extLst>
          </p:cNvPr>
          <p:cNvGrpSpPr/>
          <p:nvPr/>
        </p:nvGrpSpPr>
        <p:grpSpPr>
          <a:xfrm>
            <a:off x="7862454" y="5798224"/>
            <a:ext cx="1765014" cy="579465"/>
            <a:chOff x="7868347" y="5955475"/>
            <a:chExt cx="1765014" cy="579465"/>
          </a:xfrm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14A83F5B-729C-CF4B-ABDB-71FB31F1AE87}"/>
                </a:ext>
              </a:extLst>
            </p:cNvPr>
            <p:cNvSpPr txBox="1"/>
            <p:nvPr/>
          </p:nvSpPr>
          <p:spPr>
            <a:xfrm>
              <a:off x="7868347" y="6288719"/>
              <a:ext cx="1765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※</a:t>
              </a:r>
              <a:r>
                <a:rPr lang="zh-CN" altLang="en-US" sz="1000" dirty="0"/>
                <a:t>关联实际付款单</a:t>
              </a:r>
              <a:endParaRPr lang="en-US" altLang="zh-CN" sz="1000" dirty="0"/>
            </a:p>
          </p:txBody>
        </p: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4C983C37-288D-A94B-A740-3A2B5621D64D}"/>
                </a:ext>
              </a:extLst>
            </p:cNvPr>
            <p:cNvGrpSpPr/>
            <p:nvPr/>
          </p:nvGrpSpPr>
          <p:grpSpPr>
            <a:xfrm>
              <a:off x="7874554" y="5955475"/>
              <a:ext cx="1375410" cy="320675"/>
              <a:chOff x="9666609" y="5123989"/>
              <a:chExt cx="1375410" cy="320675"/>
            </a:xfrm>
            <a:solidFill>
              <a:srgbClr val="48B8B3"/>
            </a:solidFill>
          </p:grpSpPr>
          <p:grpSp>
            <p:nvGrpSpPr>
              <p:cNvPr id="144" name="object 13">
                <a:extLst>
                  <a:ext uri="{FF2B5EF4-FFF2-40B4-BE49-F238E27FC236}">
                    <a16:creationId xmlns:a16="http://schemas.microsoft.com/office/drawing/2014/main" id="{D1D4ECBF-B09E-8646-A186-51837E4F8FE4}"/>
                  </a:ext>
                </a:extLst>
              </p:cNvPr>
              <p:cNvGrpSpPr/>
              <p:nvPr/>
            </p:nvGrpSpPr>
            <p:grpSpPr>
              <a:xfrm>
                <a:off x="9666609" y="5123989"/>
                <a:ext cx="1375410" cy="320675"/>
                <a:chOff x="635254" y="1636522"/>
                <a:chExt cx="1375410" cy="320675"/>
              </a:xfrm>
              <a:grpFill/>
            </p:grpSpPr>
            <p:sp>
              <p:nvSpPr>
                <p:cNvPr id="146" name="object 14">
                  <a:extLst>
                    <a:ext uri="{FF2B5EF4-FFF2-40B4-BE49-F238E27FC236}">
                      <a16:creationId xmlns:a16="http://schemas.microsoft.com/office/drawing/2014/main" id="{BE08B88E-FD85-9140-8AA4-DB0F50767744}"/>
                    </a:ext>
                  </a:extLst>
                </p:cNvPr>
                <p:cNvSpPr/>
                <p:nvPr/>
              </p:nvSpPr>
              <p:spPr>
                <a:xfrm>
                  <a:off x="641604" y="1642872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1311147" y="0"/>
                      </a:moveTo>
                      <a:lnTo>
                        <a:pt x="51307" y="0"/>
                      </a:lnTo>
                      <a:lnTo>
                        <a:pt x="31337" y="4034"/>
                      </a:lnTo>
                      <a:lnTo>
                        <a:pt x="15028" y="15033"/>
                      </a:lnTo>
                      <a:lnTo>
                        <a:pt x="4032" y="31343"/>
                      </a:lnTo>
                      <a:lnTo>
                        <a:pt x="0" y="51307"/>
                      </a:lnTo>
                      <a:lnTo>
                        <a:pt x="0" y="256539"/>
                      </a:lnTo>
                      <a:lnTo>
                        <a:pt x="4032" y="276504"/>
                      </a:lnTo>
                      <a:lnTo>
                        <a:pt x="15028" y="292814"/>
                      </a:lnTo>
                      <a:lnTo>
                        <a:pt x="31337" y="303813"/>
                      </a:lnTo>
                      <a:lnTo>
                        <a:pt x="51307" y="307848"/>
                      </a:lnTo>
                      <a:lnTo>
                        <a:pt x="1311147" y="307848"/>
                      </a:lnTo>
                      <a:lnTo>
                        <a:pt x="1331112" y="303813"/>
                      </a:lnTo>
                      <a:lnTo>
                        <a:pt x="1347422" y="292814"/>
                      </a:lnTo>
                      <a:lnTo>
                        <a:pt x="1358421" y="276504"/>
                      </a:lnTo>
                      <a:lnTo>
                        <a:pt x="1362456" y="256539"/>
                      </a:lnTo>
                      <a:lnTo>
                        <a:pt x="1362456" y="51307"/>
                      </a:lnTo>
                      <a:lnTo>
                        <a:pt x="1358421" y="31343"/>
                      </a:lnTo>
                      <a:lnTo>
                        <a:pt x="1347422" y="15033"/>
                      </a:lnTo>
                      <a:lnTo>
                        <a:pt x="1331112" y="4034"/>
                      </a:lnTo>
                      <a:lnTo>
                        <a:pt x="131114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47" name="object 15">
                  <a:extLst>
                    <a:ext uri="{FF2B5EF4-FFF2-40B4-BE49-F238E27FC236}">
                      <a16:creationId xmlns:a16="http://schemas.microsoft.com/office/drawing/2014/main" id="{05C39A30-5995-394A-8FF4-B3642F6A9361}"/>
                    </a:ext>
                  </a:extLst>
                </p:cNvPr>
                <p:cNvSpPr/>
                <p:nvPr/>
              </p:nvSpPr>
              <p:spPr>
                <a:xfrm>
                  <a:off x="641604" y="1642872"/>
                  <a:ext cx="136271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710" h="307975">
                      <a:moveTo>
                        <a:pt x="0" y="51307"/>
                      </a:moveTo>
                      <a:lnTo>
                        <a:pt x="4032" y="31343"/>
                      </a:lnTo>
                      <a:lnTo>
                        <a:pt x="15028" y="15033"/>
                      </a:lnTo>
                      <a:lnTo>
                        <a:pt x="31337" y="4034"/>
                      </a:lnTo>
                      <a:lnTo>
                        <a:pt x="51307" y="0"/>
                      </a:lnTo>
                      <a:lnTo>
                        <a:pt x="1311147" y="0"/>
                      </a:lnTo>
                      <a:lnTo>
                        <a:pt x="1331112" y="4034"/>
                      </a:lnTo>
                      <a:lnTo>
                        <a:pt x="1347422" y="15033"/>
                      </a:lnTo>
                      <a:lnTo>
                        <a:pt x="1358421" y="31343"/>
                      </a:lnTo>
                      <a:lnTo>
                        <a:pt x="1362456" y="51307"/>
                      </a:lnTo>
                      <a:lnTo>
                        <a:pt x="1362456" y="256539"/>
                      </a:lnTo>
                      <a:lnTo>
                        <a:pt x="1358421" y="276504"/>
                      </a:lnTo>
                      <a:lnTo>
                        <a:pt x="1347422" y="292814"/>
                      </a:lnTo>
                      <a:lnTo>
                        <a:pt x="1331112" y="303813"/>
                      </a:lnTo>
                      <a:lnTo>
                        <a:pt x="1311147" y="307848"/>
                      </a:lnTo>
                      <a:lnTo>
                        <a:pt x="51307" y="307848"/>
                      </a:lnTo>
                      <a:lnTo>
                        <a:pt x="31337" y="303813"/>
                      </a:lnTo>
                      <a:lnTo>
                        <a:pt x="15028" y="292814"/>
                      </a:lnTo>
                      <a:lnTo>
                        <a:pt x="4032" y="276504"/>
                      </a:lnTo>
                      <a:lnTo>
                        <a:pt x="0" y="256539"/>
                      </a:lnTo>
                      <a:lnTo>
                        <a:pt x="0" y="51307"/>
                      </a:lnTo>
                      <a:close/>
                    </a:path>
                  </a:pathLst>
                </a:custGeom>
                <a:grpFill/>
                <a:ln w="12700">
                  <a:noFill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45" name="object 16">
                <a:extLst>
                  <a:ext uri="{FF2B5EF4-FFF2-40B4-BE49-F238E27FC236}">
                    <a16:creationId xmlns:a16="http://schemas.microsoft.com/office/drawing/2014/main" id="{2AA6831B-0B9C-6742-8AB9-D8A295DBBE3A}"/>
                  </a:ext>
                </a:extLst>
              </p:cNvPr>
              <p:cNvSpPr txBox="1"/>
              <p:nvPr/>
            </p:nvSpPr>
            <p:spPr>
              <a:xfrm>
                <a:off x="9686823" y="5169872"/>
                <a:ext cx="1334770" cy="22890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8448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实际履约</a:t>
                </a:r>
                <a:endParaRPr sz="1400" dirty="0">
                  <a:latin typeface="华文楷体"/>
                  <a:cs typeface="华文楷体"/>
                </a:endParaRPr>
              </a:p>
            </p:txBody>
          </p:sp>
        </p:grpSp>
      </p:grpSp>
      <p:sp>
        <p:nvSpPr>
          <p:cNvPr id="4" name="圆角矩形 3">
            <a:extLst>
              <a:ext uri="{FF2B5EF4-FFF2-40B4-BE49-F238E27FC236}">
                <a16:creationId xmlns:a16="http://schemas.microsoft.com/office/drawing/2014/main" id="{F3E1C5A5-EC57-F64B-993C-6CF50F831F0D}"/>
              </a:ext>
            </a:extLst>
          </p:cNvPr>
          <p:cNvSpPr/>
          <p:nvPr/>
        </p:nvSpPr>
        <p:spPr>
          <a:xfrm>
            <a:off x="2457500" y="2464075"/>
            <a:ext cx="7206021" cy="276998"/>
          </a:xfrm>
          <a:prstGeom prst="roundRect">
            <a:avLst/>
          </a:prstGeom>
        </p:spPr>
        <p:txBody>
          <a:bodyPr wrap="none" rtlCol="0" anchor="ctr">
            <a:noAutofit/>
          </a:bodyPr>
          <a:lstStyle/>
          <a:p>
            <a:pPr algn="l"/>
            <a:endParaRPr kumimoji="1" lang="zh-CN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690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矩形 214">
            <a:extLst>
              <a:ext uri="{FF2B5EF4-FFF2-40B4-BE49-F238E27FC236}">
                <a16:creationId xmlns:a16="http://schemas.microsoft.com/office/drawing/2014/main" id="{27191400-E068-53E4-B0D7-7DDDF7536D2A}"/>
              </a:ext>
            </a:extLst>
          </p:cNvPr>
          <p:cNvSpPr/>
          <p:nvPr/>
        </p:nvSpPr>
        <p:spPr bwMode="auto">
          <a:xfrm>
            <a:off x="5675549" y="1342129"/>
            <a:ext cx="6247897" cy="1106052"/>
          </a:xfrm>
          <a:prstGeom prst="rect">
            <a:avLst/>
          </a:prstGeom>
          <a:solidFill>
            <a:srgbClr val="ECDCC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4363B-FAD3-4336-87FE-8B32A68C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81" y="318777"/>
            <a:ext cx="11291438" cy="606392"/>
          </a:xfrm>
        </p:spPr>
        <p:txBody>
          <a:bodyPr anchor="ctr"/>
          <a:lstStyle/>
          <a:p>
            <a:r>
              <a:rPr lang="zh-CN" altLang="en-US" dirty="0">
                <a:latin typeface="+mn-ea"/>
                <a:ea typeface="+mn-ea"/>
              </a:rPr>
              <a:t>业财系统与达人系统的建议方案</a:t>
            </a:r>
            <a:endParaRPr lang="en-GB" dirty="0"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E69FFC-D6D3-7C4F-B316-F8A8C940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266" y="4104250"/>
            <a:ext cx="2533553" cy="3458078"/>
          </a:xfrm>
          <a:prstGeom prst="rect">
            <a:avLst/>
          </a:prstGeom>
        </p:spPr>
      </p:pic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02707104-B850-FDDB-8406-0C52A0E74284}"/>
              </a:ext>
            </a:extLst>
          </p:cNvPr>
          <p:cNvGrpSpPr/>
          <p:nvPr/>
        </p:nvGrpSpPr>
        <p:grpSpPr>
          <a:xfrm>
            <a:off x="388397" y="1342129"/>
            <a:ext cx="5185362" cy="4870870"/>
            <a:chOff x="806579" y="1590261"/>
            <a:chExt cx="6810718" cy="3892511"/>
          </a:xfrm>
        </p:grpSpPr>
        <p:pic>
          <p:nvPicPr>
            <p:cNvPr id="206" name="图片 205">
              <a:extLst>
                <a:ext uri="{FF2B5EF4-FFF2-40B4-BE49-F238E27FC236}">
                  <a16:creationId xmlns:a16="http://schemas.microsoft.com/office/drawing/2014/main" id="{073CC840-F563-8334-AA55-E8E4C073C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579" y="1590261"/>
              <a:ext cx="6810718" cy="3892511"/>
            </a:xfrm>
            <a:prstGeom prst="rect">
              <a:avLst/>
            </a:prstGeom>
          </p:spPr>
        </p:pic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B1C94440-D64A-D1FE-20D6-C2AFCF878120}"/>
                </a:ext>
              </a:extLst>
            </p:cNvPr>
            <p:cNvSpPr txBox="1"/>
            <p:nvPr/>
          </p:nvSpPr>
          <p:spPr>
            <a:xfrm>
              <a:off x="3465445" y="3653675"/>
              <a:ext cx="4041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</a:rPr>
                <a:t>①</a:t>
              </a: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70C41CAB-638C-1C10-F32E-36E8FFA55D77}"/>
                </a:ext>
              </a:extLst>
            </p:cNvPr>
            <p:cNvSpPr txBox="1"/>
            <p:nvPr/>
          </p:nvSpPr>
          <p:spPr>
            <a:xfrm>
              <a:off x="5098774" y="3653675"/>
              <a:ext cx="4041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</a:rPr>
                <a:t>②</a:t>
              </a:r>
            </a:p>
          </p:txBody>
        </p:sp>
      </p:grp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D72290E-E532-AF1E-4850-C1ACC303AECE}"/>
              </a:ext>
            </a:extLst>
          </p:cNvPr>
          <p:cNvSpPr txBox="1"/>
          <p:nvPr/>
        </p:nvSpPr>
        <p:spPr>
          <a:xfrm>
            <a:off x="5996917" y="1481175"/>
            <a:ext cx="5499344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达人执行的任务未与营销计划以及营销活动关联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由于营销活动与费用关联，难以从全局的角度动态分析达人任务 执行的效率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业务需要手工计算结算金额，效率低且容易出错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46D4D509-432A-99FE-52F1-91D016538087}"/>
              </a:ext>
            </a:extLst>
          </p:cNvPr>
          <p:cNvSpPr txBox="1"/>
          <p:nvPr/>
        </p:nvSpPr>
        <p:spPr>
          <a:xfrm>
            <a:off x="5996917" y="925169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关键痛点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302F8B2B-247F-E9B5-6BCC-B9C6796A09EE}"/>
              </a:ext>
            </a:extLst>
          </p:cNvPr>
          <p:cNvSpPr/>
          <p:nvPr/>
        </p:nvSpPr>
        <p:spPr bwMode="auto">
          <a:xfrm>
            <a:off x="5659525" y="2833921"/>
            <a:ext cx="1961297" cy="1394257"/>
          </a:xfrm>
          <a:prstGeom prst="rect">
            <a:avLst/>
          </a:prstGeom>
          <a:solidFill>
            <a:srgbClr val="F8F8F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02770F4-B3AE-A9CE-8BB6-944B13A30FB6}"/>
              </a:ext>
            </a:extLst>
          </p:cNvPr>
          <p:cNvSpPr txBox="1"/>
          <p:nvPr/>
        </p:nvSpPr>
        <p:spPr>
          <a:xfrm>
            <a:off x="5880468" y="2544284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解决方案一</a:t>
            </a: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B372D64-3A85-39CE-4E49-1CA30DD2AA5F}"/>
              </a:ext>
            </a:extLst>
          </p:cNvPr>
          <p:cNvSpPr txBox="1"/>
          <p:nvPr/>
        </p:nvSpPr>
        <p:spPr>
          <a:xfrm>
            <a:off x="5659525" y="2890843"/>
            <a:ext cx="203984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营销计划下制定活动后，推送至达人系统。业务根据接收到的需求，发起活动的执行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达人执行清单推送至业财系统，业财自动计算费用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36EB7240-FC07-0A96-35CE-E11649BB06F5}"/>
              </a:ext>
            </a:extLst>
          </p:cNvPr>
          <p:cNvSpPr txBox="1"/>
          <p:nvPr/>
        </p:nvSpPr>
        <p:spPr>
          <a:xfrm>
            <a:off x="7771067" y="2529493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优点</a:t>
            </a: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74F85E2-7A06-EDFD-34B7-A623C619F39E}"/>
              </a:ext>
            </a:extLst>
          </p:cNvPr>
          <p:cNvSpPr/>
          <p:nvPr/>
        </p:nvSpPr>
        <p:spPr bwMode="auto">
          <a:xfrm>
            <a:off x="7743373" y="2833921"/>
            <a:ext cx="2039845" cy="1394257"/>
          </a:xfrm>
          <a:prstGeom prst="rect">
            <a:avLst/>
          </a:prstGeom>
          <a:solidFill>
            <a:srgbClr val="F8F8F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ABB9B52-E8FB-818D-0FEA-37544CF41CF5}"/>
              </a:ext>
            </a:extLst>
          </p:cNvPr>
          <p:cNvSpPr txBox="1"/>
          <p:nvPr/>
        </p:nvSpPr>
        <p:spPr>
          <a:xfrm>
            <a:off x="7804648" y="2890843"/>
            <a:ext cx="19172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从活动提案到活动结案全生命周期的业财融合的管理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自动计算</a:t>
            </a:r>
            <a:r>
              <a:rPr lang="en-US" altLang="zh-CN" dirty="0">
                <a:solidFill>
                  <a:schemeClr val="tx1"/>
                </a:solidFill>
              </a:rPr>
              <a:t>PO</a:t>
            </a:r>
            <a:r>
              <a:rPr lang="zh-CN" altLang="en-US" dirty="0">
                <a:solidFill>
                  <a:schemeClr val="tx1"/>
                </a:solidFill>
              </a:rPr>
              <a:t>费用，减少业务手工工作，提升财务准确性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3FE01713-4396-437E-B43D-E5F9C69F7F98}"/>
              </a:ext>
            </a:extLst>
          </p:cNvPr>
          <p:cNvSpPr txBox="1"/>
          <p:nvPr/>
        </p:nvSpPr>
        <p:spPr>
          <a:xfrm>
            <a:off x="5925445" y="4495764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解决方案二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3E018356-5C11-4F7B-5FC7-2C5FF792A5A2}"/>
              </a:ext>
            </a:extLst>
          </p:cNvPr>
          <p:cNvSpPr txBox="1"/>
          <p:nvPr/>
        </p:nvSpPr>
        <p:spPr>
          <a:xfrm>
            <a:off x="7816044" y="4480973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优点</a:t>
            </a: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AFD8E91D-32C1-AF79-B7DF-A41B0D6774C6}"/>
              </a:ext>
            </a:extLst>
          </p:cNvPr>
          <p:cNvSpPr/>
          <p:nvPr/>
        </p:nvSpPr>
        <p:spPr bwMode="auto">
          <a:xfrm>
            <a:off x="5675549" y="4799919"/>
            <a:ext cx="1961297" cy="1394257"/>
          </a:xfrm>
          <a:prstGeom prst="rect">
            <a:avLst/>
          </a:prstGeom>
          <a:solidFill>
            <a:srgbClr val="DAF1F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2E94A981-4A73-70BA-EDA9-6EDE22E7DCCF}"/>
              </a:ext>
            </a:extLst>
          </p:cNvPr>
          <p:cNvSpPr txBox="1"/>
          <p:nvPr/>
        </p:nvSpPr>
        <p:spPr>
          <a:xfrm>
            <a:off x="5657165" y="4881969"/>
            <a:ext cx="20398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业财系统与达人系统不做数据打通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业务手工计算费用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业财开放页面供业务手工录入计算后的费用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E8434F2D-1F9F-998A-872A-EF39A2C04EAD}"/>
              </a:ext>
            </a:extLst>
          </p:cNvPr>
          <p:cNvSpPr/>
          <p:nvPr/>
        </p:nvSpPr>
        <p:spPr bwMode="auto">
          <a:xfrm>
            <a:off x="7775626" y="4825047"/>
            <a:ext cx="1961297" cy="1394257"/>
          </a:xfrm>
          <a:prstGeom prst="rect">
            <a:avLst/>
          </a:prstGeom>
          <a:solidFill>
            <a:srgbClr val="DAF1F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48676D10-CD24-7E79-CD95-B4CF2B6D9BD2}"/>
              </a:ext>
            </a:extLst>
          </p:cNvPr>
          <p:cNvSpPr txBox="1"/>
          <p:nvPr/>
        </p:nvSpPr>
        <p:spPr>
          <a:xfrm>
            <a:off x="7757242" y="4907097"/>
            <a:ext cx="20398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业务保持现有业务操作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待达人系统上线后，等业务顺畅后，再做业务流程打通。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5C6BA3A7-5693-5078-8A4E-94DB5686FF87}"/>
              </a:ext>
            </a:extLst>
          </p:cNvPr>
          <p:cNvSpPr txBox="1"/>
          <p:nvPr/>
        </p:nvSpPr>
        <p:spPr>
          <a:xfrm>
            <a:off x="9884791" y="2508112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缺点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A953009D-BDF6-F6CB-A4F3-0C6AB03E7CD9}"/>
              </a:ext>
            </a:extLst>
          </p:cNvPr>
          <p:cNvSpPr/>
          <p:nvPr/>
        </p:nvSpPr>
        <p:spPr bwMode="auto">
          <a:xfrm>
            <a:off x="9857097" y="2812540"/>
            <a:ext cx="2039845" cy="1394257"/>
          </a:xfrm>
          <a:prstGeom prst="rect">
            <a:avLst/>
          </a:prstGeom>
          <a:solidFill>
            <a:srgbClr val="F8F8F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DB83A05F-6187-47AF-1A30-C05AAA28FB3D}"/>
              </a:ext>
            </a:extLst>
          </p:cNvPr>
          <p:cNvSpPr txBox="1"/>
          <p:nvPr/>
        </p:nvSpPr>
        <p:spPr>
          <a:xfrm>
            <a:off x="9918372" y="2869462"/>
            <a:ext cx="19172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达人系统需要重新梳理业务流程，可能会涉及到现有流程的改造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短期内会给业务伙伴带来工作习惯的改变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E5F37FB1-0ABB-B2C8-FED4-775DC7DF2109}"/>
              </a:ext>
            </a:extLst>
          </p:cNvPr>
          <p:cNvSpPr txBox="1"/>
          <p:nvPr/>
        </p:nvSpPr>
        <p:spPr>
          <a:xfrm>
            <a:off x="9897515" y="4474668"/>
            <a:ext cx="157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 u="sng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缺点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F6480FBF-8E45-EBDF-CF00-46AD52D13A06}"/>
              </a:ext>
            </a:extLst>
          </p:cNvPr>
          <p:cNvSpPr/>
          <p:nvPr/>
        </p:nvSpPr>
        <p:spPr bwMode="auto">
          <a:xfrm>
            <a:off x="9857097" y="4818742"/>
            <a:ext cx="1961297" cy="1394257"/>
          </a:xfrm>
          <a:prstGeom prst="rect">
            <a:avLst/>
          </a:prstGeom>
          <a:solidFill>
            <a:srgbClr val="DAF1F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1794" tIns="40897" rIns="81794" bIns="4089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E1CE6270-9EE2-4C39-59F7-890FC386CC0B}"/>
              </a:ext>
            </a:extLst>
          </p:cNvPr>
          <p:cNvSpPr txBox="1"/>
          <p:nvPr/>
        </p:nvSpPr>
        <p:spPr>
          <a:xfrm>
            <a:off x="9838713" y="4900792"/>
            <a:ext cx="20398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914400" fontAlgn="auto">
              <a:spcBef>
                <a:spcPts val="600"/>
              </a:spcBef>
              <a:spcAft>
                <a:spcPts val="0"/>
              </a:spcAft>
              <a:buChar char="•"/>
              <a:defRPr sz="1200" kern="0">
                <a:solidFill>
                  <a:prstClr val="black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后续仍然需要做系统打通和业务工作习惯的改变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财务相关的业务动作，未提升效率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29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0A288B-7B37-4289-9109-8BBF3D73D683}"/>
              </a:ext>
            </a:extLst>
          </p:cNvPr>
          <p:cNvSpPr txBox="1"/>
          <p:nvPr/>
        </p:nvSpPr>
        <p:spPr>
          <a:xfrm>
            <a:off x="1092200" y="2659559"/>
            <a:ext cx="528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Thank</a:t>
            </a:r>
            <a:r>
              <a:rPr lang="en-US" altLang="zh-CN" sz="4400" b="1" dirty="0"/>
              <a:t>s.</a:t>
            </a:r>
            <a:endParaRPr lang="en-GB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85702-6900-4AFF-9841-02DDCFE32C4D}"/>
              </a:ext>
            </a:extLst>
          </p:cNvPr>
          <p:cNvSpPr txBox="1"/>
          <p:nvPr/>
        </p:nvSpPr>
        <p:spPr>
          <a:xfrm>
            <a:off x="3472314" y="4216261"/>
            <a:ext cx="780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格</a:t>
            </a:r>
            <a:r>
              <a:rPr lang="zh-CN" altLang="en-US" b="0" i="0" dirty="0">
                <a:solidFill>
                  <a:srgbClr val="673706"/>
                </a:solidFill>
                <a:effectLst/>
                <a:latin typeface="Times New Roman" panose="02020603050405020304" pitchFamily="18" charset="0"/>
              </a:rPr>
              <a:t>下轩窗枕水开，画船忽载故人来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10B78-31F7-4666-9D91-C24036B15892}"/>
              </a:ext>
            </a:extLst>
          </p:cNvPr>
          <p:cNvSpPr txBox="1"/>
          <p:nvPr/>
        </p:nvSpPr>
        <p:spPr>
          <a:xfrm>
            <a:off x="655320" y="3846929"/>
            <a:ext cx="780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673706"/>
                </a:solidFill>
                <a:latin typeface="Times New Roman" panose="02020603050405020304" pitchFamily="18" charset="0"/>
              </a:rPr>
              <a:t>欲把西湖比西子，淡妆浓抹总相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</a:rPr>
              <a:t>宜</a:t>
            </a:r>
            <a:endParaRPr lang="zh-CN" alt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61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56,1,宜格集团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ate FilePath} = Yes"/>
  <p:tag name="SMARTWRITE" val="{!Today} {!FilePath}"/>
  <p:tag name="SMARTLOCKSHAPE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DIVIDERTYPE" val="Section"/>
  <p:tag name="SMARTDIVIDERLEVEL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HORIZONTALTOCPLACEHOL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Header v.2"/>
  <p:tag name="SMARTISVISIBLE" val="{$SmartDividernumber}!=-1"/>
  <p:tag name="SMARTWRITE" val="{$SmartDividernumber} {$Smart Divider title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!PageNumber}"/>
  <p:tag name="SMARTLOCKSHAPE" val="Yes"/>
  <p:tag name="SMARTOBJECT" val="Page Number v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Footer v.2"/>
  <p:tag name="SMARTWRITE" val="{@Title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PresentationDisclaimer"/>
  <p:tag name="SMARTISVISIBLE" val="{@PresentationDisclaimer}!=No Disclaimer"/>
  <p:tag name="SMARTWRITE" val="{@PresentationDisclaimerText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raft stamp} = Yes"/>
  <p:tag name="SMARTWRITE" val="{@Draft stamp}"/>
  <p:tag name="SMARTLOCKSHAPE" val="Y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ate FilePath} = Yes"/>
  <p:tag name="SMARTWRITE" val="{!Today} {!FilePath}"/>
  <p:tag name="SMARTLOCKSHAPE" val="Y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DIVIDERTYPE" val="Section"/>
  <p:tag name="SMARTDIVIDERLEVEL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HORIZONTALTOCPLACEHOLD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Header v.2"/>
  <p:tag name="SMARTISVISIBLE" val="{$SmartDividernumber}!=-1"/>
  <p:tag name="SMARTWRITE" val="{$SmartDividernumber} {$Smart Divider title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!PageNumber}"/>
  <p:tag name="SMARTLOCKSHAPE" val="Yes"/>
  <p:tag name="SMARTOBJECT" val="Page Number v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!PageNumber}"/>
  <p:tag name="SMARTLOCKSHAPE" val="Yes"/>
  <p:tag name="SMARTOBJECT" val="Page Number v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Footer v.2"/>
  <p:tag name="SMARTWRITE" val="{@Title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PresentationDisclaimer"/>
  <p:tag name="SMARTISVISIBLE" val="{@PresentationDisclaimer}!=No Disclaimer"/>
  <p:tag name="SMARTWRITE" val="{@PresentationDisclaimerText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raft stamp} = Yes"/>
  <p:tag name="SMARTWRITE" val="{@Draft stamp}"/>
  <p:tag name="SMARTLOCKSHAPE" val="Yes"/>
</p:tagLst>
</file>

<file path=ppt/theme/theme1.xml><?xml version="1.0" encoding="utf-8"?>
<a:theme xmlns:a="http://schemas.openxmlformats.org/drawingml/2006/main" name="Office 主题​​">
  <a:themeElements>
    <a:clrScheme name="花西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3B49"/>
      </a:accent1>
      <a:accent2>
        <a:srgbClr val="D75824"/>
      </a:accent2>
      <a:accent3>
        <a:srgbClr val="FAD2A0"/>
      </a:accent3>
      <a:accent4>
        <a:srgbClr val="063B49"/>
      </a:accent4>
      <a:accent5>
        <a:srgbClr val="48B8B3"/>
      </a:accent5>
      <a:accent6>
        <a:srgbClr val="D9B992"/>
      </a:accent6>
      <a:hlink>
        <a:srgbClr val="F7BF79"/>
      </a:hlink>
      <a:folHlink>
        <a:srgbClr val="D0CECE"/>
      </a:folHlink>
    </a:clrScheme>
    <a:fontScheme name="Custom 1">
      <a:majorFont>
        <a:latin typeface="Arial"/>
        <a:ea typeface="华文楷体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noAutofit/>
      </a:bodyPr>
      <a:lstStyle>
        <a:defPPr algn="l">
          <a:defRPr sz="900" dirty="0">
            <a:solidFill>
              <a:schemeClr val="tx1"/>
            </a:solidFill>
            <a:latin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34703</TotalTime>
  <Words>430</Words>
  <Application>Microsoft Office PowerPoint</Application>
  <PresentationFormat>宽屏</PresentationFormat>
  <Paragraphs>77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华文楷体</vt:lpstr>
      <vt:lpstr>华文中宋</vt:lpstr>
      <vt:lpstr>Arial</vt:lpstr>
      <vt:lpstr>Calibri</vt:lpstr>
      <vt:lpstr>Times New Roman</vt:lpstr>
      <vt:lpstr>Office 主题​​</vt:lpstr>
      <vt:lpstr>宜格集团</vt:lpstr>
      <vt:lpstr>营销计划方案</vt:lpstr>
      <vt:lpstr>业财系统与达人系统的建议方案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Anny N Guan</dc:creator>
  <cp:lastModifiedBy>陈 炜</cp:lastModifiedBy>
  <cp:revision>289</cp:revision>
  <dcterms:created xsi:type="dcterms:W3CDTF">2022-06-07T08:52:43Z</dcterms:created>
  <dcterms:modified xsi:type="dcterms:W3CDTF">2023-05-30T14:50:53Z</dcterms:modified>
</cp:coreProperties>
</file>